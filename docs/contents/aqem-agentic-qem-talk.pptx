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notesSlides/_rels/notesSlide1.xml.rels><?xml version="1.0" encoding="UTF-8" standalone="yes"?>
<Relationships xmlns="http://schemas.openxmlformats.org/package/2006/relationships">
  <Relationship Id="rId1"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This project turns quantum error mitigation into a target-driven control loop. We use Mitiq techniques on Amazon Braket, but instead of running a fixed recipe every time, the loop probes cheaply, chooses the minimum strategy that looks sufficient, validates the result, and stops as soon as the target is met. In the demo, adaptive REM-only uses 36,000 shots versus 84,000 for the blind full stack.</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problem is not that QEM techniques are weak; it is that they are often applied statically. A full stack like REM, PT, and ZNE can be a useful baseline, but it may spend shots on techniques that do not help the current noise mode. The adaptive loop changes the unit of work from a recipe to a target.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agent is deliberately bounded. The DAG nodes, retry paths, and possible actions are fixed. The VLM only contributes visual judgment on probe histograms and ZNE plots, and low-confidence or malformed output falls back to deterministic rules. Before any side effect runs, Policy checks it.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architecture is local-first and cloud-ready. The core loop runs today on Braket LocalSimulator noise models, with reusable layers for DAG orchestration, policy audit, Braket and Mitiq execution, and VLM plot inspection. The cloud wrapper adds an AgentCore-style runtime handler, artifacts, and optional Guardrails without rewriting the core.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eight-node DAG is the spine of the project. It starts with empirical probes, selects a strategy, calibrates readout, generates variants, executes them, post-processes the estimate, validates the result, and reports. When validation retries, the engine invalidates only the downstream work that is now stale.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decision logic is intentionally small. Readout-dominated runs start with REM only. Gate or coherent error can add ZNE, and PT comes later if needed. Validation has four outcomes: stop, retry shots, retry calibration, or retry strategy. The important bias is minimum sufficient mitigation.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Policy layer makes the loop governable. It enforces the controlled action set, budget limits, no-device-recalibration guard, and retry caps. Every approval and rejection is written to an audit record, so the final answer includes not just an estimate, but a trace of why each action was allowed.</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demo is a small reproducible benchmark: a two-qubit transverse-field Ising expectation estimate on a readout-dominated Braket LocalSimulator noise model. The baseline runs fixed REM, PT, and ZNE. The adaptive loop probes first, identifies readout as dominant, runs REM only, validates, and stops.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result shows the value of the control loop. The baseline spends 84,000 shots and misses the 0.06 target with error 0.0870. The adaptive loop spends 36,000 shots and reaches error 0.0246. The conclusion is not that REM is always best; it is that the right mitigation depends on the observed error mode.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broader pattern is reusable: observe cheaply, mitigate adaptively, and stop when enough. The next steps are live Braket QPU execution, richer characterization, optional device metadata as a signal, and eventually neural QEC decoding. Governed adaptivity can make quantum experiments cheaper and easier to explain.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95250"/>
            </a:xfrm>
            <a:prstGeom prst="rect">
              <a:avLst/>
            </a:prstGeom>
            <a:solidFill>
              <a:srgbClr val="FF9900"/>
            </a:solidFill>
            <a:ln>
              <a:noFill/>
            </a:ln>
          </p:spPr>
        </p:sp>
        <p:sp>
          <p:nvSpPr>
            <p:cNvPr id="4" name="Ellipse 4"/>
            <p:cNvSpPr/>
            <p:nvPr/>
          </p:nvSpPr>
          <p:spPr>
            <a:xfrm>
              <a:off x="9010650" y="628650"/>
              <a:ext cx="1790700" cy="1790700"/>
            </a:xfrm>
            <a:prstGeom prst="ellipse">
              <a:avLst/>
            </a:prstGeom>
            <a:solidFill>
              <a:srgbClr val="E8F3FC"/>
            </a:solidFill>
            <a:ln>
              <a:noFill/>
            </a:ln>
          </p:spPr>
        </p:sp>
        <p:sp>
          <p:nvSpPr>
            <p:cNvPr id="5" name="Ellipse 5"/>
            <p:cNvSpPr/>
            <p:nvPr/>
          </p:nvSpPr>
          <p:spPr>
            <a:xfrm>
              <a:off x="10382250" y="914400"/>
              <a:ext cx="457200" cy="457200"/>
            </a:xfrm>
            <a:prstGeom prst="ellipse">
              <a:avLst/>
            </a:prstGeom>
            <a:solidFill>
              <a:srgbClr val="FF9900"/>
            </a:solidFill>
            <a:ln>
              <a:noFill/>
            </a:ln>
          </p:spPr>
        </p:sp>
        <p:sp>
          <p:nvSpPr>
            <p:cNvPr id="6" name="Ellipse 6"/>
            <p:cNvSpPr/>
            <p:nvPr/>
          </p:nvSpPr>
          <p:spPr>
            <a:xfrm>
              <a:off x="9391650" y="1981200"/>
              <a:ext cx="304800" cy="304800"/>
            </a:xfrm>
            <a:prstGeom prst="ellipse">
              <a:avLst/>
            </a:prstGeom>
            <a:solidFill>
              <a:srgbClr val="0F766E"/>
            </a:solidFill>
            <a:ln>
              <a:noFill/>
            </a:ln>
          </p:spPr>
        </p:sp>
      </p:grpSp>
      <p:grpSp>
        <p:nvGrpSpPr>
          <p:cNvPr id="12" name="Group 12"/>
          <p:cNvGrpSpPr/>
          <p:nvPr/>
        </p:nvGrpSpPr>
        <p:grpSpPr>
          <a:xfrm>
            <a:off x="758190" y="1139190"/>
            <a:ext cx="6809156" cy="2599372"/>
            <a:chOff x="758190" y="1139190"/>
            <a:chExt cx="6809156" cy="2599372"/>
          </a:xfrm>
        </p:grpSpPr>
        <p:sp>
          <p:nvSpPr>
            <p:cNvPr id="8" name="TextBox 8"/>
            <p:cNvSpPr txBox="1"/>
            <p:nvPr/>
          </p:nvSpPr>
          <p:spPr>
            <a:xfrm>
              <a:off x="758190" y="1139190"/>
              <a:ext cx="5599405" cy="975360"/>
            </a:xfrm>
            <a:prstGeom prst="rect">
              <a:avLst/>
            </a:prstGeom>
            <a:noFill/>
            <a:ln>
              <a:noFill/>
            </a:ln>
          </p:spPr>
          <p:txBody>
            <a:bodyPr wrap="none" lIns="0" tIns="0" rIns="0" bIns="0" anchor="t" anchorCtr="0">
              <a:spAutoFit/>
            </a:bodyPr>
            <a:lstStyle/>
            <a:p>
              <a:pPr algn="l"/>
              <a:r>
                <a:rPr lang="zh-CN" sz="4800" b="1" dirty="0">
                  <a:solidFill>
                    <a:srgbClr val="111827"/>
                  </a:solidFill>
                  <a:latin typeface="Arial"/>
                  <a:ea typeface="Microsoft YaHei"/>
                  <a:cs typeface="Arial"/>
                </a:rPr>
                <a:t>Agentic Quantum</a:t>
              </a:r>
            </a:p>
          </p:txBody>
        </p:sp>
        <p:sp>
          <p:nvSpPr>
            <p:cNvPr id="9" name="TextBox 9"/>
            <p:cNvSpPr txBox="1"/>
            <p:nvPr/>
          </p:nvSpPr>
          <p:spPr>
            <a:xfrm>
              <a:off x="758190" y="1844040"/>
              <a:ext cx="6809156" cy="975360"/>
            </a:xfrm>
            <a:prstGeom prst="rect">
              <a:avLst/>
            </a:prstGeom>
            <a:noFill/>
            <a:ln>
              <a:noFill/>
            </a:ln>
          </p:spPr>
          <p:txBody>
            <a:bodyPr wrap="none" lIns="0" tIns="0" rIns="0" bIns="0" anchor="t" anchorCtr="0">
              <a:spAutoFit/>
            </a:bodyPr>
            <a:lstStyle/>
            <a:p>
              <a:pPr algn="l"/>
              <a:r>
                <a:rPr lang="zh-CN" sz="4800" b="1" dirty="0">
                  <a:solidFill>
                    <a:srgbClr val="111827"/>
                  </a:solidFill>
                  <a:latin typeface="Arial"/>
                  <a:ea typeface="Microsoft YaHei"/>
                  <a:cs typeface="Arial"/>
                </a:rPr>
                <a:t>Error Mitigation Lab</a:t>
              </a:r>
            </a:p>
          </p:txBody>
        </p:sp>
        <p:sp>
          <p:nvSpPr>
            <p:cNvPr id="10" name="TextBox 10"/>
            <p:cNvSpPr txBox="1"/>
            <p:nvPr/>
          </p:nvSpPr>
          <p:spPr>
            <a:xfrm>
              <a:off x="836295" y="3098482"/>
              <a:ext cx="6708743" cy="335280"/>
            </a:xfrm>
            <a:prstGeom prst="rect">
              <a:avLst/>
            </a:prstGeom>
            <a:noFill/>
            <a:ln>
              <a:noFill/>
            </a:ln>
          </p:spPr>
          <p:txBody>
            <a:bodyPr wrap="none" lIns="0" tIns="0" rIns="0" bIns="0" anchor="t" anchorCtr="0">
              <a:spAutoFit/>
            </a:bodyPr>
            <a:lstStyle/>
            <a:p>
              <a:pPr algn="l"/>
              <a:r>
                <a:rPr lang="zh-CN" sz="1650" dirty="0">
                  <a:solidFill>
                    <a:srgbClr val="475569"/>
                  </a:solidFill>
                  <a:latin typeface="Arial"/>
                  <a:ea typeface="Microsoft YaHei"/>
                  <a:cs typeface="Arial"/>
                </a:rPr>
                <a:t>VLM-guided adaptive Mitiq error mitigation on Amazon Braket,</a:t>
              </a:r>
            </a:p>
          </p:txBody>
        </p:sp>
        <p:sp>
          <p:nvSpPr>
            <p:cNvPr id="11" name="TextBox 11"/>
            <p:cNvSpPr txBox="1"/>
            <p:nvPr/>
          </p:nvSpPr>
          <p:spPr>
            <a:xfrm>
              <a:off x="836295" y="3403282"/>
              <a:ext cx="5586603" cy="335280"/>
            </a:xfrm>
            <a:prstGeom prst="rect">
              <a:avLst/>
            </a:prstGeom>
            <a:noFill/>
            <a:ln>
              <a:noFill/>
            </a:ln>
          </p:spPr>
          <p:txBody>
            <a:bodyPr wrap="none" lIns="0" tIns="0" rIns="0" bIns="0" anchor="t" anchorCtr="0">
              <a:spAutoFit/>
            </a:bodyPr>
            <a:lstStyle/>
            <a:p>
              <a:pPr algn="l"/>
              <a:r>
                <a:rPr lang="zh-CN" sz="1650" dirty="0">
                  <a:solidFill>
                    <a:srgbClr val="475569"/>
                  </a:solidFill>
                  <a:latin typeface="Arial"/>
                  <a:ea typeface="Microsoft YaHei"/>
                  <a:cs typeface="Arial"/>
                </a:rPr>
                <a:t>orchestrated as a deterministic, policy-gated DAG.</a:t>
              </a:r>
            </a:p>
          </p:txBody>
        </p:sp>
      </p:grpSp>
      <p:grpSp>
        <p:nvGrpSpPr>
          <p:cNvPr id="19" name="Group 19"/>
          <p:cNvGrpSpPr/>
          <p:nvPr/>
        </p:nvGrpSpPr>
        <p:grpSpPr>
          <a:xfrm>
            <a:off x="7886700" y="2781300"/>
            <a:ext cx="3390900" cy="1638300"/>
            <a:chOff x="7886700" y="2781300"/>
            <a:chExt cx="3390900" cy="1638300"/>
          </a:xfrm>
        </p:grpSpPr>
        <p:sp>
          <p:nvSpPr>
            <p:cNvPr id="13" name="Rectangle 13"/>
            <p:cNvSpPr/>
            <p:nvPr/>
          </p:nvSpPr>
          <p:spPr>
            <a:xfrm>
              <a:off x="7886700" y="2781300"/>
              <a:ext cx="3390900" cy="1638300"/>
            </a:xfrm>
            <a:prstGeom prst="roundRect">
              <a:avLst>
                <a:gd name="adj" fmla="val 4651"/>
              </a:avLst>
            </a:prstGeom>
            <a:solidFill>
              <a:srgbClr val="F6F8FB"/>
            </a:solidFill>
            <a:ln w="19050">
              <a:solidFill>
                <a:srgbClr val="D9E2EC"/>
              </a:solidFill>
            </a:ln>
          </p:spPr>
        </p:sp>
        <p:sp>
          <p:nvSpPr>
            <p:cNvPr id="14" name="TextBox 14"/>
            <p:cNvSpPr txBox="1"/>
            <p:nvPr/>
          </p:nvSpPr>
          <p:spPr>
            <a:xfrm>
              <a:off x="8157210" y="3070860"/>
              <a:ext cx="1139419" cy="243840"/>
            </a:xfrm>
            <a:prstGeom prst="rect">
              <a:avLst/>
            </a:prstGeom>
            <a:noFill/>
            <a:ln>
              <a:noFill/>
            </a:ln>
          </p:spPr>
          <p:txBody>
            <a:bodyPr wrap="none" lIns="0" tIns="0" rIns="0" bIns="0" anchor="t" anchorCtr="0">
              <a:spAutoFit/>
            </a:bodyPr>
            <a:lstStyle/>
            <a:p>
              <a:pPr algn="l"/>
              <a:r>
                <a:rPr lang="zh-CN" sz="1200" b="1" dirty="0">
                  <a:solidFill>
                    <a:srgbClr val="146EB4"/>
                  </a:solidFill>
                  <a:latin typeface="Arial"/>
                  <a:ea typeface="Microsoft YaHei"/>
                  <a:cs typeface="Arial"/>
                </a:rPr>
                <a:t>Headline demo</a:t>
              </a:r>
            </a:p>
          </p:txBody>
        </p:sp>
        <p:sp>
          <p:nvSpPr>
            <p:cNvPr id="15" name="TextBox 15"/>
            <p:cNvSpPr txBox="1"/>
            <p:nvPr/>
          </p:nvSpPr>
          <p:spPr>
            <a:xfrm>
              <a:off x="8126730" y="3345180"/>
              <a:ext cx="1477613" cy="731520"/>
            </a:xfrm>
            <a:prstGeom prst="rect">
              <a:avLst/>
            </a:prstGeom>
            <a:noFill/>
            <a:ln>
              <a:noFill/>
            </a:ln>
          </p:spPr>
          <p:txBody>
            <a:bodyPr wrap="none" lIns="0" tIns="0" rIns="0" bIns="0" anchor="t" anchorCtr="0">
              <a:spAutoFit/>
            </a:bodyPr>
            <a:lstStyle/>
            <a:p>
              <a:pPr algn="l"/>
              <a:r>
                <a:rPr lang="zh-CN" sz="3600" b="1" dirty="0">
                  <a:solidFill>
                    <a:srgbClr val="16A34A"/>
                  </a:solidFill>
                  <a:latin typeface="Arial"/>
                  <a:ea typeface="Microsoft YaHei"/>
                  <a:cs typeface="Arial"/>
                </a:rPr>
                <a:t>2.33x</a:t>
              </a:r>
            </a:p>
          </p:txBody>
        </p:sp>
        <p:sp>
          <p:nvSpPr>
            <p:cNvPr id="16" name="TextBox 16"/>
            <p:cNvSpPr txBox="1"/>
            <p:nvPr/>
          </p:nvSpPr>
          <p:spPr>
            <a:xfrm>
              <a:off x="9650730" y="3530918"/>
              <a:ext cx="1114425" cy="274320"/>
            </a:xfrm>
            <a:prstGeom prst="rect">
              <a:avLst/>
            </a:prstGeom>
            <a:noFill/>
            <a:ln>
              <a:noFill/>
            </a:ln>
          </p:spPr>
          <p:txBody>
            <a:bodyPr wrap="none" lIns="0" tIns="0" rIns="0" bIns="0" anchor="t" anchorCtr="0">
              <a:spAutoFit/>
            </a:bodyPr>
            <a:lstStyle/>
            <a:p>
              <a:pPr algn="l"/>
              <a:r>
                <a:rPr lang="zh-CN" sz="1350" dirty="0">
                  <a:solidFill>
                    <a:srgbClr val="111827"/>
                  </a:solidFill>
                  <a:latin typeface="Arial"/>
                  <a:ea typeface="Microsoft YaHei"/>
                  <a:cs typeface="Arial"/>
                </a:rPr>
                <a:t>fewer shots</a:t>
              </a:r>
            </a:p>
          </p:txBody>
        </p:sp>
        <p:sp>
          <p:nvSpPr>
            <p:cNvPr id="17" name="TextBox 17"/>
            <p:cNvSpPr txBox="1"/>
            <p:nvPr/>
          </p:nvSpPr>
          <p:spPr>
            <a:xfrm>
              <a:off x="9650730" y="3797618"/>
              <a:ext cx="1186434" cy="274320"/>
            </a:xfrm>
            <a:prstGeom prst="rect">
              <a:avLst/>
            </a:prstGeom>
            <a:noFill/>
            <a:ln>
              <a:noFill/>
            </a:ln>
          </p:spPr>
          <p:txBody>
            <a:bodyPr wrap="none" lIns="0" tIns="0" rIns="0" bIns="0" anchor="t" anchorCtr="0">
              <a:spAutoFit/>
            </a:bodyPr>
            <a:lstStyle/>
            <a:p>
              <a:pPr algn="l"/>
              <a:r>
                <a:rPr lang="zh-CN" sz="1350" dirty="0">
                  <a:solidFill>
                    <a:srgbClr val="111827"/>
                  </a:solidFill>
                  <a:latin typeface="Arial"/>
                  <a:ea typeface="Microsoft YaHei"/>
                  <a:cs typeface="Arial"/>
                </a:rPr>
                <a:t>than baseline</a:t>
              </a:r>
            </a:p>
          </p:txBody>
        </p:sp>
        <p:sp>
          <p:nvSpPr>
            <p:cNvPr id="18" name="TextBox 18"/>
            <p:cNvSpPr txBox="1"/>
            <p:nvPr/>
          </p:nvSpPr>
          <p:spPr>
            <a:xfrm>
              <a:off x="8159115" y="4001452"/>
              <a:ext cx="2392966" cy="213360"/>
            </a:xfrm>
            <a:prstGeom prst="rect">
              <a:avLst/>
            </a:prstGeom>
            <a:noFill/>
            <a:ln>
              <a:noFill/>
            </a:ln>
          </p:spPr>
          <p:txBody>
            <a:bodyPr wrap="none" lIns="0" tIns="0" rIns="0" bIns="0" anchor="t" anchorCtr="0">
              <a:spAutoFit/>
            </a:bodyPr>
            <a:lstStyle/>
            <a:p>
              <a:pPr algn="l"/>
              <a:r>
                <a:rPr lang="zh-CN" sz="1050" dirty="0">
                  <a:solidFill>
                    <a:srgbClr val="475569"/>
                  </a:solidFill>
                  <a:latin typeface="Arial"/>
                  <a:ea typeface="Microsoft YaHei"/>
                  <a:cs typeface="Arial"/>
                </a:rPr>
                <a:t>Adaptive: 36k shots, error 0.0246</a:t>
              </a:r>
            </a:p>
          </p:txBody>
        </p:sp>
      </p:grpSp>
      <p:grpSp>
        <p:nvGrpSpPr>
          <p:cNvPr id="34" name="Group 34"/>
          <p:cNvGrpSpPr/>
          <p:nvPr/>
        </p:nvGrpSpPr>
        <p:grpSpPr>
          <a:xfrm>
            <a:off x="800100" y="5391150"/>
            <a:ext cx="10439400" cy="781050"/>
            <a:chOff x="800100" y="5391150"/>
            <a:chExt cx="10439400" cy="781050"/>
          </a:xfrm>
        </p:grpSpPr>
        <p:sp>
          <p:nvSpPr>
            <p:cNvPr id="20" name="Rectangle 20"/>
            <p:cNvSpPr/>
            <p:nvPr/>
          </p:nvSpPr>
          <p:spPr>
            <a:xfrm>
              <a:off x="800100" y="5391150"/>
              <a:ext cx="10439400" cy="781050"/>
            </a:xfrm>
            <a:prstGeom prst="roundRect">
              <a:avLst>
                <a:gd name="adj" fmla="val 9756"/>
              </a:avLst>
            </a:prstGeom>
            <a:solidFill>
              <a:srgbClr val="FFFFFF"/>
            </a:solidFill>
            <a:ln w="19050">
              <a:solidFill>
                <a:srgbClr val="D9E2EC"/>
              </a:solidFill>
            </a:ln>
          </p:spPr>
        </p:sp>
        <p:sp>
          <p:nvSpPr>
            <p:cNvPr id="21" name="TextBox 21"/>
            <p:cNvSpPr txBox="1"/>
            <p:nvPr/>
          </p:nvSpPr>
          <p:spPr>
            <a:xfrm>
              <a:off x="1087755" y="5740718"/>
              <a:ext cx="554105" cy="274320"/>
            </a:xfrm>
            <a:prstGeom prst="rect">
              <a:avLst/>
            </a:prstGeom>
            <a:noFill/>
            <a:ln>
              <a:noFill/>
            </a:ln>
          </p:spPr>
          <p:txBody>
            <a:bodyPr wrap="none" lIns="0" tIns="0" rIns="0" bIns="0" anchor="t" anchorCtr="0">
              <a:spAutoFit/>
            </a:bodyPr>
            <a:lstStyle/>
            <a:p>
              <a:pPr algn="l"/>
              <a:r>
                <a:rPr lang="zh-CN" sz="1350" b="1" dirty="0">
                  <a:solidFill>
                    <a:srgbClr val="146EB4"/>
                  </a:solidFill>
                  <a:latin typeface="Arial"/>
                  <a:ea typeface="Microsoft YaHei"/>
                  <a:cs typeface="Arial"/>
                </a:rPr>
                <a:t>Probe</a:t>
              </a:r>
            </a:p>
          </p:txBody>
        </p:sp>
        <p:sp>
          <p:nvSpPr>
            <p:cNvPr id="22" name="TextBox 22"/>
            <p:cNvSpPr txBox="1"/>
            <p:nvPr/>
          </p:nvSpPr>
          <p:spPr>
            <a:xfrm>
              <a:off x="2859405" y="5740718"/>
              <a:ext cx="610812" cy="274320"/>
            </a:xfrm>
            <a:prstGeom prst="rect">
              <a:avLst/>
            </a:prstGeom>
            <a:noFill/>
            <a:ln>
              <a:noFill/>
            </a:ln>
          </p:spPr>
          <p:txBody>
            <a:bodyPr wrap="none" lIns="0" tIns="0" rIns="0" bIns="0" anchor="t" anchorCtr="0">
              <a:spAutoFit/>
            </a:bodyPr>
            <a:lstStyle/>
            <a:p>
              <a:pPr algn="l"/>
              <a:r>
                <a:rPr lang="zh-CN" sz="1350" b="1" dirty="0">
                  <a:solidFill>
                    <a:srgbClr val="146EB4"/>
                  </a:solidFill>
                  <a:latin typeface="Arial"/>
                  <a:ea typeface="Microsoft YaHei"/>
                  <a:cs typeface="Arial"/>
                </a:rPr>
                <a:t>Decide</a:t>
              </a:r>
            </a:p>
          </p:txBody>
        </p:sp>
        <p:sp>
          <p:nvSpPr>
            <p:cNvPr id="23" name="TextBox 23"/>
            <p:cNvSpPr txBox="1"/>
            <p:nvPr/>
          </p:nvSpPr>
          <p:spPr>
            <a:xfrm>
              <a:off x="4764405" y="5740718"/>
              <a:ext cx="809287" cy="274320"/>
            </a:xfrm>
            <a:prstGeom prst="rect">
              <a:avLst/>
            </a:prstGeom>
            <a:noFill/>
            <a:ln>
              <a:noFill/>
            </a:ln>
          </p:spPr>
          <p:txBody>
            <a:bodyPr wrap="none" lIns="0" tIns="0" rIns="0" bIns="0" anchor="t" anchorCtr="0">
              <a:spAutoFit/>
            </a:bodyPr>
            <a:lstStyle/>
            <a:p>
              <a:pPr algn="l"/>
              <a:r>
                <a:rPr lang="zh-CN" sz="1350" b="1" dirty="0">
                  <a:solidFill>
                    <a:srgbClr val="146EB4"/>
                  </a:solidFill>
                  <a:latin typeface="Arial"/>
                  <a:ea typeface="Microsoft YaHei"/>
                  <a:cs typeface="Arial"/>
                </a:rPr>
                <a:t>Mitigate</a:t>
              </a:r>
            </a:p>
          </p:txBody>
        </p:sp>
        <p:sp>
          <p:nvSpPr>
            <p:cNvPr id="24" name="TextBox 24"/>
            <p:cNvSpPr txBox="1"/>
            <p:nvPr/>
          </p:nvSpPr>
          <p:spPr>
            <a:xfrm>
              <a:off x="6936105" y="5740718"/>
              <a:ext cx="771482" cy="274320"/>
            </a:xfrm>
            <a:prstGeom prst="rect">
              <a:avLst/>
            </a:prstGeom>
            <a:noFill/>
            <a:ln>
              <a:noFill/>
            </a:ln>
          </p:spPr>
          <p:txBody>
            <a:bodyPr wrap="none" lIns="0" tIns="0" rIns="0" bIns="0" anchor="t" anchorCtr="0">
              <a:spAutoFit/>
            </a:bodyPr>
            <a:lstStyle/>
            <a:p>
              <a:pPr algn="l"/>
              <a:r>
                <a:rPr lang="zh-CN" sz="1350" b="1" dirty="0">
                  <a:solidFill>
                    <a:srgbClr val="146EB4"/>
                  </a:solidFill>
                  <a:latin typeface="Arial"/>
                  <a:ea typeface="Microsoft YaHei"/>
                  <a:cs typeface="Arial"/>
                </a:rPr>
                <a:t>Validate</a:t>
              </a:r>
            </a:p>
          </p:txBody>
        </p:sp>
        <p:sp>
          <p:nvSpPr>
            <p:cNvPr id="25" name="TextBox 25"/>
            <p:cNvSpPr txBox="1"/>
            <p:nvPr/>
          </p:nvSpPr>
          <p:spPr>
            <a:xfrm>
              <a:off x="9184005" y="5740718"/>
              <a:ext cx="658068" cy="274320"/>
            </a:xfrm>
            <a:prstGeom prst="rect">
              <a:avLst/>
            </a:prstGeom>
            <a:noFill/>
            <a:ln>
              <a:noFill/>
            </a:ln>
          </p:spPr>
          <p:txBody>
            <a:bodyPr wrap="none" lIns="0" tIns="0" rIns="0" bIns="0" anchor="t" anchorCtr="0">
              <a:spAutoFit/>
            </a:bodyPr>
            <a:lstStyle/>
            <a:p>
              <a:pPr algn="l"/>
              <a:r>
                <a:rPr lang="zh-CN" sz="1350" b="1" dirty="0">
                  <a:solidFill>
                    <a:srgbClr val="146EB4"/>
                  </a:solidFill>
                  <a:latin typeface="Arial"/>
                  <a:ea typeface="Microsoft YaHei"/>
                  <a:cs typeface="Arial"/>
                </a:rPr>
                <a:t>Report</a:t>
              </a:r>
            </a:p>
          </p:txBody>
        </p:sp>
        <p:sp>
          <p:nvSpPr>
            <p:cNvPr id="26" name="Line 26"/>
            <p:cNvSpPr/>
            <p:nvPr/>
          </p:nvSpPr>
          <p:spPr>
            <a:xfrm>
              <a:off x="1809750" y="5829300"/>
              <a:ext cx="762000" cy="9525"/>
            </a:xfrm>
            <a:custGeom>
              <a:avLst/>
              <a:gdLst/>
              <a:ahLst/>
              <a:cxnLst/>
              <a:rect l="l" t="t" r="r" b="b"/>
              <a:pathLst>
                <a:path w="762000" h="9525">
                  <a:moveTo>
                    <a:pt x="0" y="0"/>
                  </a:moveTo>
                  <a:lnTo>
                    <a:pt x="762000" y="0"/>
                  </a:lnTo>
                </a:path>
              </a:pathLst>
            </a:custGeom>
            <a:noFill/>
            <a:ln w="28575">
              <a:solidFill>
                <a:srgbClr val="FF9900"/>
              </a:solidFill>
            </a:ln>
          </p:spPr>
        </p:sp>
        <p:sp>
          <p:nvSpPr>
            <p:cNvPr id="27" name="Polygon 27"/>
            <p:cNvSpPr/>
            <p:nvPr/>
          </p:nvSpPr>
          <p:spPr>
            <a:xfrm>
              <a:off x="2457450" y="5753100"/>
              <a:ext cx="114300" cy="152400"/>
            </a:xfrm>
            <a:custGeom>
              <a:avLst/>
              <a:gdLst/>
              <a:ahLst/>
              <a:cxnLst/>
              <a:rect l="l" t="t" r="r" b="b"/>
              <a:pathLst>
                <a:path w="114300" h="152400">
                  <a:moveTo>
                    <a:pt x="114300" y="76200"/>
                  </a:moveTo>
                  <a:lnTo>
                    <a:pt x="0" y="0"/>
                  </a:lnTo>
                  <a:lnTo>
                    <a:pt x="0" y="152400"/>
                  </a:lnTo>
                  <a:close/>
                </a:path>
              </a:pathLst>
            </a:custGeom>
            <a:solidFill>
              <a:srgbClr val="FF9900"/>
            </a:solidFill>
            <a:ln>
              <a:noFill/>
            </a:ln>
          </p:spPr>
        </p:sp>
        <p:sp>
          <p:nvSpPr>
            <p:cNvPr id="28" name="Line 28"/>
            <p:cNvSpPr/>
            <p:nvPr/>
          </p:nvSpPr>
          <p:spPr>
            <a:xfrm>
              <a:off x="3638550" y="5829300"/>
              <a:ext cx="838200" cy="9525"/>
            </a:xfrm>
            <a:custGeom>
              <a:avLst/>
              <a:gdLst/>
              <a:ahLst/>
              <a:cxnLst/>
              <a:rect l="l" t="t" r="r" b="b"/>
              <a:pathLst>
                <a:path w="838200" h="9525">
                  <a:moveTo>
                    <a:pt x="0" y="0"/>
                  </a:moveTo>
                  <a:lnTo>
                    <a:pt x="838200" y="0"/>
                  </a:lnTo>
                </a:path>
              </a:pathLst>
            </a:custGeom>
            <a:noFill/>
            <a:ln w="28575">
              <a:solidFill>
                <a:srgbClr val="FF9900"/>
              </a:solidFill>
            </a:ln>
          </p:spPr>
        </p:sp>
        <p:sp>
          <p:nvSpPr>
            <p:cNvPr id="29" name="Polygon 29"/>
            <p:cNvSpPr/>
            <p:nvPr/>
          </p:nvSpPr>
          <p:spPr>
            <a:xfrm>
              <a:off x="4362450" y="5753100"/>
              <a:ext cx="114300" cy="152400"/>
            </a:xfrm>
            <a:custGeom>
              <a:avLst/>
              <a:gdLst/>
              <a:ahLst/>
              <a:cxnLst/>
              <a:rect l="l" t="t" r="r" b="b"/>
              <a:pathLst>
                <a:path w="114300" h="152400">
                  <a:moveTo>
                    <a:pt x="114300" y="76200"/>
                  </a:moveTo>
                  <a:lnTo>
                    <a:pt x="0" y="0"/>
                  </a:lnTo>
                  <a:lnTo>
                    <a:pt x="0" y="152400"/>
                  </a:lnTo>
                  <a:close/>
                </a:path>
              </a:pathLst>
            </a:custGeom>
            <a:solidFill>
              <a:srgbClr val="FF9900"/>
            </a:solidFill>
            <a:ln>
              <a:noFill/>
            </a:ln>
          </p:spPr>
        </p:sp>
        <p:sp>
          <p:nvSpPr>
            <p:cNvPr id="30" name="Line 30"/>
            <p:cNvSpPr/>
            <p:nvPr/>
          </p:nvSpPr>
          <p:spPr>
            <a:xfrm>
              <a:off x="5657850" y="5829300"/>
              <a:ext cx="1009650" cy="9525"/>
            </a:xfrm>
            <a:custGeom>
              <a:avLst/>
              <a:gdLst/>
              <a:ahLst/>
              <a:cxnLst/>
              <a:rect l="l" t="t" r="r" b="b"/>
              <a:pathLst>
                <a:path w="1009650" h="9525">
                  <a:moveTo>
                    <a:pt x="0" y="0"/>
                  </a:moveTo>
                  <a:lnTo>
                    <a:pt x="1009650" y="0"/>
                  </a:lnTo>
                </a:path>
              </a:pathLst>
            </a:custGeom>
            <a:noFill/>
            <a:ln w="28575">
              <a:solidFill>
                <a:srgbClr val="FF9900"/>
              </a:solidFill>
            </a:ln>
          </p:spPr>
        </p:sp>
        <p:sp>
          <p:nvSpPr>
            <p:cNvPr id="31" name="Polygon 31"/>
            <p:cNvSpPr/>
            <p:nvPr/>
          </p:nvSpPr>
          <p:spPr>
            <a:xfrm>
              <a:off x="6553200" y="5753100"/>
              <a:ext cx="114300" cy="152400"/>
            </a:xfrm>
            <a:custGeom>
              <a:avLst/>
              <a:gdLst/>
              <a:ahLst/>
              <a:cxnLst/>
              <a:rect l="l" t="t" r="r" b="b"/>
              <a:pathLst>
                <a:path w="114300" h="152400">
                  <a:moveTo>
                    <a:pt x="114300" y="76200"/>
                  </a:moveTo>
                  <a:lnTo>
                    <a:pt x="0" y="0"/>
                  </a:lnTo>
                  <a:lnTo>
                    <a:pt x="0" y="152400"/>
                  </a:lnTo>
                  <a:close/>
                </a:path>
              </a:pathLst>
            </a:custGeom>
            <a:solidFill>
              <a:srgbClr val="FF9900"/>
            </a:solidFill>
            <a:ln>
              <a:noFill/>
            </a:ln>
          </p:spPr>
        </p:sp>
        <p:sp>
          <p:nvSpPr>
            <p:cNvPr id="32" name="Line 32"/>
            <p:cNvSpPr/>
            <p:nvPr/>
          </p:nvSpPr>
          <p:spPr>
            <a:xfrm>
              <a:off x="7829550" y="5829300"/>
              <a:ext cx="1085850" cy="9525"/>
            </a:xfrm>
            <a:custGeom>
              <a:avLst/>
              <a:gdLst/>
              <a:ahLst/>
              <a:cxnLst/>
              <a:rect l="l" t="t" r="r" b="b"/>
              <a:pathLst>
                <a:path w="1085850" h="9525">
                  <a:moveTo>
                    <a:pt x="0" y="0"/>
                  </a:moveTo>
                  <a:lnTo>
                    <a:pt x="1085850" y="0"/>
                  </a:lnTo>
                </a:path>
              </a:pathLst>
            </a:custGeom>
            <a:noFill/>
            <a:ln w="28575">
              <a:solidFill>
                <a:srgbClr val="FF9900"/>
              </a:solidFill>
            </a:ln>
          </p:spPr>
        </p:sp>
        <p:sp>
          <p:nvSpPr>
            <p:cNvPr id="33" name="Polygon 33"/>
            <p:cNvSpPr/>
            <p:nvPr/>
          </p:nvSpPr>
          <p:spPr>
            <a:xfrm>
              <a:off x="8801100" y="5753100"/>
              <a:ext cx="114300" cy="152400"/>
            </a:xfrm>
            <a:custGeom>
              <a:avLst/>
              <a:gdLst/>
              <a:ahLst/>
              <a:cxnLst/>
              <a:rect l="l" t="t" r="r" b="b"/>
              <a:pathLst>
                <a:path w="114300" h="152400">
                  <a:moveTo>
                    <a:pt x="114300" y="76200"/>
                  </a:moveTo>
                  <a:lnTo>
                    <a:pt x="0" y="0"/>
                  </a:lnTo>
                  <a:lnTo>
                    <a:pt x="0" y="152400"/>
                  </a:lnTo>
                  <a:close/>
                </a:path>
              </a:pathLst>
            </a:custGeom>
            <a:solidFill>
              <a:srgbClr val="FF9900"/>
            </a:solidFill>
            <a:ln>
              <a:noFill/>
            </a:ln>
          </p:spPr>
        </p:sp>
      </p:grpSp>
      <p:sp>
        <p:nvSpPr>
          <p:cNvPr id="35" name="TextBox 35"/>
          <p:cNvSpPr txBox="1"/>
          <p:nvPr/>
        </p:nvSpPr>
        <p:spPr>
          <a:xfrm>
            <a:off x="808672" y="6502241"/>
            <a:ext cx="1654659" cy="167640"/>
          </a:xfrm>
          <a:prstGeom prst="rect">
            <a:avLst/>
          </a:prstGeom>
          <a:noFill/>
          <a:ln>
            <a:noFill/>
          </a:ln>
        </p:spPr>
        <p:txBody>
          <a:bodyPr wrap="none" lIns="0" tIns="0" rIns="0" bIns="0" anchor="t" anchorCtr="0">
            <a:spAutoFit/>
          </a:bodyPr>
          <a:lstStyle/>
          <a:p>
            <a:pPr algn="l"/>
            <a:r>
              <a:rPr lang="zh-CN" sz="825" dirty="0">
                <a:solidFill>
                  <a:srgbClr val="94A3B8"/>
                </a:solidFill>
                <a:latin typeface="Arial"/>
                <a:ea typeface="Microsoft YaHei"/>
                <a:cs typeface="Arial"/>
              </a:rPr>
              <a:t>AQEM project talk - 15 minutes</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400"/>
                                        <p:tgtEl>
                                          <p:spTgt spid="19"/>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34"/>
                                        </p:tgtEl>
                                        <p:attrNameLst>
                                          <p:attrName>style.visibility</p:attrName>
                                        </p:attrNameLst>
                                      </p:cBhvr>
                                      <p:to>
                                        <p:strVal val="visible"/>
                                      </p:to>
                                    </p:set>
                                    <p:animEffect transition="in" filter="slide(fromBottom)">
                                      <p:cBhvr>
                                        <p:cTn id="15"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9" grpId="0"/>
      <p:bldP spid="3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533400" y="419100"/>
              <a:ext cx="11125200" cy="9525"/>
            </a:xfrm>
            <a:prstGeom prst="rect">
              <a:avLst/>
            </a:prstGeom>
            <a:solidFill>
              <a:srgbClr val="D9E2EC"/>
            </a:solidFill>
            <a:ln>
              <a:noFill/>
            </a:ln>
          </p:spPr>
        </p:sp>
      </p:grpSp>
      <p:grpSp>
        <p:nvGrpSpPr>
          <p:cNvPr id="7" name="Group 7"/>
          <p:cNvGrpSpPr/>
          <p:nvPr/>
        </p:nvGrpSpPr>
        <p:grpSpPr>
          <a:xfrm>
            <a:off x="502920" y="560070"/>
            <a:ext cx="10783919" cy="487680"/>
            <a:chOff x="502920" y="560070"/>
            <a:chExt cx="10783919" cy="487680"/>
          </a:xfrm>
        </p:grpSpPr>
        <p:sp>
          <p:nvSpPr>
            <p:cNvPr id="5" name="TextBox 5"/>
            <p:cNvSpPr txBox="1"/>
            <p:nvPr/>
          </p:nvSpPr>
          <p:spPr>
            <a:xfrm>
              <a:off x="502920" y="560070"/>
              <a:ext cx="6361748" cy="487680"/>
            </a:xfrm>
            <a:prstGeom prst="rect">
              <a:avLst/>
            </a:prstGeom>
            <a:noFill/>
            <a:ln>
              <a:noFill/>
            </a:ln>
          </p:spPr>
          <p:txBody>
            <a:bodyPr wrap="none" lIns="0" tIns="0" rIns="0" bIns="0" anchor="t" anchorCtr="0">
              <a:spAutoFit/>
            </a:bodyPr>
            <a:lstStyle/>
            <a:p>
              <a:pPr algn="l"/>
              <a:r>
                <a:rPr lang="zh-CN" sz="2400" b="1" dirty="0">
                  <a:solidFill>
                    <a:srgbClr val="111827"/>
                  </a:solidFill>
                  <a:latin typeface="Arial"/>
                  <a:ea typeface="Microsoft YaHei"/>
                  <a:cs typeface="Arial"/>
                </a:rPr>
                <a:t>QEM is powerful, but often run blindly</a:t>
              </a:r>
            </a:p>
          </p:txBody>
        </p:sp>
        <p:sp>
          <p:nvSpPr>
            <p:cNvPr id="6" name="TextBox 6"/>
            <p:cNvSpPr txBox="1"/>
            <p:nvPr/>
          </p:nvSpPr>
          <p:spPr>
            <a:xfrm>
              <a:off x="10826115" y="667702"/>
              <a:ext cx="460724" cy="213360"/>
            </a:xfrm>
            <a:prstGeom prst="rect">
              <a:avLst/>
            </a:prstGeom>
            <a:noFill/>
            <a:ln>
              <a:noFill/>
            </a:ln>
          </p:spPr>
          <p:txBody>
            <a:bodyPr wrap="none" lIns="0" tIns="0" rIns="0" bIns="0" anchor="t" anchorCtr="0">
              <a:spAutoFit/>
            </a:bodyPr>
            <a:lstStyle/>
            <a:p>
              <a:pPr algn="l"/>
              <a:r>
                <a:rPr lang="zh-CN" sz="1050" dirty="0">
                  <a:solidFill>
                    <a:srgbClr val="94A3B8"/>
                  </a:solidFill>
                  <a:latin typeface="Arial"/>
                  <a:ea typeface="Microsoft YaHei"/>
                  <a:cs typeface="Arial"/>
                </a:rPr>
                <a:t>02 / 10</a:t>
              </a:r>
            </a:p>
          </p:txBody>
        </p:sp>
      </p:grpSp>
      <p:grpSp>
        <p:nvGrpSpPr>
          <p:cNvPr id="25" name="Group 25"/>
          <p:cNvGrpSpPr/>
          <p:nvPr/>
        </p:nvGrpSpPr>
        <p:grpSpPr>
          <a:xfrm>
            <a:off x="666750" y="1238250"/>
            <a:ext cx="5000625" cy="3771900"/>
            <a:chOff x="666750" y="1238250"/>
            <a:chExt cx="5000625" cy="3771900"/>
          </a:xfrm>
        </p:grpSpPr>
        <p:sp>
          <p:nvSpPr>
            <p:cNvPr id="8" name="Rectangle 8"/>
            <p:cNvSpPr/>
            <p:nvPr/>
          </p:nvSpPr>
          <p:spPr>
            <a:xfrm>
              <a:off x="666750" y="1238250"/>
              <a:ext cx="5000625" cy="3771900"/>
            </a:xfrm>
            <a:prstGeom prst="roundRect">
              <a:avLst>
                <a:gd name="adj" fmla="val 2020"/>
              </a:avLst>
            </a:prstGeom>
            <a:solidFill>
              <a:srgbClr val="F6F8FB"/>
            </a:solidFill>
            <a:ln w="19050">
              <a:solidFill>
                <a:srgbClr val="D9E2EC"/>
              </a:solidFill>
            </a:ln>
          </p:spPr>
        </p:sp>
        <p:sp>
          <p:nvSpPr>
            <p:cNvPr id="9" name="TextBox 9"/>
            <p:cNvSpPr txBox="1"/>
            <p:nvPr/>
          </p:nvSpPr>
          <p:spPr>
            <a:xfrm>
              <a:off x="950595" y="1460182"/>
              <a:ext cx="1728421" cy="335280"/>
            </a:xfrm>
            <a:prstGeom prst="rect">
              <a:avLst/>
            </a:prstGeom>
            <a:noFill/>
            <a:ln>
              <a:noFill/>
            </a:ln>
          </p:spPr>
          <p:txBody>
            <a:bodyPr wrap="none" lIns="0" tIns="0" rIns="0" bIns="0" anchor="t" anchorCtr="0">
              <a:spAutoFit/>
            </a:bodyPr>
            <a:lstStyle/>
            <a:p>
              <a:pPr algn="l"/>
              <a:r>
                <a:rPr lang="zh-CN" sz="1650" b="1" dirty="0">
                  <a:solidFill>
                    <a:srgbClr val="DC2626"/>
                  </a:solidFill>
                  <a:latin typeface="Arial"/>
                  <a:ea typeface="Microsoft YaHei"/>
                  <a:cs typeface="Arial"/>
                </a:rPr>
                <a:t>Blind full stack</a:t>
              </a:r>
            </a:p>
          </p:txBody>
        </p:sp>
        <p:sp>
          <p:nvSpPr>
            <p:cNvPr id="10" name="TextBox 10"/>
            <p:cNvSpPr txBox="1"/>
            <p:nvPr/>
          </p:nvSpPr>
          <p:spPr>
            <a:xfrm>
              <a:off x="956310" y="1832610"/>
              <a:ext cx="4247007" cy="243840"/>
            </a:xfrm>
            <a:prstGeom prst="rect">
              <a:avLst/>
            </a:prstGeom>
            <a:noFill/>
            <a:ln>
              <a:noFill/>
            </a:ln>
          </p:spPr>
          <p:txBody>
            <a:bodyPr wrap="none" lIns="0" tIns="0" rIns="0" bIns="0" anchor="t" anchorCtr="0">
              <a:spAutoFit/>
            </a:bodyPr>
            <a:lstStyle/>
            <a:p>
              <a:pPr algn="l"/>
              <a:r>
                <a:rPr lang="zh-CN" sz="1200" dirty="0">
                  <a:solidFill>
                    <a:srgbClr val="475569"/>
                  </a:solidFill>
                  <a:latin typeface="Arial"/>
                  <a:ea typeface="Microsoft YaHei"/>
                  <a:cs typeface="Arial"/>
                </a:rPr>
                <a:t>Run every technique whether this run needs it or not.</a:t>
              </a:r>
            </a:p>
          </p:txBody>
        </p:sp>
        <p:sp>
          <p:nvSpPr>
            <p:cNvPr id="11" name="Rectangle 11"/>
            <p:cNvSpPr/>
            <p:nvPr/>
          </p:nvSpPr>
          <p:spPr>
            <a:xfrm>
              <a:off x="1276350" y="2419350"/>
              <a:ext cx="1047750" cy="590550"/>
            </a:xfrm>
            <a:prstGeom prst="roundRect">
              <a:avLst>
                <a:gd name="adj" fmla="val 12903"/>
              </a:avLst>
            </a:prstGeom>
            <a:solidFill>
              <a:srgbClr val="FFFFFF"/>
            </a:solidFill>
            <a:ln w="19050">
              <a:solidFill>
                <a:srgbClr val="D9E2EC"/>
              </a:solidFill>
            </a:ln>
          </p:spPr>
        </p:sp>
        <p:sp>
          <p:nvSpPr>
            <p:cNvPr id="12" name="Rectangle 12"/>
            <p:cNvSpPr/>
            <p:nvPr/>
          </p:nvSpPr>
          <p:spPr>
            <a:xfrm>
              <a:off x="2857500" y="2419350"/>
              <a:ext cx="1047750" cy="590550"/>
            </a:xfrm>
            <a:prstGeom prst="roundRect">
              <a:avLst>
                <a:gd name="adj" fmla="val 12903"/>
              </a:avLst>
            </a:prstGeom>
            <a:solidFill>
              <a:srgbClr val="FFFFFF"/>
            </a:solidFill>
            <a:ln w="19050">
              <a:solidFill>
                <a:srgbClr val="D9E2EC"/>
              </a:solidFill>
            </a:ln>
          </p:spPr>
        </p:sp>
        <p:sp>
          <p:nvSpPr>
            <p:cNvPr id="13" name="Rectangle 13"/>
            <p:cNvSpPr/>
            <p:nvPr/>
          </p:nvSpPr>
          <p:spPr>
            <a:xfrm>
              <a:off x="4438650" y="2419350"/>
              <a:ext cx="1047750" cy="590550"/>
            </a:xfrm>
            <a:prstGeom prst="roundRect">
              <a:avLst>
                <a:gd name="adj" fmla="val 12903"/>
              </a:avLst>
            </a:prstGeom>
            <a:solidFill>
              <a:srgbClr val="FFFFFF"/>
            </a:solidFill>
            <a:ln w="19050">
              <a:solidFill>
                <a:srgbClr val="D9E2EC"/>
              </a:solidFill>
            </a:ln>
          </p:spPr>
        </p:sp>
        <p:sp>
          <p:nvSpPr>
            <p:cNvPr id="14" name="TextBox 14"/>
            <p:cNvSpPr txBox="1"/>
            <p:nvPr/>
          </p:nvSpPr>
          <p:spPr>
            <a:xfrm>
              <a:off x="1600200" y="2628900"/>
              <a:ext cx="426649" cy="304800"/>
            </a:xfrm>
            <a:prstGeom prst="rect">
              <a:avLst/>
            </a:prstGeom>
            <a:noFill/>
            <a:ln>
              <a:noFill/>
            </a:ln>
          </p:spPr>
          <p:txBody>
            <a:bodyPr wrap="none" lIns="0" tIns="0" rIns="0" bIns="0" anchor="t" anchorCtr="0">
              <a:spAutoFit/>
            </a:bodyPr>
            <a:lstStyle/>
            <a:p>
              <a:pPr algn="l"/>
              <a:r>
                <a:rPr lang="zh-CN" sz="1500" b="1" dirty="0">
                  <a:solidFill>
                    <a:srgbClr val="111827"/>
                  </a:solidFill>
                  <a:latin typeface="Arial"/>
                  <a:ea typeface="Microsoft YaHei"/>
                  <a:cs typeface="Arial"/>
                </a:rPr>
                <a:t>REM</a:t>
              </a:r>
            </a:p>
          </p:txBody>
        </p:sp>
        <p:sp>
          <p:nvSpPr>
            <p:cNvPr id="15" name="TextBox 15"/>
            <p:cNvSpPr txBox="1"/>
            <p:nvPr/>
          </p:nvSpPr>
          <p:spPr>
            <a:xfrm>
              <a:off x="3219450" y="2628900"/>
              <a:ext cx="269129" cy="304800"/>
            </a:xfrm>
            <a:prstGeom prst="rect">
              <a:avLst/>
            </a:prstGeom>
            <a:noFill/>
            <a:ln>
              <a:noFill/>
            </a:ln>
          </p:spPr>
          <p:txBody>
            <a:bodyPr wrap="none" lIns="0" tIns="0" rIns="0" bIns="0" anchor="t" anchorCtr="0">
              <a:spAutoFit/>
            </a:bodyPr>
            <a:lstStyle/>
            <a:p>
              <a:pPr algn="l"/>
              <a:r>
                <a:rPr lang="zh-CN" sz="1500" b="1" dirty="0">
                  <a:solidFill>
                    <a:srgbClr val="111827"/>
                  </a:solidFill>
                  <a:latin typeface="Arial"/>
                  <a:ea typeface="Microsoft YaHei"/>
                  <a:cs typeface="Arial"/>
                </a:rPr>
                <a:t>PT</a:t>
              </a:r>
            </a:p>
          </p:txBody>
        </p:sp>
        <p:sp>
          <p:nvSpPr>
            <p:cNvPr id="16" name="TextBox 16"/>
            <p:cNvSpPr txBox="1"/>
            <p:nvPr/>
          </p:nvSpPr>
          <p:spPr>
            <a:xfrm>
              <a:off x="4752975" y="2628900"/>
              <a:ext cx="384643" cy="304800"/>
            </a:xfrm>
            <a:prstGeom prst="rect">
              <a:avLst/>
            </a:prstGeom>
            <a:noFill/>
            <a:ln>
              <a:noFill/>
            </a:ln>
          </p:spPr>
          <p:txBody>
            <a:bodyPr wrap="none" lIns="0" tIns="0" rIns="0" bIns="0" anchor="t" anchorCtr="0">
              <a:spAutoFit/>
            </a:bodyPr>
            <a:lstStyle/>
            <a:p>
              <a:pPr algn="l"/>
              <a:r>
                <a:rPr lang="zh-CN" sz="1500" b="1" dirty="0">
                  <a:solidFill>
                    <a:srgbClr val="111827"/>
                  </a:solidFill>
                  <a:latin typeface="Arial"/>
                  <a:ea typeface="Microsoft YaHei"/>
                  <a:cs typeface="Arial"/>
                </a:rPr>
                <a:t>ZNE</a:t>
              </a:r>
            </a:p>
          </p:txBody>
        </p:sp>
        <p:sp>
          <p:nvSpPr>
            <p:cNvPr id="17" name="Line 17"/>
            <p:cNvSpPr/>
            <p:nvPr/>
          </p:nvSpPr>
          <p:spPr>
            <a:xfrm>
              <a:off x="2324100" y="2714625"/>
              <a:ext cx="514350" cy="9525"/>
            </a:xfrm>
            <a:custGeom>
              <a:avLst/>
              <a:gdLst/>
              <a:ahLst/>
              <a:cxnLst/>
              <a:rect l="l" t="t" r="r" b="b"/>
              <a:pathLst>
                <a:path w="514350" h="9525">
                  <a:moveTo>
                    <a:pt x="0" y="0"/>
                  </a:moveTo>
                  <a:lnTo>
                    <a:pt x="514350" y="0"/>
                  </a:lnTo>
                </a:path>
              </a:pathLst>
            </a:custGeom>
            <a:noFill/>
            <a:ln w="28575">
              <a:solidFill>
                <a:srgbClr val="DC2626"/>
              </a:solidFill>
            </a:ln>
          </p:spPr>
        </p:sp>
        <p:sp>
          <p:nvSpPr>
            <p:cNvPr id="18" name="Polygon 18"/>
            <p:cNvSpPr/>
            <p:nvPr/>
          </p:nvSpPr>
          <p:spPr>
            <a:xfrm>
              <a:off x="2724150" y="2638425"/>
              <a:ext cx="114300" cy="152400"/>
            </a:xfrm>
            <a:custGeom>
              <a:avLst/>
              <a:gdLst/>
              <a:ahLst/>
              <a:cxnLst/>
              <a:rect l="l" t="t" r="r" b="b"/>
              <a:pathLst>
                <a:path w="114300" h="152400">
                  <a:moveTo>
                    <a:pt x="114300" y="76200"/>
                  </a:moveTo>
                  <a:lnTo>
                    <a:pt x="0" y="0"/>
                  </a:lnTo>
                  <a:lnTo>
                    <a:pt x="0" y="152400"/>
                  </a:lnTo>
                  <a:close/>
                </a:path>
              </a:pathLst>
            </a:custGeom>
            <a:solidFill>
              <a:srgbClr val="DC2626"/>
            </a:solidFill>
            <a:ln>
              <a:noFill/>
            </a:ln>
          </p:spPr>
        </p:sp>
        <p:sp>
          <p:nvSpPr>
            <p:cNvPr id="19" name="Line 19"/>
            <p:cNvSpPr/>
            <p:nvPr/>
          </p:nvSpPr>
          <p:spPr>
            <a:xfrm>
              <a:off x="3905250" y="2714625"/>
              <a:ext cx="514350" cy="9525"/>
            </a:xfrm>
            <a:custGeom>
              <a:avLst/>
              <a:gdLst/>
              <a:ahLst/>
              <a:cxnLst/>
              <a:rect l="l" t="t" r="r" b="b"/>
              <a:pathLst>
                <a:path w="514350" h="9525">
                  <a:moveTo>
                    <a:pt x="0" y="0"/>
                  </a:moveTo>
                  <a:lnTo>
                    <a:pt x="514350" y="0"/>
                  </a:lnTo>
                </a:path>
              </a:pathLst>
            </a:custGeom>
            <a:noFill/>
            <a:ln w="28575">
              <a:solidFill>
                <a:srgbClr val="DC2626"/>
              </a:solidFill>
            </a:ln>
          </p:spPr>
        </p:sp>
        <p:sp>
          <p:nvSpPr>
            <p:cNvPr id="20" name="Polygon 20"/>
            <p:cNvSpPr/>
            <p:nvPr/>
          </p:nvSpPr>
          <p:spPr>
            <a:xfrm>
              <a:off x="4305300" y="2638425"/>
              <a:ext cx="114300" cy="152400"/>
            </a:xfrm>
            <a:custGeom>
              <a:avLst/>
              <a:gdLst/>
              <a:ahLst/>
              <a:cxnLst/>
              <a:rect l="l" t="t" r="r" b="b"/>
              <a:pathLst>
                <a:path w="114300" h="152400">
                  <a:moveTo>
                    <a:pt x="114300" y="76200"/>
                  </a:moveTo>
                  <a:lnTo>
                    <a:pt x="0" y="0"/>
                  </a:lnTo>
                  <a:lnTo>
                    <a:pt x="0" y="152400"/>
                  </a:lnTo>
                  <a:close/>
                </a:path>
              </a:pathLst>
            </a:custGeom>
            <a:solidFill>
              <a:srgbClr val="DC2626"/>
            </a:solidFill>
            <a:ln>
              <a:noFill/>
            </a:ln>
          </p:spPr>
        </p:sp>
        <p:sp>
          <p:nvSpPr>
            <p:cNvPr id="21" name="TextBox 21"/>
            <p:cNvSpPr txBox="1"/>
            <p:nvPr/>
          </p:nvSpPr>
          <p:spPr>
            <a:xfrm>
              <a:off x="1068705" y="3416618"/>
              <a:ext cx="3157680" cy="274320"/>
            </a:xfrm>
            <a:prstGeom prst="rect">
              <a:avLst/>
            </a:prstGeom>
            <a:noFill/>
            <a:ln>
              <a:noFill/>
            </a:ln>
          </p:spPr>
          <p:txBody>
            <a:bodyPr wrap="none" lIns="0" tIns="0" rIns="0" bIns="0" anchor="t" anchorCtr="0">
              <a:spAutoFit/>
            </a:bodyPr>
            <a:lstStyle/>
            <a:p>
              <a:pPr algn="l"/>
              <a:r>
                <a:rPr lang="zh-CN" sz="1350" dirty="0">
                  <a:solidFill>
                    <a:srgbClr val="111827"/>
                  </a:solidFill>
                  <a:latin typeface="Arial"/>
                  <a:ea typeface="Microsoft YaHei"/>
                  <a:cs typeface="Arial"/>
                </a:rPr>
                <a:t>Costs accumulate before feedback:</a:t>
              </a:r>
            </a:p>
          </p:txBody>
        </p:sp>
        <p:sp>
          <p:nvSpPr>
            <p:cNvPr id="22" name="TextBox 22"/>
            <p:cNvSpPr txBox="1"/>
            <p:nvPr/>
          </p:nvSpPr>
          <p:spPr>
            <a:xfrm>
              <a:off x="1260158" y="3824764"/>
              <a:ext cx="1639086" cy="259080"/>
            </a:xfrm>
            <a:prstGeom prst="rect">
              <a:avLst/>
            </a:prstGeom>
            <a:noFill/>
            <a:ln>
              <a:noFill/>
            </a:ln>
          </p:spPr>
          <p:txBody>
            <a:bodyPr wrap="none" lIns="0" tIns="0" rIns="0" bIns="0" anchor="t" anchorCtr="0">
              <a:spAutoFit/>
            </a:bodyPr>
            <a:lstStyle/>
            <a:p>
              <a:pPr algn="l"/>
              <a:r>
                <a:rPr lang="zh-CN" sz="1275" dirty="0">
                  <a:solidFill>
                    <a:srgbClr val="475569"/>
                  </a:solidFill>
                  <a:latin typeface="Arial"/>
                  <a:ea typeface="Microsoft YaHei"/>
                  <a:cs typeface="Arial"/>
                </a:rPr>
                <a:t>fixed scale factors</a:t>
              </a:r>
            </a:p>
          </p:txBody>
        </p:sp>
        <p:sp>
          <p:nvSpPr>
            <p:cNvPr id="23" name="TextBox 23"/>
            <p:cNvSpPr txBox="1"/>
            <p:nvPr/>
          </p:nvSpPr>
          <p:spPr>
            <a:xfrm>
              <a:off x="1260158" y="4110514"/>
              <a:ext cx="1537073" cy="259080"/>
            </a:xfrm>
            <a:prstGeom prst="rect">
              <a:avLst/>
            </a:prstGeom>
            <a:noFill/>
            <a:ln>
              <a:noFill/>
            </a:ln>
          </p:spPr>
          <p:txBody>
            <a:bodyPr wrap="none" lIns="0" tIns="0" rIns="0" bIns="0" anchor="t" anchorCtr="0">
              <a:spAutoFit/>
            </a:bodyPr>
            <a:lstStyle/>
            <a:p>
              <a:pPr algn="l"/>
              <a:r>
                <a:rPr lang="zh-CN" sz="1275" dirty="0">
                  <a:solidFill>
                    <a:srgbClr val="475569"/>
                  </a:solidFill>
                  <a:latin typeface="Arial"/>
                  <a:ea typeface="Microsoft YaHei"/>
                  <a:cs typeface="Arial"/>
                </a:rPr>
                <a:t>fixed twirl counts</a:t>
              </a:r>
            </a:p>
          </p:txBody>
        </p:sp>
        <p:sp>
          <p:nvSpPr>
            <p:cNvPr id="24" name="TextBox 24"/>
            <p:cNvSpPr txBox="1"/>
            <p:nvPr/>
          </p:nvSpPr>
          <p:spPr>
            <a:xfrm>
              <a:off x="1260158" y="4396264"/>
              <a:ext cx="1741099" cy="259080"/>
            </a:xfrm>
            <a:prstGeom prst="rect">
              <a:avLst/>
            </a:prstGeom>
            <a:noFill/>
            <a:ln>
              <a:noFill/>
            </a:ln>
          </p:spPr>
          <p:txBody>
            <a:bodyPr wrap="none" lIns="0" tIns="0" rIns="0" bIns="0" anchor="t" anchorCtr="0">
              <a:spAutoFit/>
            </a:bodyPr>
            <a:lstStyle/>
            <a:p>
              <a:pPr algn="l"/>
              <a:r>
                <a:rPr lang="zh-CN" sz="1275" dirty="0">
                  <a:solidFill>
                    <a:srgbClr val="475569"/>
                  </a:solidFill>
                  <a:latin typeface="Arial"/>
                  <a:ea typeface="Microsoft YaHei"/>
                  <a:cs typeface="Arial"/>
                </a:rPr>
                <a:t>fixed shot allocation</a:t>
              </a:r>
            </a:p>
          </p:txBody>
        </p:sp>
      </p:grpSp>
      <p:grpSp>
        <p:nvGrpSpPr>
          <p:cNvPr id="43" name="Group 43"/>
          <p:cNvGrpSpPr/>
          <p:nvPr/>
        </p:nvGrpSpPr>
        <p:grpSpPr>
          <a:xfrm>
            <a:off x="6524625" y="1238250"/>
            <a:ext cx="5000625" cy="3771900"/>
            <a:chOff x="6524625" y="1238250"/>
            <a:chExt cx="5000625" cy="3771900"/>
          </a:xfrm>
        </p:grpSpPr>
        <p:sp>
          <p:nvSpPr>
            <p:cNvPr id="26" name="Rectangle 26"/>
            <p:cNvSpPr/>
            <p:nvPr/>
          </p:nvSpPr>
          <p:spPr>
            <a:xfrm>
              <a:off x="6524625" y="1238250"/>
              <a:ext cx="5000625" cy="3771900"/>
            </a:xfrm>
            <a:prstGeom prst="roundRect">
              <a:avLst>
                <a:gd name="adj" fmla="val 2020"/>
              </a:avLst>
            </a:prstGeom>
            <a:solidFill>
              <a:srgbClr val="FFFFFF"/>
            </a:solidFill>
            <a:ln w="19050">
              <a:solidFill>
                <a:srgbClr val="146EB4"/>
              </a:solidFill>
            </a:ln>
          </p:spPr>
        </p:sp>
        <p:sp>
          <p:nvSpPr>
            <p:cNvPr id="27" name="TextBox 27"/>
            <p:cNvSpPr txBox="1"/>
            <p:nvPr/>
          </p:nvSpPr>
          <p:spPr>
            <a:xfrm>
              <a:off x="6808470" y="1460182"/>
              <a:ext cx="1520495" cy="335280"/>
            </a:xfrm>
            <a:prstGeom prst="rect">
              <a:avLst/>
            </a:prstGeom>
            <a:noFill/>
            <a:ln>
              <a:noFill/>
            </a:ln>
          </p:spPr>
          <p:txBody>
            <a:bodyPr wrap="none" lIns="0" tIns="0" rIns="0" bIns="0" anchor="t" anchorCtr="0">
              <a:spAutoFit/>
            </a:bodyPr>
            <a:lstStyle/>
            <a:p>
              <a:pPr algn="l"/>
              <a:r>
                <a:rPr lang="zh-CN" sz="1650" b="1" dirty="0">
                  <a:solidFill>
                    <a:srgbClr val="146EB4"/>
                  </a:solidFill>
                  <a:latin typeface="Arial"/>
                  <a:ea typeface="Microsoft YaHei"/>
                  <a:cs typeface="Arial"/>
                </a:rPr>
                <a:t>Adaptive loop</a:t>
              </a:r>
            </a:p>
          </p:txBody>
        </p:sp>
        <p:sp>
          <p:nvSpPr>
            <p:cNvPr id="28" name="TextBox 28"/>
            <p:cNvSpPr txBox="1"/>
            <p:nvPr/>
          </p:nvSpPr>
          <p:spPr>
            <a:xfrm>
              <a:off x="6814185" y="1832610"/>
              <a:ext cx="4431030" cy="243840"/>
            </a:xfrm>
            <a:prstGeom prst="rect">
              <a:avLst/>
            </a:prstGeom>
            <a:noFill/>
            <a:ln>
              <a:noFill/>
            </a:ln>
          </p:spPr>
          <p:txBody>
            <a:bodyPr wrap="none" lIns="0" tIns="0" rIns="0" bIns="0" anchor="t" anchorCtr="0">
              <a:spAutoFit/>
            </a:bodyPr>
            <a:lstStyle/>
            <a:p>
              <a:pPr algn="l"/>
              <a:r>
                <a:rPr lang="zh-CN" sz="1200" dirty="0">
                  <a:solidFill>
                    <a:srgbClr val="475569"/>
                  </a:solidFill>
                  <a:latin typeface="Arial"/>
                  <a:ea typeface="Microsoft YaHei"/>
                  <a:cs typeface="Arial"/>
                </a:rPr>
                <a:t>Observe first, select the minimum sufficient strategy.</a:t>
              </a:r>
            </a:p>
          </p:txBody>
        </p:sp>
        <p:sp>
          <p:nvSpPr>
            <p:cNvPr id="29" name="Ellipse 29"/>
            <p:cNvSpPr/>
            <p:nvPr/>
          </p:nvSpPr>
          <p:spPr>
            <a:xfrm>
              <a:off x="7029450" y="2324100"/>
              <a:ext cx="914400" cy="914400"/>
            </a:xfrm>
            <a:prstGeom prst="ellipse">
              <a:avLst/>
            </a:prstGeom>
            <a:solidFill>
              <a:srgbClr val="E8F3FC"/>
            </a:solidFill>
            <a:ln w="19050">
              <a:solidFill>
                <a:srgbClr val="146EB4"/>
              </a:solidFill>
            </a:ln>
          </p:spPr>
        </p:sp>
        <p:sp>
          <p:nvSpPr>
            <p:cNvPr id="30" name="Ellipse 30"/>
            <p:cNvSpPr/>
            <p:nvPr/>
          </p:nvSpPr>
          <p:spPr>
            <a:xfrm>
              <a:off x="8610600" y="2324100"/>
              <a:ext cx="914400" cy="914400"/>
            </a:xfrm>
            <a:prstGeom prst="ellipse">
              <a:avLst/>
            </a:prstGeom>
            <a:solidFill>
              <a:srgbClr val="FFF4E0"/>
            </a:solidFill>
            <a:ln w="19050">
              <a:solidFill>
                <a:srgbClr val="FF9900"/>
              </a:solidFill>
            </a:ln>
          </p:spPr>
        </p:sp>
        <p:sp>
          <p:nvSpPr>
            <p:cNvPr id="31" name="Ellipse 31"/>
            <p:cNvSpPr/>
            <p:nvPr/>
          </p:nvSpPr>
          <p:spPr>
            <a:xfrm>
              <a:off x="7820025" y="3581400"/>
              <a:ext cx="914400" cy="914400"/>
            </a:xfrm>
            <a:prstGeom prst="ellipse">
              <a:avLst/>
            </a:prstGeom>
            <a:solidFill>
              <a:srgbClr val="E7F7EF"/>
            </a:solidFill>
            <a:ln w="19050">
              <a:solidFill>
                <a:srgbClr val="0F766E"/>
              </a:solidFill>
            </a:ln>
          </p:spPr>
        </p:sp>
        <p:sp>
          <p:nvSpPr>
            <p:cNvPr id="32" name="TextBox 32"/>
            <p:cNvSpPr txBox="1"/>
            <p:nvPr/>
          </p:nvSpPr>
          <p:spPr>
            <a:xfrm>
              <a:off x="7203758" y="2710339"/>
              <a:ext cx="523321" cy="259080"/>
            </a:xfrm>
            <a:prstGeom prst="rect">
              <a:avLst/>
            </a:prstGeom>
            <a:noFill/>
            <a:ln>
              <a:noFill/>
            </a:ln>
          </p:spPr>
          <p:txBody>
            <a:bodyPr wrap="none" lIns="0" tIns="0" rIns="0" bIns="0" anchor="t" anchorCtr="0">
              <a:spAutoFit/>
            </a:bodyPr>
            <a:lstStyle/>
            <a:p>
              <a:pPr algn="l"/>
              <a:r>
                <a:rPr lang="zh-CN" sz="1275" b="1" dirty="0">
                  <a:solidFill>
                    <a:srgbClr val="111827"/>
                  </a:solidFill>
                  <a:latin typeface="Arial"/>
                  <a:ea typeface="Microsoft YaHei"/>
                  <a:cs typeface="Arial"/>
                </a:rPr>
                <a:t>Probe</a:t>
              </a:r>
            </a:p>
          </p:txBody>
        </p:sp>
        <p:sp>
          <p:nvSpPr>
            <p:cNvPr id="33" name="TextBox 33"/>
            <p:cNvSpPr txBox="1"/>
            <p:nvPr/>
          </p:nvSpPr>
          <p:spPr>
            <a:xfrm>
              <a:off x="8775382" y="2710339"/>
              <a:ext cx="576878" cy="259080"/>
            </a:xfrm>
            <a:prstGeom prst="rect">
              <a:avLst/>
            </a:prstGeom>
            <a:noFill/>
            <a:ln>
              <a:noFill/>
            </a:ln>
          </p:spPr>
          <p:txBody>
            <a:bodyPr wrap="none" lIns="0" tIns="0" rIns="0" bIns="0" anchor="t" anchorCtr="0">
              <a:spAutoFit/>
            </a:bodyPr>
            <a:lstStyle/>
            <a:p>
              <a:pPr algn="l"/>
              <a:r>
                <a:rPr lang="zh-CN" sz="1275" b="1" dirty="0">
                  <a:solidFill>
                    <a:srgbClr val="111827"/>
                  </a:solidFill>
                  <a:latin typeface="Arial"/>
                  <a:ea typeface="Microsoft YaHei"/>
                  <a:cs typeface="Arial"/>
                </a:rPr>
                <a:t>Decide</a:t>
              </a:r>
            </a:p>
          </p:txBody>
        </p:sp>
        <p:sp>
          <p:nvSpPr>
            <p:cNvPr id="34" name="TextBox 34"/>
            <p:cNvSpPr txBox="1"/>
            <p:nvPr/>
          </p:nvSpPr>
          <p:spPr>
            <a:xfrm>
              <a:off x="7937182" y="3967639"/>
              <a:ext cx="728622" cy="259080"/>
            </a:xfrm>
            <a:prstGeom prst="rect">
              <a:avLst/>
            </a:prstGeom>
            <a:noFill/>
            <a:ln>
              <a:noFill/>
            </a:ln>
          </p:spPr>
          <p:txBody>
            <a:bodyPr wrap="none" lIns="0" tIns="0" rIns="0" bIns="0" anchor="t" anchorCtr="0">
              <a:spAutoFit/>
            </a:bodyPr>
            <a:lstStyle/>
            <a:p>
              <a:pPr algn="l"/>
              <a:r>
                <a:rPr lang="zh-CN" sz="1275" b="1" dirty="0">
                  <a:solidFill>
                    <a:srgbClr val="111827"/>
                  </a:solidFill>
                  <a:latin typeface="Arial"/>
                  <a:ea typeface="Microsoft YaHei"/>
                  <a:cs typeface="Arial"/>
                </a:rPr>
                <a:t>Validate</a:t>
              </a:r>
            </a:p>
          </p:txBody>
        </p:sp>
        <p:sp>
          <p:nvSpPr>
            <p:cNvPr id="35" name="Line 35"/>
            <p:cNvSpPr/>
            <p:nvPr/>
          </p:nvSpPr>
          <p:spPr>
            <a:xfrm>
              <a:off x="7953375" y="2781300"/>
              <a:ext cx="619125" cy="9525"/>
            </a:xfrm>
            <a:custGeom>
              <a:avLst/>
              <a:gdLst/>
              <a:ahLst/>
              <a:cxnLst/>
              <a:rect l="l" t="t" r="r" b="b"/>
              <a:pathLst>
                <a:path w="619125" h="9525">
                  <a:moveTo>
                    <a:pt x="0" y="0"/>
                  </a:moveTo>
                  <a:lnTo>
                    <a:pt x="619125" y="0"/>
                  </a:lnTo>
                </a:path>
              </a:pathLst>
            </a:custGeom>
            <a:noFill/>
            <a:ln w="28575">
              <a:solidFill>
                <a:srgbClr val="146EB4"/>
              </a:solidFill>
            </a:ln>
          </p:spPr>
        </p:sp>
        <p:sp>
          <p:nvSpPr>
            <p:cNvPr id="36" name="Polygon 36"/>
            <p:cNvSpPr/>
            <p:nvPr/>
          </p:nvSpPr>
          <p:spPr>
            <a:xfrm>
              <a:off x="8458200" y="2705100"/>
              <a:ext cx="114300" cy="152400"/>
            </a:xfrm>
            <a:custGeom>
              <a:avLst/>
              <a:gdLst/>
              <a:ahLst/>
              <a:cxnLst/>
              <a:rect l="l" t="t" r="r" b="b"/>
              <a:pathLst>
                <a:path w="114300" h="152400">
                  <a:moveTo>
                    <a:pt x="114300" y="76200"/>
                  </a:moveTo>
                  <a:lnTo>
                    <a:pt x="0" y="0"/>
                  </a:lnTo>
                  <a:lnTo>
                    <a:pt x="0" y="152400"/>
                  </a:lnTo>
                  <a:close/>
                </a:path>
              </a:pathLst>
            </a:custGeom>
            <a:solidFill>
              <a:srgbClr val="146EB4"/>
            </a:solidFill>
            <a:ln>
              <a:noFill/>
            </a:ln>
          </p:spPr>
        </p:sp>
        <p:sp>
          <p:nvSpPr>
            <p:cNvPr id="37" name="Line 37"/>
            <p:cNvSpPr/>
            <p:nvPr/>
          </p:nvSpPr>
          <p:spPr>
            <a:xfrm>
              <a:off x="8515350" y="3190875"/>
              <a:ext cx="342900" cy="466725"/>
            </a:xfrm>
            <a:custGeom>
              <a:avLst/>
              <a:gdLst/>
              <a:ahLst/>
              <a:cxnLst/>
              <a:rect l="l" t="t" r="r" b="b"/>
              <a:pathLst>
                <a:path w="342900" h="466725">
                  <a:moveTo>
                    <a:pt x="342900" y="0"/>
                  </a:moveTo>
                  <a:lnTo>
                    <a:pt x="0" y="466725"/>
                  </a:lnTo>
                </a:path>
              </a:pathLst>
            </a:custGeom>
            <a:noFill/>
            <a:ln w="28575">
              <a:solidFill>
                <a:srgbClr val="0F766E"/>
              </a:solidFill>
            </a:ln>
          </p:spPr>
        </p:sp>
        <p:sp>
          <p:nvSpPr>
            <p:cNvPr id="38" name="Polygon 38"/>
            <p:cNvSpPr/>
            <p:nvPr/>
          </p:nvSpPr>
          <p:spPr>
            <a:xfrm>
              <a:off x="8515350" y="3524250"/>
              <a:ext cx="114300" cy="133350"/>
            </a:xfrm>
            <a:custGeom>
              <a:avLst/>
              <a:gdLst/>
              <a:ahLst/>
              <a:cxnLst/>
              <a:rect l="l" t="t" r="r" b="b"/>
              <a:pathLst>
                <a:path w="114300" h="133350">
                  <a:moveTo>
                    <a:pt x="0" y="133350"/>
                  </a:moveTo>
                  <a:lnTo>
                    <a:pt x="0" y="0"/>
                  </a:lnTo>
                  <a:lnTo>
                    <a:pt x="114300" y="85725"/>
                  </a:lnTo>
                  <a:close/>
                </a:path>
              </a:pathLst>
            </a:custGeom>
            <a:solidFill>
              <a:srgbClr val="0F766E"/>
            </a:solidFill>
            <a:ln>
              <a:noFill/>
            </a:ln>
          </p:spPr>
        </p:sp>
        <p:sp>
          <p:nvSpPr>
            <p:cNvPr id="39" name="Line 39"/>
            <p:cNvSpPr/>
            <p:nvPr/>
          </p:nvSpPr>
          <p:spPr>
            <a:xfrm>
              <a:off x="7658100" y="3200400"/>
              <a:ext cx="323850" cy="457200"/>
            </a:xfrm>
            <a:custGeom>
              <a:avLst/>
              <a:gdLst/>
              <a:ahLst/>
              <a:cxnLst/>
              <a:rect l="l" t="t" r="r" b="b"/>
              <a:pathLst>
                <a:path w="323850" h="457200">
                  <a:moveTo>
                    <a:pt x="323850" y="457200"/>
                  </a:moveTo>
                  <a:lnTo>
                    <a:pt x="0" y="0"/>
                  </a:lnTo>
                </a:path>
              </a:pathLst>
            </a:custGeom>
            <a:noFill/>
            <a:ln w="28575">
              <a:solidFill>
                <a:srgbClr val="0F766E"/>
              </a:solidFill>
            </a:ln>
          </p:spPr>
        </p:sp>
        <p:sp>
          <p:nvSpPr>
            <p:cNvPr id="40" name="Polygon 40"/>
            <p:cNvSpPr/>
            <p:nvPr/>
          </p:nvSpPr>
          <p:spPr>
            <a:xfrm>
              <a:off x="7658100" y="3200400"/>
              <a:ext cx="123825" cy="133350"/>
            </a:xfrm>
            <a:custGeom>
              <a:avLst/>
              <a:gdLst/>
              <a:ahLst/>
              <a:cxnLst/>
              <a:rect l="l" t="t" r="r" b="b"/>
              <a:pathLst>
                <a:path w="123825" h="133350">
                  <a:moveTo>
                    <a:pt x="0" y="0"/>
                  </a:moveTo>
                  <a:lnTo>
                    <a:pt x="123825" y="57150"/>
                  </a:lnTo>
                  <a:lnTo>
                    <a:pt x="9525" y="133350"/>
                  </a:lnTo>
                  <a:close/>
                </a:path>
              </a:pathLst>
            </a:custGeom>
            <a:solidFill>
              <a:srgbClr val="0F766E"/>
            </a:solidFill>
            <a:ln>
              <a:noFill/>
            </a:ln>
          </p:spPr>
        </p:sp>
        <p:sp>
          <p:nvSpPr>
            <p:cNvPr id="41" name="TextBox 41"/>
            <p:cNvSpPr txBox="1"/>
            <p:nvPr/>
          </p:nvSpPr>
          <p:spPr>
            <a:xfrm>
              <a:off x="9631680" y="3040380"/>
              <a:ext cx="1301191" cy="731520"/>
            </a:xfrm>
            <a:prstGeom prst="rect">
              <a:avLst/>
            </a:prstGeom>
            <a:noFill/>
            <a:ln>
              <a:noFill/>
            </a:ln>
          </p:spPr>
          <p:txBody>
            <a:bodyPr wrap="none" lIns="0" tIns="0" rIns="0" bIns="0" anchor="t" anchorCtr="0">
              <a:spAutoFit/>
            </a:bodyPr>
            <a:lstStyle/>
            <a:p>
              <a:pPr algn="l"/>
              <a:r>
                <a:rPr lang="zh-CN" sz="3600" b="1" dirty="0">
                  <a:solidFill>
                    <a:srgbClr val="16A34A"/>
                  </a:solidFill>
                  <a:latin typeface="Arial"/>
                  <a:ea typeface="Microsoft YaHei"/>
                  <a:cs typeface="Arial"/>
                </a:rPr>
                <a:t>STOP</a:t>
              </a:r>
            </a:p>
          </p:txBody>
        </p:sp>
        <p:sp>
          <p:nvSpPr>
            <p:cNvPr id="42" name="TextBox 42"/>
            <p:cNvSpPr txBox="1"/>
            <p:nvPr/>
          </p:nvSpPr>
          <p:spPr>
            <a:xfrm>
              <a:off x="9681210" y="3604260"/>
              <a:ext cx="1518666" cy="243840"/>
            </a:xfrm>
            <a:prstGeom prst="rect">
              <a:avLst/>
            </a:prstGeom>
            <a:noFill/>
            <a:ln>
              <a:noFill/>
            </a:ln>
          </p:spPr>
          <p:txBody>
            <a:bodyPr wrap="none" lIns="0" tIns="0" rIns="0" bIns="0" anchor="t" anchorCtr="0">
              <a:spAutoFit/>
            </a:bodyPr>
            <a:lstStyle/>
            <a:p>
              <a:pPr algn="l"/>
              <a:r>
                <a:rPr lang="zh-CN" sz="1200" dirty="0">
                  <a:solidFill>
                    <a:srgbClr val="475569"/>
                  </a:solidFill>
                  <a:latin typeface="Arial"/>
                  <a:ea typeface="Microsoft YaHei"/>
                  <a:cs typeface="Arial"/>
                </a:rPr>
                <a:t>when target is met</a:t>
              </a:r>
            </a:p>
          </p:txBody>
        </p:sp>
      </p:grpSp>
      <p:grpSp>
        <p:nvGrpSpPr>
          <p:cNvPr id="46" name="Group 46"/>
          <p:cNvGrpSpPr/>
          <p:nvPr/>
        </p:nvGrpSpPr>
        <p:grpSpPr>
          <a:xfrm>
            <a:off x="666750" y="5429250"/>
            <a:ext cx="10858500" cy="685800"/>
            <a:chOff x="666750" y="5429250"/>
            <a:chExt cx="10858500" cy="685800"/>
          </a:xfrm>
        </p:grpSpPr>
        <p:sp>
          <p:nvSpPr>
            <p:cNvPr id="44" name="Rectangle 44"/>
            <p:cNvSpPr/>
            <p:nvPr/>
          </p:nvSpPr>
          <p:spPr>
            <a:xfrm>
              <a:off x="666750" y="5429250"/>
              <a:ext cx="10858500" cy="685800"/>
            </a:xfrm>
            <a:prstGeom prst="roundRect">
              <a:avLst>
                <a:gd name="adj" fmla="val 11111"/>
              </a:avLst>
            </a:prstGeom>
            <a:solidFill>
              <a:srgbClr val="FFF4E0"/>
            </a:solidFill>
            <a:ln w="19050">
              <a:solidFill>
                <a:srgbClr val="FF9900"/>
              </a:solidFill>
            </a:ln>
          </p:spPr>
        </p:sp>
        <p:sp>
          <p:nvSpPr>
            <p:cNvPr id="45" name="TextBox 45"/>
            <p:cNvSpPr txBox="1"/>
            <p:nvPr/>
          </p:nvSpPr>
          <p:spPr>
            <a:xfrm>
              <a:off x="969645" y="5689282"/>
              <a:ext cx="5586603" cy="335280"/>
            </a:xfrm>
            <a:prstGeom prst="rect">
              <a:avLst/>
            </a:prstGeom>
            <a:noFill/>
            <a:ln>
              <a:noFill/>
            </a:ln>
          </p:spPr>
          <p:txBody>
            <a:bodyPr wrap="none" lIns="0" tIns="0" rIns="0" bIns="0" anchor="t" anchorCtr="0">
              <a:spAutoFit/>
            </a:bodyPr>
            <a:lstStyle/>
            <a:p>
              <a:pPr algn="l"/>
              <a:r>
                <a:rPr lang="zh-CN" sz="1650" b="1" dirty="0">
                  <a:solidFill>
                    <a:srgbClr val="111827"/>
                  </a:solidFill>
                  <a:latin typeface="Arial"/>
                  <a:ea typeface="Microsoft YaHei"/>
                  <a:cs typeface="Arial"/>
                </a:rPr>
                <a:t>QEM should be target-driven, not recipe-driven.</a:t>
              </a:r>
            </a:p>
          </p:txBody>
        </p:sp>
      </p:grpSp>
      <p:sp>
        <p:nvSpPr>
          <p:cNvPr id="47" name="TextBox 47"/>
          <p:cNvSpPr txBox="1"/>
          <p:nvPr/>
        </p:nvSpPr>
        <p:spPr>
          <a:xfrm>
            <a:off x="522922" y="6483191"/>
            <a:ext cx="2925318" cy="167640"/>
          </a:xfrm>
          <a:prstGeom prst="rect">
            <a:avLst/>
          </a:prstGeom>
          <a:noFill/>
          <a:ln>
            <a:noFill/>
          </a:ln>
        </p:spPr>
        <p:txBody>
          <a:bodyPr wrap="none" lIns="0" tIns="0" rIns="0" bIns="0" anchor="t" anchorCtr="0">
            <a:spAutoFit/>
          </a:bodyPr>
          <a:lstStyle/>
          <a:p>
            <a:pPr algn="l"/>
            <a:r>
              <a:rPr lang="zh-CN" sz="825" dirty="0">
                <a:solidFill>
                  <a:srgbClr val="94A3B8"/>
                </a:solidFill>
                <a:latin typeface="Arial"/>
                <a:ea typeface="Microsoft YaHei"/>
                <a:cs typeface="Arial"/>
              </a:rPr>
              <a:t>Source: AQEM design outline and implementation notes</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image">
                                      <p:cBhvr>
                                        <p:cTn id="7" dur="400"/>
                                        <p:tgtEl>
                                          <p:spTgt spid="25"/>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43"/>
                                        </p:tgtEl>
                                        <p:attrNameLst>
                                          <p:attrName>style.visibility</p:attrName>
                                        </p:attrNameLst>
                                      </p:cBhvr>
                                      <p:to>
                                        <p:strVal val="visible"/>
                                      </p:to>
                                    </p:set>
                                    <p:animEffect transition="in" filter="fade">
                                      <p:cBhvr>
                                        <p:cTn id="11" dur="400"/>
                                        <p:tgtEl>
                                          <p:spTgt spid="43"/>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fade">
                                      <p:cBhvr>
                                        <p:cTn id="15" dur="4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43" grpId="0"/>
      <p:bldP spid="4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533400" y="419100"/>
              <a:ext cx="11125200" cy="9525"/>
            </a:xfrm>
            <a:prstGeom prst="rect">
              <a:avLst/>
            </a:prstGeom>
            <a:solidFill>
              <a:srgbClr val="D9E2EC"/>
            </a:solidFill>
            <a:ln>
              <a:noFill/>
            </a:ln>
          </p:spPr>
        </p:sp>
      </p:grpSp>
      <p:grpSp>
        <p:nvGrpSpPr>
          <p:cNvPr id="7" name="Group 7"/>
          <p:cNvGrpSpPr/>
          <p:nvPr/>
        </p:nvGrpSpPr>
        <p:grpSpPr>
          <a:xfrm>
            <a:off x="502920" y="560070"/>
            <a:ext cx="10783919" cy="487680"/>
            <a:chOff x="502920" y="560070"/>
            <a:chExt cx="10783919" cy="487680"/>
          </a:xfrm>
        </p:grpSpPr>
        <p:sp>
          <p:nvSpPr>
            <p:cNvPr id="5" name="TextBox 5"/>
            <p:cNvSpPr txBox="1"/>
            <p:nvPr/>
          </p:nvSpPr>
          <p:spPr>
            <a:xfrm>
              <a:off x="502920" y="560070"/>
              <a:ext cx="7907541" cy="487680"/>
            </a:xfrm>
            <a:prstGeom prst="rect">
              <a:avLst/>
            </a:prstGeom>
            <a:noFill/>
            <a:ln>
              <a:noFill/>
            </a:ln>
          </p:spPr>
          <p:txBody>
            <a:bodyPr wrap="none" lIns="0" tIns="0" rIns="0" bIns="0" anchor="t" anchorCtr="0">
              <a:spAutoFit/>
            </a:bodyPr>
            <a:lstStyle/>
            <a:p>
              <a:pPr algn="l"/>
              <a:r>
                <a:rPr lang="zh-CN" sz="2400" b="1" dirty="0">
                  <a:solidFill>
                    <a:srgbClr val="111827"/>
                  </a:solidFill>
                  <a:latin typeface="Arial"/>
                  <a:ea typeface="Microsoft YaHei"/>
                  <a:cs typeface="Arial"/>
                </a:rPr>
                <a:t>Deterministic agent, not free-form automation</a:t>
              </a:r>
            </a:p>
          </p:txBody>
        </p:sp>
        <p:sp>
          <p:nvSpPr>
            <p:cNvPr id="6" name="TextBox 6"/>
            <p:cNvSpPr txBox="1"/>
            <p:nvPr/>
          </p:nvSpPr>
          <p:spPr>
            <a:xfrm>
              <a:off x="10826115" y="667702"/>
              <a:ext cx="460724" cy="213360"/>
            </a:xfrm>
            <a:prstGeom prst="rect">
              <a:avLst/>
            </a:prstGeom>
            <a:noFill/>
            <a:ln>
              <a:noFill/>
            </a:ln>
          </p:spPr>
          <p:txBody>
            <a:bodyPr wrap="none" lIns="0" tIns="0" rIns="0" bIns="0" anchor="t" anchorCtr="0">
              <a:spAutoFit/>
            </a:bodyPr>
            <a:lstStyle/>
            <a:p>
              <a:pPr algn="l"/>
              <a:r>
                <a:rPr lang="zh-CN" sz="1050" dirty="0">
                  <a:solidFill>
                    <a:srgbClr val="94A3B8"/>
                  </a:solidFill>
                  <a:latin typeface="Arial"/>
                  <a:ea typeface="Microsoft YaHei"/>
                  <a:cs typeface="Arial"/>
                </a:rPr>
                <a:t>03 / 10</a:t>
              </a:r>
            </a:p>
          </p:txBody>
        </p:sp>
      </p:grpSp>
      <p:grpSp>
        <p:nvGrpSpPr>
          <p:cNvPr id="10" name="Group 10"/>
          <p:cNvGrpSpPr/>
          <p:nvPr/>
        </p:nvGrpSpPr>
        <p:grpSpPr>
          <a:xfrm>
            <a:off x="533400" y="1066800"/>
            <a:ext cx="11125200" cy="514350"/>
            <a:chOff x="533400" y="1066800"/>
            <a:chExt cx="11125200" cy="514350"/>
          </a:xfrm>
        </p:grpSpPr>
        <p:sp>
          <p:nvSpPr>
            <p:cNvPr id="8" name="Rectangle 8"/>
            <p:cNvSpPr/>
            <p:nvPr/>
          </p:nvSpPr>
          <p:spPr>
            <a:xfrm>
              <a:off x="533400" y="1066800"/>
              <a:ext cx="11125200" cy="514350"/>
            </a:xfrm>
            <a:prstGeom prst="roundRect">
              <a:avLst>
                <a:gd name="adj" fmla="val 14815"/>
              </a:avLst>
            </a:prstGeom>
            <a:solidFill>
              <a:srgbClr val="E8F3FC"/>
            </a:solidFill>
            <a:ln>
              <a:noFill/>
            </a:ln>
          </p:spPr>
        </p:sp>
        <p:sp>
          <p:nvSpPr>
            <p:cNvPr id="9" name="TextBox 9"/>
            <p:cNvSpPr txBox="1"/>
            <p:nvPr/>
          </p:nvSpPr>
          <p:spPr>
            <a:xfrm>
              <a:off x="763905" y="1244918"/>
              <a:ext cx="6914750" cy="274320"/>
            </a:xfrm>
            <a:prstGeom prst="rect">
              <a:avLst/>
            </a:prstGeom>
            <a:noFill/>
            <a:ln>
              <a:noFill/>
            </a:ln>
          </p:spPr>
          <p:txBody>
            <a:bodyPr wrap="none" lIns="0" tIns="0" rIns="0" bIns="0" anchor="t" anchorCtr="0">
              <a:spAutoFit/>
            </a:bodyPr>
            <a:lstStyle/>
            <a:p>
              <a:pPr algn="l"/>
              <a:r>
                <a:rPr lang="zh-CN" sz="1350" b="1" dirty="0">
                  <a:solidFill>
                    <a:srgbClr val="146EB4"/>
                  </a:solidFill>
                  <a:latin typeface="Arial"/>
                  <a:ea typeface="Microsoft YaHei"/>
                  <a:cs typeface="Arial"/>
                </a:rPr>
                <a:t>Rules provide the floor; VLM adds visual judgment; Policy is the hard gate.</a:t>
              </a:r>
            </a:p>
          </p:txBody>
        </p:sp>
      </p:grpSp>
      <p:grpSp>
        <p:nvGrpSpPr>
          <p:cNvPr id="30" name="Group 30"/>
          <p:cNvGrpSpPr/>
          <p:nvPr/>
        </p:nvGrpSpPr>
        <p:grpSpPr>
          <a:xfrm>
            <a:off x="904875" y="3143250"/>
            <a:ext cx="9953625" cy="914400"/>
            <a:chOff x="904875" y="3143250"/>
            <a:chExt cx="9953625" cy="914400"/>
          </a:xfrm>
        </p:grpSpPr>
        <p:sp>
          <p:nvSpPr>
            <p:cNvPr id="11" name="Line 11"/>
            <p:cNvSpPr/>
            <p:nvPr/>
          </p:nvSpPr>
          <p:spPr>
            <a:xfrm>
              <a:off x="1162050" y="3600450"/>
              <a:ext cx="9429750" cy="9525"/>
            </a:xfrm>
            <a:custGeom>
              <a:avLst/>
              <a:gdLst/>
              <a:ahLst/>
              <a:cxnLst/>
              <a:rect l="l" t="t" r="r" b="b"/>
              <a:pathLst>
                <a:path w="9429750" h="9525">
                  <a:moveTo>
                    <a:pt x="0" y="0"/>
                  </a:moveTo>
                  <a:lnTo>
                    <a:pt x="9429750" y="0"/>
                  </a:lnTo>
                </a:path>
              </a:pathLst>
            </a:custGeom>
            <a:noFill/>
            <a:ln w="95250">
              <a:solidFill>
                <a:srgbClr val="D9E2EC"/>
              </a:solidFill>
            </a:ln>
          </p:spPr>
        </p:sp>
        <p:sp>
          <p:nvSpPr>
            <p:cNvPr id="12" name="Rectangle 12"/>
            <p:cNvSpPr/>
            <p:nvPr/>
          </p:nvSpPr>
          <p:spPr>
            <a:xfrm>
              <a:off x="904875" y="3143250"/>
              <a:ext cx="1333500" cy="914400"/>
            </a:xfrm>
            <a:prstGeom prst="roundRect">
              <a:avLst>
                <a:gd name="adj" fmla="val 8333"/>
              </a:avLst>
            </a:prstGeom>
            <a:solidFill>
              <a:srgbClr val="FFFFFF"/>
            </a:solidFill>
            <a:ln w="19050">
              <a:solidFill>
                <a:srgbClr val="146EB4"/>
              </a:solidFill>
            </a:ln>
          </p:spPr>
        </p:sp>
        <p:sp>
          <p:nvSpPr>
            <p:cNvPr id="13" name="Rectangle 13"/>
            <p:cNvSpPr/>
            <p:nvPr/>
          </p:nvSpPr>
          <p:spPr>
            <a:xfrm>
              <a:off x="2628900" y="3143250"/>
              <a:ext cx="1333500" cy="914400"/>
            </a:xfrm>
            <a:prstGeom prst="roundRect">
              <a:avLst>
                <a:gd name="adj" fmla="val 8333"/>
              </a:avLst>
            </a:prstGeom>
            <a:solidFill>
              <a:srgbClr val="FFFFFF"/>
            </a:solidFill>
            <a:ln w="19050">
              <a:solidFill>
                <a:srgbClr val="146EB4"/>
              </a:solidFill>
            </a:ln>
          </p:spPr>
        </p:sp>
        <p:sp>
          <p:nvSpPr>
            <p:cNvPr id="14" name="Rectangle 14"/>
            <p:cNvSpPr/>
            <p:nvPr/>
          </p:nvSpPr>
          <p:spPr>
            <a:xfrm>
              <a:off x="4352925" y="3143250"/>
              <a:ext cx="1333500" cy="914400"/>
            </a:xfrm>
            <a:prstGeom prst="roundRect">
              <a:avLst>
                <a:gd name="adj" fmla="val 8333"/>
              </a:avLst>
            </a:prstGeom>
            <a:solidFill>
              <a:srgbClr val="FFFFFF"/>
            </a:solidFill>
            <a:ln w="19050">
              <a:solidFill>
                <a:srgbClr val="146EB4"/>
              </a:solidFill>
            </a:ln>
          </p:spPr>
        </p:sp>
        <p:sp>
          <p:nvSpPr>
            <p:cNvPr id="15" name="Rectangle 15"/>
            <p:cNvSpPr/>
            <p:nvPr/>
          </p:nvSpPr>
          <p:spPr>
            <a:xfrm>
              <a:off x="6076950" y="3143250"/>
              <a:ext cx="1333500" cy="914400"/>
            </a:xfrm>
            <a:prstGeom prst="roundRect">
              <a:avLst>
                <a:gd name="adj" fmla="val 8333"/>
              </a:avLst>
            </a:prstGeom>
            <a:solidFill>
              <a:srgbClr val="FFFFFF"/>
            </a:solidFill>
            <a:ln w="19050">
              <a:solidFill>
                <a:srgbClr val="FF9900"/>
              </a:solidFill>
            </a:ln>
          </p:spPr>
        </p:sp>
        <p:sp>
          <p:nvSpPr>
            <p:cNvPr id="16" name="Rectangle 16"/>
            <p:cNvSpPr/>
            <p:nvPr/>
          </p:nvSpPr>
          <p:spPr>
            <a:xfrm>
              <a:off x="7800975" y="3143250"/>
              <a:ext cx="1333500" cy="914400"/>
            </a:xfrm>
            <a:prstGeom prst="roundRect">
              <a:avLst>
                <a:gd name="adj" fmla="val 8333"/>
              </a:avLst>
            </a:prstGeom>
            <a:solidFill>
              <a:srgbClr val="FFFFFF"/>
            </a:solidFill>
            <a:ln w="19050">
              <a:solidFill>
                <a:srgbClr val="146EB4"/>
              </a:solidFill>
            </a:ln>
          </p:spPr>
        </p:sp>
        <p:sp>
          <p:nvSpPr>
            <p:cNvPr id="17" name="Rectangle 17"/>
            <p:cNvSpPr/>
            <p:nvPr/>
          </p:nvSpPr>
          <p:spPr>
            <a:xfrm>
              <a:off x="9525000" y="3143250"/>
              <a:ext cx="1333500" cy="914400"/>
            </a:xfrm>
            <a:prstGeom prst="roundRect">
              <a:avLst>
                <a:gd name="adj" fmla="val 8333"/>
              </a:avLst>
            </a:prstGeom>
            <a:solidFill>
              <a:srgbClr val="FFFFFF"/>
            </a:solidFill>
            <a:ln w="19050">
              <a:solidFill>
                <a:srgbClr val="0F766E"/>
              </a:solidFill>
            </a:ln>
          </p:spPr>
        </p:sp>
        <p:sp>
          <p:nvSpPr>
            <p:cNvPr id="18" name="TextBox 18"/>
            <p:cNvSpPr txBox="1"/>
            <p:nvPr/>
          </p:nvSpPr>
          <p:spPr>
            <a:xfrm>
              <a:off x="1203008" y="3386614"/>
              <a:ext cx="523321" cy="259080"/>
            </a:xfrm>
            <a:prstGeom prst="rect">
              <a:avLst/>
            </a:prstGeom>
            <a:noFill/>
            <a:ln>
              <a:noFill/>
            </a:ln>
          </p:spPr>
          <p:txBody>
            <a:bodyPr wrap="none" lIns="0" tIns="0" rIns="0" bIns="0" anchor="t" anchorCtr="0">
              <a:spAutoFit/>
            </a:bodyPr>
            <a:lstStyle/>
            <a:p>
              <a:pPr algn="l"/>
              <a:r>
                <a:rPr lang="zh-CN" sz="1275" b="1" dirty="0">
                  <a:solidFill>
                    <a:srgbClr val="111827"/>
                  </a:solidFill>
                  <a:latin typeface="Arial"/>
                  <a:ea typeface="Microsoft YaHei"/>
                  <a:cs typeface="Arial"/>
                </a:rPr>
                <a:t>Probe</a:t>
              </a:r>
            </a:p>
          </p:txBody>
        </p:sp>
        <p:sp>
          <p:nvSpPr>
            <p:cNvPr id="19" name="TextBox 19"/>
            <p:cNvSpPr txBox="1"/>
            <p:nvPr/>
          </p:nvSpPr>
          <p:spPr>
            <a:xfrm>
              <a:off x="1139190" y="3658552"/>
              <a:ext cx="789765" cy="213360"/>
            </a:xfrm>
            <a:prstGeom prst="rect">
              <a:avLst/>
            </a:prstGeom>
            <a:noFill/>
            <a:ln>
              <a:noFill/>
            </a:ln>
          </p:spPr>
          <p:txBody>
            <a:bodyPr wrap="none" lIns="0" tIns="0" rIns="0" bIns="0" anchor="t" anchorCtr="0">
              <a:spAutoFit/>
            </a:bodyPr>
            <a:lstStyle/>
            <a:p>
              <a:pPr algn="l"/>
              <a:r>
                <a:rPr lang="zh-CN" sz="1050" dirty="0">
                  <a:solidFill>
                    <a:srgbClr val="475569"/>
                  </a:solidFill>
                  <a:latin typeface="Arial"/>
                  <a:ea typeface="Microsoft YaHei"/>
                  <a:cs typeface="Arial"/>
                </a:rPr>
                <a:t>histograms</a:t>
              </a:r>
            </a:p>
          </p:txBody>
        </p:sp>
        <p:sp>
          <p:nvSpPr>
            <p:cNvPr id="20" name="TextBox 20"/>
            <p:cNvSpPr txBox="1"/>
            <p:nvPr/>
          </p:nvSpPr>
          <p:spPr>
            <a:xfrm>
              <a:off x="2869882" y="3386614"/>
              <a:ext cx="817883" cy="259080"/>
            </a:xfrm>
            <a:prstGeom prst="rect">
              <a:avLst/>
            </a:prstGeom>
            <a:noFill/>
            <a:ln>
              <a:noFill/>
            </a:ln>
          </p:spPr>
          <p:txBody>
            <a:bodyPr wrap="none" lIns="0" tIns="0" rIns="0" bIns="0" anchor="t" anchorCtr="0">
              <a:spAutoFit/>
            </a:bodyPr>
            <a:lstStyle/>
            <a:p>
              <a:pPr algn="l"/>
              <a:r>
                <a:rPr lang="zh-CN" sz="1275" b="1" dirty="0">
                  <a:solidFill>
                    <a:srgbClr val="111827"/>
                  </a:solidFill>
                  <a:latin typeface="Arial"/>
                  <a:ea typeface="Microsoft YaHei"/>
                  <a:cs typeface="Arial"/>
                </a:rPr>
                <a:t>Strategy</a:t>
              </a:r>
            </a:p>
          </p:txBody>
        </p:sp>
        <p:sp>
          <p:nvSpPr>
            <p:cNvPr id="21" name="TextBox 21"/>
            <p:cNvSpPr txBox="1"/>
            <p:nvPr/>
          </p:nvSpPr>
          <p:spPr>
            <a:xfrm>
              <a:off x="2882265" y="3658552"/>
              <a:ext cx="768763" cy="213360"/>
            </a:xfrm>
            <a:prstGeom prst="rect">
              <a:avLst/>
            </a:prstGeom>
            <a:noFill/>
            <a:ln>
              <a:noFill/>
            </a:ln>
          </p:spPr>
          <p:txBody>
            <a:bodyPr wrap="none" lIns="0" tIns="0" rIns="0" bIns="0" anchor="t" anchorCtr="0">
              <a:spAutoFit/>
            </a:bodyPr>
            <a:lstStyle/>
            <a:p>
              <a:pPr algn="l"/>
              <a:r>
                <a:rPr lang="zh-CN" sz="1050" dirty="0">
                  <a:solidFill>
                    <a:srgbClr val="475569"/>
                  </a:solidFill>
                  <a:latin typeface="Arial"/>
                  <a:ea typeface="Microsoft YaHei"/>
                  <a:cs typeface="Arial"/>
                </a:rPr>
                <a:t>rules first</a:t>
              </a:r>
            </a:p>
          </p:txBody>
        </p:sp>
        <p:sp>
          <p:nvSpPr>
            <p:cNvPr id="22" name="TextBox 22"/>
            <p:cNvSpPr txBox="1"/>
            <p:nvPr/>
          </p:nvSpPr>
          <p:spPr>
            <a:xfrm>
              <a:off x="4651058" y="3386614"/>
              <a:ext cx="719696" cy="259080"/>
            </a:xfrm>
            <a:prstGeom prst="rect">
              <a:avLst/>
            </a:prstGeom>
            <a:noFill/>
            <a:ln>
              <a:noFill/>
            </a:ln>
          </p:spPr>
          <p:txBody>
            <a:bodyPr wrap="none" lIns="0" tIns="0" rIns="0" bIns="0" anchor="t" anchorCtr="0">
              <a:spAutoFit/>
            </a:bodyPr>
            <a:lstStyle/>
            <a:p>
              <a:pPr algn="l"/>
              <a:r>
                <a:rPr lang="zh-CN" sz="1275" b="1" dirty="0">
                  <a:solidFill>
                    <a:srgbClr val="111827"/>
                  </a:solidFill>
                  <a:latin typeface="Arial"/>
                  <a:ea typeface="Microsoft YaHei"/>
                  <a:cs typeface="Arial"/>
                </a:rPr>
                <a:t>Execute</a:t>
              </a:r>
            </a:p>
          </p:txBody>
        </p:sp>
        <p:sp>
          <p:nvSpPr>
            <p:cNvPr id="23" name="TextBox 23"/>
            <p:cNvSpPr txBox="1"/>
            <p:nvPr/>
          </p:nvSpPr>
          <p:spPr>
            <a:xfrm>
              <a:off x="4634865" y="3658552"/>
              <a:ext cx="488728" cy="213360"/>
            </a:xfrm>
            <a:prstGeom prst="rect">
              <a:avLst/>
            </a:prstGeom>
            <a:noFill/>
            <a:ln>
              <a:noFill/>
            </a:ln>
          </p:spPr>
          <p:txBody>
            <a:bodyPr wrap="none" lIns="0" tIns="0" rIns="0" bIns="0" anchor="t" anchorCtr="0">
              <a:spAutoFit/>
            </a:bodyPr>
            <a:lstStyle/>
            <a:p>
              <a:pPr algn="l"/>
              <a:r>
                <a:rPr lang="zh-CN" sz="1050" dirty="0">
                  <a:solidFill>
                    <a:srgbClr val="475569"/>
                  </a:solidFill>
                  <a:latin typeface="Arial"/>
                  <a:ea typeface="Microsoft YaHei"/>
                  <a:cs typeface="Arial"/>
                </a:rPr>
                <a:t>Braket</a:t>
              </a:r>
            </a:p>
          </p:txBody>
        </p:sp>
        <p:sp>
          <p:nvSpPr>
            <p:cNvPr id="24" name="TextBox 24"/>
            <p:cNvSpPr txBox="1"/>
            <p:nvPr/>
          </p:nvSpPr>
          <p:spPr>
            <a:xfrm>
              <a:off x="6327458" y="3386614"/>
              <a:ext cx="532247" cy="259080"/>
            </a:xfrm>
            <a:prstGeom prst="rect">
              <a:avLst/>
            </a:prstGeom>
            <a:noFill/>
            <a:ln>
              <a:noFill/>
            </a:ln>
          </p:spPr>
          <p:txBody>
            <a:bodyPr wrap="none" lIns="0" tIns="0" rIns="0" bIns="0" anchor="t" anchorCtr="0">
              <a:spAutoFit/>
            </a:bodyPr>
            <a:lstStyle/>
            <a:p>
              <a:pPr algn="l"/>
              <a:r>
                <a:rPr lang="zh-CN" sz="1275" b="1" dirty="0">
                  <a:solidFill>
                    <a:srgbClr val="111827"/>
                  </a:solidFill>
                  <a:latin typeface="Arial"/>
                  <a:ea typeface="Microsoft YaHei"/>
                  <a:cs typeface="Arial"/>
                </a:rPr>
                <a:t>Policy</a:t>
              </a:r>
            </a:p>
          </p:txBody>
        </p:sp>
        <p:sp>
          <p:nvSpPr>
            <p:cNvPr id="25" name="TextBox 25"/>
            <p:cNvSpPr txBox="1"/>
            <p:nvPr/>
          </p:nvSpPr>
          <p:spPr>
            <a:xfrm>
              <a:off x="6292215" y="3658552"/>
              <a:ext cx="684752" cy="213360"/>
            </a:xfrm>
            <a:prstGeom prst="rect">
              <a:avLst/>
            </a:prstGeom>
            <a:noFill/>
            <a:ln>
              <a:noFill/>
            </a:ln>
          </p:spPr>
          <p:txBody>
            <a:bodyPr wrap="none" lIns="0" tIns="0" rIns="0" bIns="0" anchor="t" anchorCtr="0">
              <a:spAutoFit/>
            </a:bodyPr>
            <a:lstStyle/>
            <a:p>
              <a:pPr algn="l"/>
              <a:r>
                <a:rPr lang="zh-CN" sz="1050" dirty="0">
                  <a:solidFill>
                    <a:srgbClr val="475569"/>
                  </a:solidFill>
                  <a:latin typeface="Arial"/>
                  <a:ea typeface="Microsoft YaHei"/>
                  <a:cs typeface="Arial"/>
                </a:rPr>
                <a:t>hard gate</a:t>
              </a:r>
            </a:p>
          </p:txBody>
        </p:sp>
        <p:sp>
          <p:nvSpPr>
            <p:cNvPr id="26" name="TextBox 26"/>
            <p:cNvSpPr txBox="1"/>
            <p:nvPr/>
          </p:nvSpPr>
          <p:spPr>
            <a:xfrm>
              <a:off x="8061008" y="3386614"/>
              <a:ext cx="728622" cy="259080"/>
            </a:xfrm>
            <a:prstGeom prst="rect">
              <a:avLst/>
            </a:prstGeom>
            <a:noFill/>
            <a:ln>
              <a:noFill/>
            </a:ln>
          </p:spPr>
          <p:txBody>
            <a:bodyPr wrap="none" lIns="0" tIns="0" rIns="0" bIns="0" anchor="t" anchorCtr="0">
              <a:spAutoFit/>
            </a:bodyPr>
            <a:lstStyle/>
            <a:p>
              <a:pPr algn="l"/>
              <a:r>
                <a:rPr lang="zh-CN" sz="1275" b="1" dirty="0">
                  <a:solidFill>
                    <a:srgbClr val="111827"/>
                  </a:solidFill>
                  <a:latin typeface="Arial"/>
                  <a:ea typeface="Microsoft YaHei"/>
                  <a:cs typeface="Arial"/>
                </a:rPr>
                <a:t>Validate</a:t>
              </a:r>
            </a:p>
          </p:txBody>
        </p:sp>
        <p:sp>
          <p:nvSpPr>
            <p:cNvPr id="27" name="TextBox 27"/>
            <p:cNvSpPr txBox="1"/>
            <p:nvPr/>
          </p:nvSpPr>
          <p:spPr>
            <a:xfrm>
              <a:off x="8044815" y="3658552"/>
              <a:ext cx="908780" cy="213360"/>
            </a:xfrm>
            <a:prstGeom prst="rect">
              <a:avLst/>
            </a:prstGeom>
            <a:noFill/>
            <a:ln>
              <a:noFill/>
            </a:ln>
          </p:spPr>
          <p:txBody>
            <a:bodyPr wrap="none" lIns="0" tIns="0" rIns="0" bIns="0" anchor="t" anchorCtr="0">
              <a:spAutoFit/>
            </a:bodyPr>
            <a:lstStyle/>
            <a:p>
              <a:pPr algn="l"/>
              <a:r>
                <a:rPr lang="zh-CN" sz="1050" dirty="0">
                  <a:solidFill>
                    <a:srgbClr val="475569"/>
                  </a:solidFill>
                  <a:latin typeface="Arial"/>
                  <a:ea typeface="Microsoft YaHei"/>
                  <a:cs typeface="Arial"/>
                </a:rPr>
                <a:t>STOP / retry</a:t>
              </a:r>
            </a:p>
          </p:txBody>
        </p:sp>
        <p:sp>
          <p:nvSpPr>
            <p:cNvPr id="28" name="TextBox 28"/>
            <p:cNvSpPr txBox="1"/>
            <p:nvPr/>
          </p:nvSpPr>
          <p:spPr>
            <a:xfrm>
              <a:off x="9861232" y="3386614"/>
              <a:ext cx="621509" cy="259080"/>
            </a:xfrm>
            <a:prstGeom prst="rect">
              <a:avLst/>
            </a:prstGeom>
            <a:noFill/>
            <a:ln>
              <a:noFill/>
            </a:ln>
          </p:spPr>
          <p:txBody>
            <a:bodyPr wrap="none" lIns="0" tIns="0" rIns="0" bIns="0" anchor="t" anchorCtr="0">
              <a:spAutoFit/>
            </a:bodyPr>
            <a:lstStyle/>
            <a:p>
              <a:pPr algn="l"/>
              <a:r>
                <a:rPr lang="zh-CN" sz="1275" b="1" dirty="0">
                  <a:solidFill>
                    <a:srgbClr val="111827"/>
                  </a:solidFill>
                  <a:latin typeface="Arial"/>
                  <a:ea typeface="Microsoft YaHei"/>
                  <a:cs typeface="Arial"/>
                </a:rPr>
                <a:t>Report</a:t>
              </a:r>
            </a:p>
          </p:txBody>
        </p:sp>
        <p:sp>
          <p:nvSpPr>
            <p:cNvPr id="29" name="TextBox 29"/>
            <p:cNvSpPr txBox="1"/>
            <p:nvPr/>
          </p:nvSpPr>
          <p:spPr>
            <a:xfrm>
              <a:off x="9864090" y="3658552"/>
              <a:ext cx="733758" cy="213360"/>
            </a:xfrm>
            <a:prstGeom prst="rect">
              <a:avLst/>
            </a:prstGeom>
            <a:noFill/>
            <a:ln>
              <a:noFill/>
            </a:ln>
          </p:spPr>
          <p:txBody>
            <a:bodyPr wrap="none" lIns="0" tIns="0" rIns="0" bIns="0" anchor="t" anchorCtr="0">
              <a:spAutoFit/>
            </a:bodyPr>
            <a:lstStyle/>
            <a:p>
              <a:pPr algn="l"/>
              <a:r>
                <a:rPr lang="zh-CN" sz="1050" dirty="0">
                  <a:solidFill>
                    <a:srgbClr val="475569"/>
                  </a:solidFill>
                  <a:latin typeface="Arial"/>
                  <a:ea typeface="Microsoft YaHei"/>
                  <a:cs typeface="Arial"/>
                </a:rPr>
                <a:t>audit trail</a:t>
              </a:r>
            </a:p>
          </p:txBody>
        </p:sp>
      </p:grpSp>
      <p:grpSp>
        <p:nvGrpSpPr>
          <p:cNvPr id="38" name="Group 38"/>
          <p:cNvGrpSpPr/>
          <p:nvPr/>
        </p:nvGrpSpPr>
        <p:grpSpPr>
          <a:xfrm>
            <a:off x="1581150" y="1943100"/>
            <a:ext cx="6858000" cy="1238250"/>
            <a:chOff x="1581150" y="1943100"/>
            <a:chExt cx="6858000" cy="1238250"/>
          </a:xfrm>
        </p:grpSpPr>
        <p:sp>
          <p:nvSpPr>
            <p:cNvPr id="31" name="Rectangle 31"/>
            <p:cNvSpPr/>
            <p:nvPr/>
          </p:nvSpPr>
          <p:spPr>
            <a:xfrm>
              <a:off x="3371850" y="1943100"/>
              <a:ext cx="4762500" cy="723900"/>
            </a:xfrm>
            <a:prstGeom prst="roundRect">
              <a:avLst>
                <a:gd name="adj" fmla="val 10526"/>
              </a:avLst>
            </a:prstGeom>
            <a:solidFill>
              <a:srgbClr val="FFF4E0"/>
            </a:solidFill>
            <a:ln w="19050">
              <a:solidFill>
                <a:srgbClr val="FF9900"/>
              </a:solidFill>
            </a:ln>
          </p:spPr>
        </p:sp>
        <p:sp>
          <p:nvSpPr>
            <p:cNvPr id="32" name="TextBox 32"/>
            <p:cNvSpPr txBox="1"/>
            <p:nvPr/>
          </p:nvSpPr>
          <p:spPr>
            <a:xfrm>
              <a:off x="3640455" y="2111692"/>
              <a:ext cx="3512325" cy="274320"/>
            </a:xfrm>
            <a:prstGeom prst="rect">
              <a:avLst/>
            </a:prstGeom>
            <a:noFill/>
            <a:ln>
              <a:noFill/>
            </a:ln>
          </p:spPr>
          <p:txBody>
            <a:bodyPr wrap="none" lIns="0" tIns="0" rIns="0" bIns="0" anchor="t" anchorCtr="0">
              <a:spAutoFit/>
            </a:bodyPr>
            <a:lstStyle/>
            <a:p>
              <a:pPr algn="l"/>
              <a:r>
                <a:rPr lang="zh-CN" sz="1350" b="1" dirty="0">
                  <a:solidFill>
                    <a:srgbClr val="111827"/>
                  </a:solidFill>
                  <a:latin typeface="Arial"/>
                  <a:ea typeface="Microsoft YaHei"/>
                  <a:cs typeface="Arial"/>
                </a:rPr>
                <a:t>VLM sidecar returns structured JSON</a:t>
              </a:r>
            </a:p>
          </p:txBody>
        </p:sp>
        <p:sp>
          <p:nvSpPr>
            <p:cNvPr id="33" name="TextBox 33"/>
            <p:cNvSpPr txBox="1"/>
            <p:nvPr/>
          </p:nvSpPr>
          <p:spPr>
            <a:xfrm>
              <a:off x="3644265" y="2391728"/>
              <a:ext cx="4521232" cy="213360"/>
            </a:xfrm>
            <a:prstGeom prst="rect">
              <a:avLst/>
            </a:prstGeom>
            <a:noFill/>
            <a:ln>
              <a:noFill/>
            </a:ln>
          </p:spPr>
          <p:txBody>
            <a:bodyPr wrap="none" lIns="0" tIns="0" rIns="0" bIns="0" anchor="t" anchorCtr="0">
              <a:spAutoFit/>
            </a:bodyPr>
            <a:lstStyle/>
            <a:p>
              <a:pPr algn="l"/>
              <a:r>
                <a:rPr lang="zh-CN" sz="1050" dirty="0">
                  <a:solidFill>
                    <a:srgbClr val="475569"/>
                  </a:solidFill>
                  <a:latin typeface="Arial"/>
                  <a:ea typeface="Microsoft YaHei"/>
                  <a:cs typeface="Arial"/>
                </a:rPr>
                <a:t>plot judgment only: probe histograms and ZNE extrapolation shape</a:t>
              </a:r>
            </a:p>
          </p:txBody>
        </p:sp>
        <p:sp>
          <p:nvSpPr>
            <p:cNvPr id="34" name="Line 34"/>
            <p:cNvSpPr/>
            <p:nvPr/>
          </p:nvSpPr>
          <p:spPr>
            <a:xfrm>
              <a:off x="1581150" y="2667000"/>
              <a:ext cx="2781300" cy="457200"/>
            </a:xfrm>
            <a:custGeom>
              <a:avLst/>
              <a:gdLst/>
              <a:ahLst/>
              <a:cxnLst/>
              <a:rect l="l" t="t" r="r" b="b"/>
              <a:pathLst>
                <a:path w="2781300" h="457200">
                  <a:moveTo>
                    <a:pt x="2781300" y="0"/>
                  </a:moveTo>
                  <a:lnTo>
                    <a:pt x="0" y="457200"/>
                  </a:lnTo>
                </a:path>
              </a:pathLst>
            </a:custGeom>
            <a:noFill/>
            <a:ln w="19050">
              <a:solidFill>
                <a:srgbClr val="FF9900"/>
              </a:solidFill>
            </a:ln>
          </p:spPr>
        </p:sp>
        <p:sp>
          <p:nvSpPr>
            <p:cNvPr id="35" name="Polygon 35"/>
            <p:cNvSpPr/>
            <p:nvPr/>
          </p:nvSpPr>
          <p:spPr>
            <a:xfrm>
              <a:off x="1581150" y="3028950"/>
              <a:ext cx="171450" cy="152400"/>
            </a:xfrm>
            <a:custGeom>
              <a:avLst/>
              <a:gdLst/>
              <a:ahLst/>
              <a:cxnLst/>
              <a:rect l="l" t="t" r="r" b="b"/>
              <a:pathLst>
                <a:path w="171450" h="152400">
                  <a:moveTo>
                    <a:pt x="0" y="95250"/>
                  </a:moveTo>
                  <a:lnTo>
                    <a:pt x="142875" y="0"/>
                  </a:lnTo>
                  <a:lnTo>
                    <a:pt x="171450" y="152400"/>
                  </a:lnTo>
                  <a:close/>
                </a:path>
              </a:pathLst>
            </a:custGeom>
            <a:solidFill>
              <a:srgbClr val="FF9900"/>
            </a:solidFill>
            <a:ln>
              <a:noFill/>
            </a:ln>
          </p:spPr>
        </p:sp>
        <p:sp>
          <p:nvSpPr>
            <p:cNvPr id="36" name="Line 36"/>
            <p:cNvSpPr/>
            <p:nvPr/>
          </p:nvSpPr>
          <p:spPr>
            <a:xfrm>
              <a:off x="7143750" y="2667000"/>
              <a:ext cx="1295400" cy="457200"/>
            </a:xfrm>
            <a:custGeom>
              <a:avLst/>
              <a:gdLst/>
              <a:ahLst/>
              <a:cxnLst/>
              <a:rect l="l" t="t" r="r" b="b"/>
              <a:pathLst>
                <a:path w="1295400" h="457200">
                  <a:moveTo>
                    <a:pt x="0" y="0"/>
                  </a:moveTo>
                  <a:lnTo>
                    <a:pt x="1295400" y="457200"/>
                  </a:lnTo>
                </a:path>
              </a:pathLst>
            </a:custGeom>
            <a:noFill/>
            <a:ln w="19050">
              <a:solidFill>
                <a:srgbClr val="FF9900"/>
              </a:solidFill>
            </a:ln>
          </p:spPr>
        </p:sp>
        <p:sp>
          <p:nvSpPr>
            <p:cNvPr id="37" name="Polygon 37"/>
            <p:cNvSpPr/>
            <p:nvPr/>
          </p:nvSpPr>
          <p:spPr>
            <a:xfrm>
              <a:off x="8286750" y="3000375"/>
              <a:ext cx="152400" cy="133350"/>
            </a:xfrm>
            <a:custGeom>
              <a:avLst/>
              <a:gdLst/>
              <a:ahLst/>
              <a:cxnLst/>
              <a:rect l="l" t="t" r="r" b="b"/>
              <a:pathLst>
                <a:path w="152400" h="133350">
                  <a:moveTo>
                    <a:pt x="152400" y="123825"/>
                  </a:moveTo>
                  <a:lnTo>
                    <a:pt x="0" y="133350"/>
                  </a:lnTo>
                  <a:lnTo>
                    <a:pt x="57150" y="0"/>
                  </a:lnTo>
                  <a:close/>
                </a:path>
              </a:pathLst>
            </a:custGeom>
            <a:solidFill>
              <a:srgbClr val="FF9900"/>
            </a:solidFill>
            <a:ln>
              <a:noFill/>
            </a:ln>
          </p:spPr>
        </p:sp>
      </p:grpSp>
      <p:grpSp>
        <p:nvGrpSpPr>
          <p:cNvPr id="48" name="Group 48"/>
          <p:cNvGrpSpPr/>
          <p:nvPr/>
        </p:nvGrpSpPr>
        <p:grpSpPr>
          <a:xfrm>
            <a:off x="1295400" y="4953000"/>
            <a:ext cx="9769221" cy="781050"/>
            <a:chOff x="1295400" y="4953000"/>
            <a:chExt cx="9769221" cy="781050"/>
          </a:xfrm>
        </p:grpSpPr>
        <p:sp>
          <p:nvSpPr>
            <p:cNvPr id="39" name="Rectangle 39"/>
            <p:cNvSpPr/>
            <p:nvPr/>
          </p:nvSpPr>
          <p:spPr>
            <a:xfrm>
              <a:off x="1295400" y="4953000"/>
              <a:ext cx="2781300" cy="781050"/>
            </a:xfrm>
            <a:prstGeom prst="roundRect">
              <a:avLst>
                <a:gd name="adj" fmla="val 9756"/>
              </a:avLst>
            </a:prstGeom>
            <a:solidFill>
              <a:srgbClr val="F6F8FB"/>
            </a:solidFill>
            <a:ln w="19050">
              <a:solidFill>
                <a:srgbClr val="D9E2EC"/>
              </a:solidFill>
            </a:ln>
          </p:spPr>
        </p:sp>
        <p:sp>
          <p:nvSpPr>
            <p:cNvPr id="40" name="TextBox 40"/>
            <p:cNvSpPr txBox="1"/>
            <p:nvPr/>
          </p:nvSpPr>
          <p:spPr>
            <a:xfrm>
              <a:off x="1527810" y="5147310"/>
              <a:ext cx="677361" cy="243840"/>
            </a:xfrm>
            <a:prstGeom prst="rect">
              <a:avLst/>
            </a:prstGeom>
            <a:noFill/>
            <a:ln>
              <a:noFill/>
            </a:ln>
          </p:spPr>
          <p:txBody>
            <a:bodyPr wrap="none" lIns="0" tIns="0" rIns="0" bIns="0" anchor="t" anchorCtr="0">
              <a:spAutoFit/>
            </a:bodyPr>
            <a:lstStyle/>
            <a:p>
              <a:pPr algn="l"/>
              <a:r>
                <a:rPr lang="zh-CN" sz="1200" b="1" dirty="0">
                  <a:solidFill>
                    <a:srgbClr val="146EB4"/>
                  </a:solidFill>
                  <a:latin typeface="Arial"/>
                  <a:ea typeface="Microsoft YaHei"/>
                  <a:cs typeface="Arial"/>
                </a:rPr>
                <a:t>Bounded</a:t>
              </a:r>
            </a:p>
          </p:txBody>
        </p:sp>
        <p:sp>
          <p:nvSpPr>
            <p:cNvPr id="41" name="TextBox 41"/>
            <p:cNvSpPr txBox="1"/>
            <p:nvPr/>
          </p:nvSpPr>
          <p:spPr>
            <a:xfrm>
              <a:off x="1529715" y="5411152"/>
              <a:ext cx="2673001" cy="213360"/>
            </a:xfrm>
            <a:prstGeom prst="rect">
              <a:avLst/>
            </a:prstGeom>
            <a:noFill/>
            <a:ln>
              <a:noFill/>
            </a:ln>
          </p:spPr>
          <p:txBody>
            <a:bodyPr wrap="none" lIns="0" tIns="0" rIns="0" bIns="0" anchor="t" anchorCtr="0">
              <a:spAutoFit/>
            </a:bodyPr>
            <a:lstStyle/>
            <a:p>
              <a:pPr algn="l"/>
              <a:r>
                <a:rPr lang="zh-CN" sz="1050" dirty="0">
                  <a:solidFill>
                    <a:srgbClr val="475569"/>
                  </a:solidFill>
                  <a:latin typeface="Arial"/>
                  <a:ea typeface="Microsoft YaHei"/>
                  <a:cs typeface="Arial"/>
                </a:rPr>
                <a:t>fixed nodes, fixed actions, retry caps</a:t>
              </a:r>
            </a:p>
          </p:txBody>
        </p:sp>
        <p:sp>
          <p:nvSpPr>
            <p:cNvPr id="42" name="Rectangle 42"/>
            <p:cNvSpPr/>
            <p:nvPr/>
          </p:nvSpPr>
          <p:spPr>
            <a:xfrm>
              <a:off x="4705350" y="4953000"/>
              <a:ext cx="2781300" cy="781050"/>
            </a:xfrm>
            <a:prstGeom prst="roundRect">
              <a:avLst>
                <a:gd name="adj" fmla="val 9756"/>
              </a:avLst>
            </a:prstGeom>
            <a:solidFill>
              <a:srgbClr val="F6F8FB"/>
            </a:solidFill>
            <a:ln w="19050">
              <a:solidFill>
                <a:srgbClr val="D9E2EC"/>
              </a:solidFill>
            </a:ln>
          </p:spPr>
        </p:sp>
        <p:sp>
          <p:nvSpPr>
            <p:cNvPr id="43" name="TextBox 43"/>
            <p:cNvSpPr txBox="1"/>
            <p:nvPr/>
          </p:nvSpPr>
          <p:spPr>
            <a:xfrm>
              <a:off x="4937760" y="5147310"/>
              <a:ext cx="1055408" cy="243840"/>
            </a:xfrm>
            <a:prstGeom prst="rect">
              <a:avLst/>
            </a:prstGeom>
            <a:noFill/>
            <a:ln>
              <a:noFill/>
            </a:ln>
          </p:spPr>
          <p:txBody>
            <a:bodyPr wrap="none" lIns="0" tIns="0" rIns="0" bIns="0" anchor="t" anchorCtr="0">
              <a:spAutoFit/>
            </a:bodyPr>
            <a:lstStyle/>
            <a:p>
              <a:pPr algn="l"/>
              <a:r>
                <a:rPr lang="zh-CN" sz="1200" b="1" dirty="0">
                  <a:solidFill>
                    <a:srgbClr val="146EB4"/>
                  </a:solidFill>
                  <a:latin typeface="Arial"/>
                  <a:ea typeface="Microsoft YaHei"/>
                  <a:cs typeface="Arial"/>
                </a:rPr>
                <a:t>Reproducible</a:t>
              </a:r>
            </a:p>
          </p:txBody>
        </p:sp>
        <p:sp>
          <p:nvSpPr>
            <p:cNvPr id="44" name="TextBox 44"/>
            <p:cNvSpPr txBox="1"/>
            <p:nvPr/>
          </p:nvSpPr>
          <p:spPr>
            <a:xfrm>
              <a:off x="4939665" y="5411152"/>
              <a:ext cx="2736009" cy="213360"/>
            </a:xfrm>
            <a:prstGeom prst="rect">
              <a:avLst/>
            </a:prstGeom>
            <a:noFill/>
            <a:ln>
              <a:noFill/>
            </a:ln>
          </p:spPr>
          <p:txBody>
            <a:bodyPr wrap="none" lIns="0" tIns="0" rIns="0" bIns="0" anchor="t" anchorCtr="0">
              <a:spAutoFit/>
            </a:bodyPr>
            <a:lstStyle/>
            <a:p>
              <a:pPr algn="l"/>
              <a:r>
                <a:rPr lang="zh-CN" sz="1050" dirty="0">
                  <a:solidFill>
                    <a:srgbClr val="475569"/>
                  </a:solidFill>
                  <a:latin typeface="Arial"/>
                  <a:ea typeface="Microsoft YaHei"/>
                  <a:cs typeface="Arial"/>
                </a:rPr>
                <a:t>rules fallback and deterministic schema</a:t>
              </a:r>
            </a:p>
          </p:txBody>
        </p:sp>
        <p:sp>
          <p:nvSpPr>
            <p:cNvPr id="45" name="Rectangle 45"/>
            <p:cNvSpPr/>
            <p:nvPr/>
          </p:nvSpPr>
          <p:spPr>
            <a:xfrm>
              <a:off x="8115300" y="4953000"/>
              <a:ext cx="2781300" cy="781050"/>
            </a:xfrm>
            <a:prstGeom prst="roundRect">
              <a:avLst>
                <a:gd name="adj" fmla="val 9756"/>
              </a:avLst>
            </a:prstGeom>
            <a:solidFill>
              <a:srgbClr val="F6F8FB"/>
            </a:solidFill>
            <a:ln w="19050">
              <a:solidFill>
                <a:srgbClr val="D9E2EC"/>
              </a:solidFill>
            </a:ln>
          </p:spPr>
        </p:sp>
        <p:sp>
          <p:nvSpPr>
            <p:cNvPr id="46" name="TextBox 46"/>
            <p:cNvSpPr txBox="1"/>
            <p:nvPr/>
          </p:nvSpPr>
          <p:spPr>
            <a:xfrm>
              <a:off x="8347710" y="5147310"/>
              <a:ext cx="778173" cy="243840"/>
            </a:xfrm>
            <a:prstGeom prst="rect">
              <a:avLst/>
            </a:prstGeom>
            <a:noFill/>
            <a:ln>
              <a:noFill/>
            </a:ln>
          </p:spPr>
          <p:txBody>
            <a:bodyPr wrap="none" lIns="0" tIns="0" rIns="0" bIns="0" anchor="t" anchorCtr="0">
              <a:spAutoFit/>
            </a:bodyPr>
            <a:lstStyle/>
            <a:p>
              <a:pPr algn="l"/>
              <a:r>
                <a:rPr lang="zh-CN" sz="1200" b="1" dirty="0">
                  <a:solidFill>
                    <a:srgbClr val="146EB4"/>
                  </a:solidFill>
                  <a:latin typeface="Arial"/>
                  <a:ea typeface="Microsoft YaHei"/>
                  <a:cs typeface="Arial"/>
                </a:rPr>
                <a:t>Auditable</a:t>
              </a:r>
            </a:p>
          </p:txBody>
        </p:sp>
        <p:sp>
          <p:nvSpPr>
            <p:cNvPr id="47" name="TextBox 47"/>
            <p:cNvSpPr txBox="1"/>
            <p:nvPr/>
          </p:nvSpPr>
          <p:spPr>
            <a:xfrm>
              <a:off x="8349615" y="5411152"/>
              <a:ext cx="2715006" cy="213360"/>
            </a:xfrm>
            <a:prstGeom prst="rect">
              <a:avLst/>
            </a:prstGeom>
            <a:noFill/>
            <a:ln>
              <a:noFill/>
            </a:ln>
          </p:spPr>
          <p:txBody>
            <a:bodyPr wrap="none" lIns="0" tIns="0" rIns="0" bIns="0" anchor="t" anchorCtr="0">
              <a:spAutoFit/>
            </a:bodyPr>
            <a:lstStyle/>
            <a:p>
              <a:pPr algn="l"/>
              <a:r>
                <a:rPr lang="zh-CN" sz="1050" dirty="0">
                  <a:solidFill>
                    <a:srgbClr val="475569"/>
                  </a:solidFill>
                  <a:latin typeface="Arial"/>
                  <a:ea typeface="Microsoft YaHei"/>
                  <a:cs typeface="Arial"/>
                </a:rPr>
                <a:t>every side effect is checked and logged</a:t>
              </a:r>
            </a:p>
          </p:txBody>
        </p:sp>
      </p:grpSp>
      <p:sp>
        <p:nvSpPr>
          <p:cNvPr id="49" name="TextBox 49"/>
          <p:cNvSpPr txBox="1"/>
          <p:nvPr/>
        </p:nvSpPr>
        <p:spPr>
          <a:xfrm>
            <a:off x="522922" y="6483191"/>
            <a:ext cx="3475387" cy="167640"/>
          </a:xfrm>
          <a:prstGeom prst="rect">
            <a:avLst/>
          </a:prstGeom>
          <a:noFill/>
          <a:ln>
            <a:noFill/>
          </a:ln>
        </p:spPr>
        <p:txBody>
          <a:bodyPr wrap="none" lIns="0" tIns="0" rIns="0" bIns="0" anchor="t" anchorCtr="0">
            <a:spAutoFit/>
          </a:bodyPr>
          <a:lstStyle/>
          <a:p>
            <a:pPr algn="l"/>
            <a:r>
              <a:rPr lang="zh-CN" sz="825" dirty="0">
                <a:solidFill>
                  <a:srgbClr val="94A3B8"/>
                </a:solidFill>
                <a:latin typeface="Arial"/>
                <a:ea typeface="Microsoft YaHei"/>
                <a:cs typeface="Arial"/>
              </a:rPr>
              <a:t>Design principle: adaptive computation inside deterministic rails</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image">
                                      <p:cBhvr>
                                        <p:cTn id="11" dur="400"/>
                                        <p:tgtEl>
                                          <p:spTgt spid="30"/>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38"/>
                                        </p:tgtEl>
                                        <p:attrNameLst>
                                          <p:attrName>style.visibility</p:attrName>
                                        </p:attrNameLst>
                                      </p:cBhvr>
                                      <p:to>
                                        <p:strVal val="visible"/>
                                      </p:to>
                                    </p:set>
                                    <p:animEffect transition="in" filter="fade">
                                      <p:cBhvr>
                                        <p:cTn id="15" dur="400"/>
                                        <p:tgtEl>
                                          <p:spTgt spid="38"/>
                                        </p:tgtEl>
                                      </p:cBhvr>
                                    </p:animEffect>
                                  </p:childTnLst>
                                </p:cTn>
                              </p:par>
                            </p:childTnLst>
                          </p:cTn>
                        </p:par>
                        <p:par>
                          <p:cTn id="16" fill="hold">
                            <p:stCondLst>
                              <p:cond delay="2700"/>
                            </p:stCondLst>
                            <p:childTnLst>
                              <p:par>
                                <p:cTn id="17" presetID="22" presetClass="entr" presetSubtype="1" fill="hold" nodeType="afterEffect">
                                  <p:stCondLst>
                                    <p:cond delay="0"/>
                                  </p:stCondLst>
                                  <p:childTnLst>
                                    <p:set>
                                      <p:cBhvr>
                                        <p:cTn id="18" dur="1" fill="hold">
                                          <p:stCondLst>
                                            <p:cond delay="0"/>
                                          </p:stCondLst>
                                        </p:cTn>
                                        <p:tgtEl>
                                          <p:spTgt spid="48"/>
                                        </p:tgtEl>
                                        <p:attrNameLst>
                                          <p:attrName>style.visibility</p:attrName>
                                        </p:attrNameLst>
                                      </p:cBhvr>
                                      <p:to>
                                        <p:strVal val="visible"/>
                                      </p:to>
                                    </p:set>
                                    <p:animEffect transition="in" filter="wipe(left)">
                                      <p:cBhvr>
                                        <p:cTn id="19" dur="4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30" grpId="0"/>
      <p:bldP spid="38" grpId="0"/>
      <p:bldP spid="4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533400" y="419100"/>
              <a:ext cx="11125200" cy="9525"/>
            </a:xfrm>
            <a:prstGeom prst="rect">
              <a:avLst/>
            </a:prstGeom>
            <a:solidFill>
              <a:srgbClr val="D9E2EC"/>
            </a:solidFill>
            <a:ln>
              <a:noFill/>
            </a:ln>
          </p:spPr>
        </p:sp>
      </p:grpSp>
      <p:grpSp>
        <p:nvGrpSpPr>
          <p:cNvPr id="7" name="Group 7"/>
          <p:cNvGrpSpPr/>
          <p:nvPr/>
        </p:nvGrpSpPr>
        <p:grpSpPr>
          <a:xfrm>
            <a:off x="502920" y="560070"/>
            <a:ext cx="10783919" cy="487680"/>
            <a:chOff x="502920" y="560070"/>
            <a:chExt cx="10783919" cy="487680"/>
          </a:xfrm>
        </p:grpSpPr>
        <p:sp>
          <p:nvSpPr>
            <p:cNvPr id="5" name="TextBox 5"/>
            <p:cNvSpPr txBox="1"/>
            <p:nvPr/>
          </p:nvSpPr>
          <p:spPr>
            <a:xfrm>
              <a:off x="502920" y="560070"/>
              <a:ext cx="6462560" cy="487680"/>
            </a:xfrm>
            <a:prstGeom prst="rect">
              <a:avLst/>
            </a:prstGeom>
            <a:noFill/>
            <a:ln>
              <a:noFill/>
            </a:ln>
          </p:spPr>
          <p:txBody>
            <a:bodyPr wrap="none" lIns="0" tIns="0" rIns="0" bIns="0" anchor="t" anchorCtr="0">
              <a:spAutoFit/>
            </a:bodyPr>
            <a:lstStyle/>
            <a:p>
              <a:pPr algn="l"/>
              <a:r>
                <a:rPr lang="zh-CN" sz="2400" b="1" dirty="0">
                  <a:solidFill>
                    <a:srgbClr val="111827"/>
                  </a:solidFill>
                  <a:latin typeface="Arial"/>
                  <a:ea typeface="Microsoft YaHei"/>
                  <a:cs typeface="Arial"/>
                </a:rPr>
                <a:t>Local-first core, cloud-ready wrapper</a:t>
              </a:r>
            </a:p>
          </p:txBody>
        </p:sp>
        <p:sp>
          <p:nvSpPr>
            <p:cNvPr id="6" name="TextBox 6"/>
            <p:cNvSpPr txBox="1"/>
            <p:nvPr/>
          </p:nvSpPr>
          <p:spPr>
            <a:xfrm>
              <a:off x="10826115" y="667702"/>
              <a:ext cx="460724" cy="213360"/>
            </a:xfrm>
            <a:prstGeom prst="rect">
              <a:avLst/>
            </a:prstGeom>
            <a:noFill/>
            <a:ln>
              <a:noFill/>
            </a:ln>
          </p:spPr>
          <p:txBody>
            <a:bodyPr wrap="none" lIns="0" tIns="0" rIns="0" bIns="0" anchor="t" anchorCtr="0">
              <a:spAutoFit/>
            </a:bodyPr>
            <a:lstStyle/>
            <a:p>
              <a:pPr algn="l"/>
              <a:r>
                <a:rPr lang="zh-CN" sz="1050" dirty="0">
                  <a:solidFill>
                    <a:srgbClr val="94A3B8"/>
                  </a:solidFill>
                  <a:latin typeface="Arial"/>
                  <a:ea typeface="Microsoft YaHei"/>
                  <a:cs typeface="Arial"/>
                </a:rPr>
                <a:t>04 / 10</a:t>
              </a:r>
            </a:p>
          </p:txBody>
        </p:sp>
      </p:grpSp>
      <p:grpSp>
        <p:nvGrpSpPr>
          <p:cNvPr id="29" name="Group 29"/>
          <p:cNvGrpSpPr/>
          <p:nvPr/>
        </p:nvGrpSpPr>
        <p:grpSpPr>
          <a:xfrm>
            <a:off x="1352550" y="1181100"/>
            <a:ext cx="9486900" cy="4800600"/>
            <a:chOff x="1352550" y="1181100"/>
            <a:chExt cx="9486900" cy="4800600"/>
          </a:xfrm>
        </p:grpSpPr>
        <p:sp>
          <p:nvSpPr>
            <p:cNvPr id="8" name="Rectangle 8"/>
            <p:cNvSpPr/>
            <p:nvPr/>
          </p:nvSpPr>
          <p:spPr>
            <a:xfrm>
              <a:off x="1352550" y="1181100"/>
              <a:ext cx="9486900" cy="704850"/>
            </a:xfrm>
            <a:prstGeom prst="roundRect">
              <a:avLst>
                <a:gd name="adj" fmla="val 10811"/>
              </a:avLst>
            </a:prstGeom>
            <a:solidFill>
              <a:srgbClr val="FFF4E0"/>
            </a:solidFill>
            <a:ln w="19050">
              <a:solidFill>
                <a:srgbClr val="FF9900"/>
              </a:solidFill>
            </a:ln>
          </p:spPr>
        </p:sp>
        <p:sp>
          <p:nvSpPr>
            <p:cNvPr id="9" name="TextBox 9"/>
            <p:cNvSpPr txBox="1"/>
            <p:nvPr/>
          </p:nvSpPr>
          <p:spPr>
            <a:xfrm>
              <a:off x="1636395" y="1431608"/>
              <a:ext cx="3645960" cy="335280"/>
            </a:xfrm>
            <a:prstGeom prst="rect">
              <a:avLst/>
            </a:prstGeom>
            <a:noFill/>
            <a:ln>
              <a:noFill/>
            </a:ln>
          </p:spPr>
          <p:txBody>
            <a:bodyPr wrap="none" lIns="0" tIns="0" rIns="0" bIns="0" anchor="t" anchorCtr="0">
              <a:spAutoFit/>
            </a:bodyPr>
            <a:lstStyle/>
            <a:p>
              <a:pPr algn="l"/>
              <a:r>
                <a:rPr lang="zh-CN" sz="1650" b="1" dirty="0">
                  <a:solidFill>
                    <a:srgbClr val="111827"/>
                  </a:solidFill>
                  <a:latin typeface="Arial"/>
                  <a:ea typeface="Microsoft YaHei"/>
                  <a:cs typeface="Arial"/>
                </a:rPr>
                <a:t>CLI: aqem baseline | run | report</a:t>
              </a:r>
            </a:p>
          </p:txBody>
        </p:sp>
        <p:sp>
          <p:nvSpPr>
            <p:cNvPr id="10" name="TextBox 10"/>
            <p:cNvSpPr txBox="1"/>
            <p:nvPr/>
          </p:nvSpPr>
          <p:spPr>
            <a:xfrm>
              <a:off x="7429500" y="1447800"/>
              <a:ext cx="2757940" cy="304800"/>
            </a:xfrm>
            <a:prstGeom prst="rect">
              <a:avLst/>
            </a:prstGeom>
            <a:noFill/>
            <a:ln>
              <a:noFill/>
            </a:ln>
          </p:spPr>
          <p:txBody>
            <a:bodyPr wrap="none" lIns="0" tIns="0" rIns="0" bIns="0" anchor="t" anchorCtr="0">
              <a:spAutoFit/>
            </a:bodyPr>
            <a:lstStyle/>
            <a:p>
              <a:pPr algn="l"/>
              <a:r>
                <a:rPr lang="zh-CN" sz="1500" b="1" dirty="0">
                  <a:solidFill>
                    <a:srgbClr val="111827"/>
                  </a:solidFill>
                  <a:latin typeface="Arial"/>
                  <a:ea typeface="Microsoft YaHei"/>
                  <a:cs typeface="Arial"/>
                </a:rPr>
                <a:t>AgentCore Runtime handler</a:t>
              </a:r>
            </a:p>
          </p:txBody>
        </p:sp>
        <p:sp>
          <p:nvSpPr>
            <p:cNvPr id="11" name="Rectangle 11"/>
            <p:cNvSpPr/>
            <p:nvPr/>
          </p:nvSpPr>
          <p:spPr>
            <a:xfrm>
              <a:off x="1352550" y="2133600"/>
              <a:ext cx="9486900" cy="800100"/>
            </a:xfrm>
            <a:prstGeom prst="roundRect">
              <a:avLst>
                <a:gd name="adj" fmla="val 9524"/>
              </a:avLst>
            </a:prstGeom>
            <a:solidFill>
              <a:srgbClr val="E8F3FC"/>
            </a:solidFill>
            <a:ln w="19050">
              <a:solidFill>
                <a:srgbClr val="146EB4"/>
              </a:solidFill>
            </a:ln>
          </p:spPr>
        </p:sp>
        <p:sp>
          <p:nvSpPr>
            <p:cNvPr id="12" name="TextBox 12"/>
            <p:cNvSpPr txBox="1"/>
            <p:nvPr/>
          </p:nvSpPr>
          <p:spPr>
            <a:xfrm>
              <a:off x="1638300" y="2305050"/>
              <a:ext cx="2988969" cy="304800"/>
            </a:xfrm>
            <a:prstGeom prst="rect">
              <a:avLst/>
            </a:prstGeom>
            <a:noFill/>
            <a:ln>
              <a:noFill/>
            </a:ln>
          </p:spPr>
          <p:txBody>
            <a:bodyPr wrap="none" lIns="0" tIns="0" rIns="0" bIns="0" anchor="t" anchorCtr="0">
              <a:spAutoFit/>
            </a:bodyPr>
            <a:lstStyle/>
            <a:p>
              <a:pPr algn="l"/>
              <a:r>
                <a:rPr lang="zh-CN" sz="1500" b="1" dirty="0">
                  <a:solidFill>
                    <a:srgbClr val="146EB4"/>
                  </a:solidFill>
                  <a:latin typeface="Arial"/>
                  <a:ea typeface="Microsoft YaHei"/>
                  <a:cs typeface="Arial"/>
                </a:rPr>
                <a:t>DAG engine + eight QEM nodes</a:t>
              </a:r>
            </a:p>
          </p:txBody>
        </p:sp>
        <p:sp>
          <p:nvSpPr>
            <p:cNvPr id="13" name="TextBox 13"/>
            <p:cNvSpPr txBox="1"/>
            <p:nvPr/>
          </p:nvSpPr>
          <p:spPr>
            <a:xfrm>
              <a:off x="1643062" y="2612231"/>
              <a:ext cx="4416623"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topological ordering, cascading invalidation, adaptive retry</a:t>
              </a:r>
            </a:p>
          </p:txBody>
        </p:sp>
        <p:sp>
          <p:nvSpPr>
            <p:cNvPr id="14" name="Rectangle 14"/>
            <p:cNvSpPr/>
            <p:nvPr/>
          </p:nvSpPr>
          <p:spPr>
            <a:xfrm>
              <a:off x="1352550" y="3181350"/>
              <a:ext cx="4514850" cy="876300"/>
            </a:xfrm>
            <a:prstGeom prst="roundRect">
              <a:avLst>
                <a:gd name="adj" fmla="val 8696"/>
              </a:avLst>
            </a:prstGeom>
            <a:solidFill>
              <a:srgbClr val="F6F8FB"/>
            </a:solidFill>
            <a:ln w="19050">
              <a:solidFill>
                <a:srgbClr val="D9E2EC"/>
              </a:solidFill>
            </a:ln>
          </p:spPr>
        </p:sp>
        <p:sp>
          <p:nvSpPr>
            <p:cNvPr id="15" name="TextBox 15"/>
            <p:cNvSpPr txBox="1"/>
            <p:nvPr/>
          </p:nvSpPr>
          <p:spPr>
            <a:xfrm>
              <a:off x="1638300" y="3362325"/>
              <a:ext cx="1392769" cy="304800"/>
            </a:xfrm>
            <a:prstGeom prst="rect">
              <a:avLst/>
            </a:prstGeom>
            <a:noFill/>
            <a:ln>
              <a:noFill/>
            </a:ln>
          </p:spPr>
          <p:txBody>
            <a:bodyPr wrap="none" lIns="0" tIns="0" rIns="0" bIns="0" anchor="t" anchorCtr="0">
              <a:spAutoFit/>
            </a:bodyPr>
            <a:lstStyle/>
            <a:p>
              <a:pPr algn="l"/>
              <a:r>
                <a:rPr lang="zh-CN" sz="1500" b="1" dirty="0">
                  <a:solidFill>
                    <a:srgbClr val="111827"/>
                  </a:solidFill>
                  <a:latin typeface="Arial"/>
                  <a:ea typeface="Microsoft YaHei"/>
                  <a:cs typeface="Arial"/>
                </a:rPr>
                <a:t>Policy + audit</a:t>
              </a:r>
            </a:p>
          </p:txBody>
        </p:sp>
        <p:sp>
          <p:nvSpPr>
            <p:cNvPr id="16" name="TextBox 16"/>
            <p:cNvSpPr txBox="1"/>
            <p:nvPr/>
          </p:nvSpPr>
          <p:spPr>
            <a:xfrm>
              <a:off x="1643062" y="3669506"/>
              <a:ext cx="3899059"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allowed actions, budget gate, no recalibration guard</a:t>
              </a:r>
            </a:p>
          </p:txBody>
        </p:sp>
        <p:sp>
          <p:nvSpPr>
            <p:cNvPr id="17" name="Rectangle 17"/>
            <p:cNvSpPr/>
            <p:nvPr/>
          </p:nvSpPr>
          <p:spPr>
            <a:xfrm>
              <a:off x="6324600" y="3181350"/>
              <a:ext cx="4514850" cy="876300"/>
            </a:xfrm>
            <a:prstGeom prst="roundRect">
              <a:avLst>
                <a:gd name="adj" fmla="val 8696"/>
              </a:avLst>
            </a:prstGeom>
            <a:solidFill>
              <a:srgbClr val="F6F8FB"/>
            </a:solidFill>
            <a:ln w="19050">
              <a:solidFill>
                <a:srgbClr val="D9E2EC"/>
              </a:solidFill>
            </a:ln>
          </p:spPr>
        </p:sp>
        <p:sp>
          <p:nvSpPr>
            <p:cNvPr id="18" name="TextBox 18"/>
            <p:cNvSpPr txBox="1"/>
            <p:nvPr/>
          </p:nvSpPr>
          <p:spPr>
            <a:xfrm>
              <a:off x="6610350" y="3362325"/>
              <a:ext cx="1760315" cy="304800"/>
            </a:xfrm>
            <a:prstGeom prst="rect">
              <a:avLst/>
            </a:prstGeom>
            <a:noFill/>
            <a:ln>
              <a:noFill/>
            </a:ln>
          </p:spPr>
          <p:txBody>
            <a:bodyPr wrap="none" lIns="0" tIns="0" rIns="0" bIns="0" anchor="t" anchorCtr="0">
              <a:spAutoFit/>
            </a:bodyPr>
            <a:lstStyle/>
            <a:p>
              <a:pPr algn="l"/>
              <a:r>
                <a:rPr lang="zh-CN" sz="1500" b="1" dirty="0">
                  <a:solidFill>
                    <a:srgbClr val="111827"/>
                  </a:solidFill>
                  <a:latin typeface="Arial"/>
                  <a:ea typeface="Microsoft YaHei"/>
                  <a:cs typeface="Arial"/>
                </a:rPr>
                <a:t>VLM + tool seams</a:t>
              </a:r>
            </a:p>
          </p:txBody>
        </p:sp>
        <p:sp>
          <p:nvSpPr>
            <p:cNvPr id="19" name="TextBox 19"/>
            <p:cNvSpPr txBox="1"/>
            <p:nvPr/>
          </p:nvSpPr>
          <p:spPr>
            <a:xfrm>
              <a:off x="6615112" y="3669506"/>
              <a:ext cx="3666530"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Bedrock Claude default, SageMaker provider seam</a:t>
              </a:r>
            </a:p>
          </p:txBody>
        </p:sp>
        <p:sp>
          <p:nvSpPr>
            <p:cNvPr id="20" name="Rectangle 20"/>
            <p:cNvSpPr/>
            <p:nvPr/>
          </p:nvSpPr>
          <p:spPr>
            <a:xfrm>
              <a:off x="1352550" y="4305300"/>
              <a:ext cx="4514850" cy="876300"/>
            </a:xfrm>
            <a:prstGeom prst="roundRect">
              <a:avLst>
                <a:gd name="adj" fmla="val 8696"/>
              </a:avLst>
            </a:prstGeom>
            <a:solidFill>
              <a:srgbClr val="FFFFFF"/>
            </a:solidFill>
            <a:ln w="19050">
              <a:solidFill>
                <a:srgbClr val="146EB4"/>
              </a:solidFill>
            </a:ln>
          </p:spPr>
        </p:sp>
        <p:sp>
          <p:nvSpPr>
            <p:cNvPr id="21" name="TextBox 21"/>
            <p:cNvSpPr txBox="1"/>
            <p:nvPr/>
          </p:nvSpPr>
          <p:spPr>
            <a:xfrm>
              <a:off x="1638300" y="4486275"/>
              <a:ext cx="1487281" cy="304800"/>
            </a:xfrm>
            <a:prstGeom prst="rect">
              <a:avLst/>
            </a:prstGeom>
            <a:noFill/>
            <a:ln>
              <a:noFill/>
            </a:ln>
          </p:spPr>
          <p:txBody>
            <a:bodyPr wrap="none" lIns="0" tIns="0" rIns="0" bIns="0" anchor="t" anchorCtr="0">
              <a:spAutoFit/>
            </a:bodyPr>
            <a:lstStyle/>
            <a:p>
              <a:pPr algn="l"/>
              <a:r>
                <a:rPr lang="zh-CN" sz="1500" b="1" dirty="0">
                  <a:solidFill>
                    <a:srgbClr val="146EB4"/>
                  </a:solidFill>
                  <a:latin typeface="Arial"/>
                  <a:ea typeface="Microsoft YaHei"/>
                  <a:cs typeface="Arial"/>
                </a:rPr>
                <a:t>Braket + Mitiq</a:t>
              </a:r>
            </a:p>
          </p:txBody>
        </p:sp>
        <p:sp>
          <p:nvSpPr>
            <p:cNvPr id="22" name="TextBox 22"/>
            <p:cNvSpPr txBox="1"/>
            <p:nvPr/>
          </p:nvSpPr>
          <p:spPr>
            <a:xfrm>
              <a:off x="1643062" y="4793456"/>
              <a:ext cx="3081457"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REM, ZNE, PT, Program Sets, observables</a:t>
              </a:r>
            </a:p>
          </p:txBody>
        </p:sp>
        <p:sp>
          <p:nvSpPr>
            <p:cNvPr id="23" name="Rectangle 23"/>
            <p:cNvSpPr/>
            <p:nvPr/>
          </p:nvSpPr>
          <p:spPr>
            <a:xfrm>
              <a:off x="6324600" y="4305300"/>
              <a:ext cx="4514850" cy="876300"/>
            </a:xfrm>
            <a:prstGeom prst="roundRect">
              <a:avLst>
                <a:gd name="adj" fmla="val 8696"/>
              </a:avLst>
            </a:prstGeom>
            <a:solidFill>
              <a:srgbClr val="FFFFFF"/>
            </a:solidFill>
            <a:ln w="19050">
              <a:solidFill>
                <a:srgbClr val="0F766E"/>
              </a:solidFill>
            </a:ln>
          </p:spPr>
        </p:sp>
        <p:sp>
          <p:nvSpPr>
            <p:cNvPr id="24" name="TextBox 24"/>
            <p:cNvSpPr txBox="1"/>
            <p:nvPr/>
          </p:nvSpPr>
          <p:spPr>
            <a:xfrm>
              <a:off x="6610350" y="4486275"/>
              <a:ext cx="2904958" cy="304800"/>
            </a:xfrm>
            <a:prstGeom prst="rect">
              <a:avLst/>
            </a:prstGeom>
            <a:noFill/>
            <a:ln>
              <a:noFill/>
            </a:ln>
          </p:spPr>
          <p:txBody>
            <a:bodyPr wrap="none" lIns="0" tIns="0" rIns="0" bIns="0" anchor="t" anchorCtr="0">
              <a:spAutoFit/>
            </a:bodyPr>
            <a:lstStyle/>
            <a:p>
              <a:pPr algn="l"/>
              <a:r>
                <a:rPr lang="zh-CN" sz="1500" b="1" dirty="0">
                  <a:solidFill>
                    <a:srgbClr val="0F766E"/>
                  </a:solidFill>
                  <a:latin typeface="Arial"/>
                  <a:ea typeface="Microsoft YaHei"/>
                  <a:cs typeface="Arial"/>
                </a:rPr>
                <a:t>Cloud artifacts + Guardrails</a:t>
              </a:r>
            </a:p>
          </p:txBody>
        </p:sp>
        <p:sp>
          <p:nvSpPr>
            <p:cNvPr id="25" name="TextBox 25"/>
            <p:cNvSpPr txBox="1"/>
            <p:nvPr/>
          </p:nvSpPr>
          <p:spPr>
            <a:xfrm>
              <a:off x="6615112" y="4793456"/>
              <a:ext cx="3576518"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S3/local artifacts, optional free-text guardrail</a:t>
              </a:r>
            </a:p>
          </p:txBody>
        </p:sp>
        <p:sp>
          <p:nvSpPr>
            <p:cNvPr id="26" name="Rectangle 26"/>
            <p:cNvSpPr/>
            <p:nvPr/>
          </p:nvSpPr>
          <p:spPr>
            <a:xfrm>
              <a:off x="1352550" y="5429250"/>
              <a:ext cx="9486900" cy="552450"/>
            </a:xfrm>
            <a:prstGeom prst="roundRect">
              <a:avLst>
                <a:gd name="adj" fmla="val 13793"/>
              </a:avLst>
            </a:prstGeom>
            <a:solidFill>
              <a:srgbClr val="E7F7EF"/>
            </a:solidFill>
            <a:ln w="19050">
              <a:solidFill>
                <a:srgbClr val="0F766E"/>
              </a:solidFill>
            </a:ln>
          </p:spPr>
        </p:sp>
        <p:sp>
          <p:nvSpPr>
            <p:cNvPr id="27" name="TextBox 27"/>
            <p:cNvSpPr txBox="1"/>
            <p:nvPr/>
          </p:nvSpPr>
          <p:spPr>
            <a:xfrm>
              <a:off x="1640205" y="5626418"/>
              <a:ext cx="5969632" cy="274320"/>
            </a:xfrm>
            <a:prstGeom prst="rect">
              <a:avLst/>
            </a:prstGeom>
            <a:noFill/>
            <a:ln>
              <a:noFill/>
            </a:ln>
          </p:spPr>
          <p:txBody>
            <a:bodyPr wrap="none" lIns="0" tIns="0" rIns="0" bIns="0" anchor="t" anchorCtr="0">
              <a:spAutoFit/>
            </a:bodyPr>
            <a:lstStyle/>
            <a:p>
              <a:pPr algn="l"/>
              <a:r>
                <a:rPr lang="zh-CN" sz="1350" b="1" dirty="0">
                  <a:solidFill>
                    <a:srgbClr val="111827"/>
                  </a:solidFill>
                  <a:latin typeface="Arial"/>
                  <a:ea typeface="Microsoft YaHei"/>
                  <a:cs typeface="Arial"/>
                </a:rPr>
                <a:t>Execution today: Braket LocalSimulator with named noise models</a:t>
              </a:r>
            </a:p>
          </p:txBody>
        </p:sp>
        <p:sp>
          <p:nvSpPr>
            <p:cNvPr id="28" name="TextBox 28"/>
            <p:cNvSpPr txBox="1"/>
            <p:nvPr/>
          </p:nvSpPr>
          <p:spPr>
            <a:xfrm>
              <a:off x="7414260" y="5642610"/>
              <a:ext cx="2318766" cy="243840"/>
            </a:xfrm>
            <a:prstGeom prst="rect">
              <a:avLst/>
            </a:prstGeom>
            <a:noFill/>
            <a:ln>
              <a:noFill/>
            </a:ln>
          </p:spPr>
          <p:txBody>
            <a:bodyPr wrap="none" lIns="0" tIns="0" rIns="0" bIns="0" anchor="t" anchorCtr="0">
              <a:spAutoFit/>
            </a:bodyPr>
            <a:lstStyle/>
            <a:p>
              <a:pPr algn="l"/>
              <a:r>
                <a:rPr lang="zh-CN" sz="1200" dirty="0">
                  <a:solidFill>
                    <a:srgbClr val="475569"/>
                  </a:solidFill>
                  <a:latin typeface="Arial"/>
                  <a:ea typeface="Microsoft YaHei"/>
                  <a:cs typeface="Arial"/>
                </a:rPr>
                <a:t>QPU execution is future work</a:t>
              </a:r>
            </a:p>
          </p:txBody>
        </p:sp>
      </p:grpSp>
      <p:grpSp>
        <p:nvGrpSpPr>
          <p:cNvPr id="33" name="Group 33"/>
          <p:cNvGrpSpPr/>
          <p:nvPr/>
        </p:nvGrpSpPr>
        <p:grpSpPr>
          <a:xfrm>
            <a:off x="634365" y="2429828"/>
            <a:ext cx="992791" cy="2489834"/>
            <a:chOff x="634365" y="2429828"/>
            <a:chExt cx="992791" cy="2489834"/>
          </a:xfrm>
        </p:grpSpPr>
        <p:sp>
          <p:nvSpPr>
            <p:cNvPr id="30" name="TextBox 30"/>
            <p:cNvSpPr txBox="1"/>
            <p:nvPr/>
          </p:nvSpPr>
          <p:spPr>
            <a:xfrm>
              <a:off x="634365" y="2429828"/>
              <a:ext cx="992791" cy="213360"/>
            </a:xfrm>
            <a:prstGeom prst="rect">
              <a:avLst/>
            </a:prstGeom>
            <a:noFill/>
            <a:ln>
              <a:noFill/>
            </a:ln>
          </p:spPr>
          <p:txBody>
            <a:bodyPr wrap="none" lIns="0" tIns="0" rIns="0" bIns="0" anchor="t" anchorCtr="0">
              <a:spAutoFit/>
            </a:bodyPr>
            <a:lstStyle/>
            <a:p>
              <a:pPr algn="l"/>
              <a:r>
                <a:rPr lang="zh-CN" sz="1050" dirty="0">
                  <a:solidFill>
                    <a:srgbClr val="94A3B8"/>
                  </a:solidFill>
                  <a:latin typeface="Arial"/>
                  <a:ea typeface="Microsoft YaHei"/>
                  <a:cs typeface="Arial"/>
                </a:rPr>
                <a:t>orchestration</a:t>
              </a:r>
            </a:p>
          </p:txBody>
        </p:sp>
        <p:sp>
          <p:nvSpPr>
            <p:cNvPr id="31" name="TextBox 31"/>
            <p:cNvSpPr txBox="1"/>
            <p:nvPr/>
          </p:nvSpPr>
          <p:spPr>
            <a:xfrm>
              <a:off x="634365" y="3563302"/>
              <a:ext cx="796766" cy="213360"/>
            </a:xfrm>
            <a:prstGeom prst="rect">
              <a:avLst/>
            </a:prstGeom>
            <a:noFill/>
            <a:ln>
              <a:noFill/>
            </a:ln>
          </p:spPr>
          <p:txBody>
            <a:bodyPr wrap="none" lIns="0" tIns="0" rIns="0" bIns="0" anchor="t" anchorCtr="0">
              <a:spAutoFit/>
            </a:bodyPr>
            <a:lstStyle/>
            <a:p>
              <a:pPr algn="l"/>
              <a:r>
                <a:rPr lang="zh-CN" sz="1050" dirty="0">
                  <a:solidFill>
                    <a:srgbClr val="94A3B8"/>
                  </a:solidFill>
                  <a:latin typeface="Arial"/>
                  <a:ea typeface="Microsoft YaHei"/>
                  <a:cs typeface="Arial"/>
                </a:rPr>
                <a:t>governance</a:t>
              </a:r>
            </a:p>
          </p:txBody>
        </p:sp>
        <p:sp>
          <p:nvSpPr>
            <p:cNvPr id="32" name="TextBox 32"/>
            <p:cNvSpPr txBox="1"/>
            <p:nvPr/>
          </p:nvSpPr>
          <p:spPr>
            <a:xfrm>
              <a:off x="634365" y="4706302"/>
              <a:ext cx="684752" cy="213360"/>
            </a:xfrm>
            <a:prstGeom prst="rect">
              <a:avLst/>
            </a:prstGeom>
            <a:noFill/>
            <a:ln>
              <a:noFill/>
            </a:ln>
          </p:spPr>
          <p:txBody>
            <a:bodyPr wrap="none" lIns="0" tIns="0" rIns="0" bIns="0" anchor="t" anchorCtr="0">
              <a:spAutoFit/>
            </a:bodyPr>
            <a:lstStyle/>
            <a:p>
              <a:pPr algn="l"/>
              <a:r>
                <a:rPr lang="zh-CN" sz="1050" dirty="0">
                  <a:solidFill>
                    <a:srgbClr val="94A3B8"/>
                  </a:solidFill>
                  <a:latin typeface="Arial"/>
                  <a:ea typeface="Microsoft YaHei"/>
                  <a:cs typeface="Arial"/>
                </a:rPr>
                <a:t>execution</a:t>
              </a:r>
            </a:p>
          </p:txBody>
        </p:sp>
      </p:grpSp>
      <p:sp>
        <p:nvSpPr>
          <p:cNvPr id="34" name="TextBox 34"/>
          <p:cNvSpPr txBox="1"/>
          <p:nvPr/>
        </p:nvSpPr>
        <p:spPr>
          <a:xfrm>
            <a:off x="522922" y="6483191"/>
            <a:ext cx="3810929" cy="167640"/>
          </a:xfrm>
          <a:prstGeom prst="rect">
            <a:avLst/>
          </a:prstGeom>
          <a:noFill/>
          <a:ln>
            <a:noFill/>
          </a:ln>
        </p:spPr>
        <p:txBody>
          <a:bodyPr wrap="none" lIns="0" tIns="0" rIns="0" bIns="0" anchor="t" anchorCtr="0">
            <a:spAutoFit/>
          </a:bodyPr>
          <a:lstStyle/>
          <a:p>
            <a:pPr algn="l"/>
            <a:r>
              <a:rPr lang="zh-CN" sz="825" dirty="0">
                <a:solidFill>
                  <a:srgbClr val="94A3B8"/>
                </a:solidFill>
                <a:latin typeface="Arial"/>
                <a:ea typeface="Microsoft YaHei"/>
                <a:cs typeface="Arial"/>
              </a:rPr>
              <a:t>Implementation paths: src/aqem/dag, nodes, policy, tools, vlm, cloud</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slide(fromBottom)">
                                      <p:cBhvr>
                                        <p:cTn id="7" dur="400"/>
                                        <p:tgtEl>
                                          <p:spTgt spid="29"/>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33"/>
                                        </p:tgtEl>
                                        <p:attrNameLst>
                                          <p:attrName>style.visibility</p:attrName>
                                        </p:attrNameLst>
                                      </p:cBhvr>
                                      <p:to>
                                        <p:strVal val="visible"/>
                                      </p:to>
                                    </p:set>
                                    <p:animEffect transition="in" filter="image">
                                      <p:cBhvr>
                                        <p:cTn id="11"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533400" y="419100"/>
              <a:ext cx="11125200" cy="9525"/>
            </a:xfrm>
            <a:prstGeom prst="rect">
              <a:avLst/>
            </a:prstGeom>
            <a:solidFill>
              <a:srgbClr val="D9E2EC"/>
            </a:solidFill>
            <a:ln>
              <a:noFill/>
            </a:ln>
          </p:spPr>
        </p:sp>
      </p:grpSp>
      <p:grpSp>
        <p:nvGrpSpPr>
          <p:cNvPr id="7" name="Group 7"/>
          <p:cNvGrpSpPr/>
          <p:nvPr/>
        </p:nvGrpSpPr>
        <p:grpSpPr>
          <a:xfrm>
            <a:off x="502920" y="560070"/>
            <a:ext cx="10783919" cy="487680"/>
            <a:chOff x="502920" y="560070"/>
            <a:chExt cx="10783919" cy="487680"/>
          </a:xfrm>
        </p:grpSpPr>
        <p:sp>
          <p:nvSpPr>
            <p:cNvPr id="5" name="TextBox 5"/>
            <p:cNvSpPr txBox="1"/>
            <p:nvPr/>
          </p:nvSpPr>
          <p:spPr>
            <a:xfrm>
              <a:off x="502920" y="560070"/>
              <a:ext cx="3925443" cy="487680"/>
            </a:xfrm>
            <a:prstGeom prst="rect">
              <a:avLst/>
            </a:prstGeom>
            <a:noFill/>
            <a:ln>
              <a:noFill/>
            </a:ln>
          </p:spPr>
          <p:txBody>
            <a:bodyPr wrap="none" lIns="0" tIns="0" rIns="0" bIns="0" anchor="t" anchorCtr="0">
              <a:spAutoFit/>
            </a:bodyPr>
            <a:lstStyle/>
            <a:p>
              <a:pPr algn="l"/>
              <a:r>
                <a:rPr lang="zh-CN" sz="2400" b="1" dirty="0">
                  <a:solidFill>
                    <a:srgbClr val="111827"/>
                  </a:solidFill>
                  <a:latin typeface="Arial"/>
                  <a:ea typeface="Microsoft YaHei"/>
                  <a:cs typeface="Arial"/>
                </a:rPr>
                <a:t>The eight-node QEM DAG</a:t>
              </a:r>
            </a:p>
          </p:txBody>
        </p:sp>
        <p:sp>
          <p:nvSpPr>
            <p:cNvPr id="6" name="TextBox 6"/>
            <p:cNvSpPr txBox="1"/>
            <p:nvPr/>
          </p:nvSpPr>
          <p:spPr>
            <a:xfrm>
              <a:off x="10826115" y="667702"/>
              <a:ext cx="460724" cy="213360"/>
            </a:xfrm>
            <a:prstGeom prst="rect">
              <a:avLst/>
            </a:prstGeom>
            <a:noFill/>
            <a:ln>
              <a:noFill/>
            </a:ln>
          </p:spPr>
          <p:txBody>
            <a:bodyPr wrap="none" lIns="0" tIns="0" rIns="0" bIns="0" anchor="t" anchorCtr="0">
              <a:spAutoFit/>
            </a:bodyPr>
            <a:lstStyle/>
            <a:p>
              <a:pPr algn="l"/>
              <a:r>
                <a:rPr lang="zh-CN" sz="1050" dirty="0">
                  <a:solidFill>
                    <a:srgbClr val="94A3B8"/>
                  </a:solidFill>
                  <a:latin typeface="Arial"/>
                  <a:ea typeface="Microsoft YaHei"/>
                  <a:cs typeface="Arial"/>
                </a:rPr>
                <a:t>05 / 10</a:t>
              </a:r>
            </a:p>
          </p:txBody>
        </p:sp>
      </p:grpSp>
      <p:grpSp>
        <p:nvGrpSpPr>
          <p:cNvPr id="10" name="Group 10"/>
          <p:cNvGrpSpPr/>
          <p:nvPr/>
        </p:nvGrpSpPr>
        <p:grpSpPr>
          <a:xfrm>
            <a:off x="533400" y="1066800"/>
            <a:ext cx="11125200" cy="514350"/>
            <a:chOff x="533400" y="1066800"/>
            <a:chExt cx="11125200" cy="514350"/>
          </a:xfrm>
        </p:grpSpPr>
        <p:sp>
          <p:nvSpPr>
            <p:cNvPr id="8" name="Rectangle 8"/>
            <p:cNvSpPr/>
            <p:nvPr/>
          </p:nvSpPr>
          <p:spPr>
            <a:xfrm>
              <a:off x="533400" y="1066800"/>
              <a:ext cx="11125200" cy="514350"/>
            </a:xfrm>
            <a:prstGeom prst="roundRect">
              <a:avLst>
                <a:gd name="adj" fmla="val 14815"/>
              </a:avLst>
            </a:prstGeom>
            <a:solidFill>
              <a:srgbClr val="E8F3FC"/>
            </a:solidFill>
            <a:ln>
              <a:noFill/>
            </a:ln>
          </p:spPr>
        </p:sp>
        <p:sp>
          <p:nvSpPr>
            <p:cNvPr id="9" name="TextBox 9"/>
            <p:cNvSpPr txBox="1"/>
            <p:nvPr/>
          </p:nvSpPr>
          <p:spPr>
            <a:xfrm>
              <a:off x="763905" y="1244918"/>
              <a:ext cx="8436390" cy="274320"/>
            </a:xfrm>
            <a:prstGeom prst="rect">
              <a:avLst/>
            </a:prstGeom>
            <a:noFill/>
            <a:ln>
              <a:noFill/>
            </a:ln>
          </p:spPr>
          <p:txBody>
            <a:bodyPr wrap="none" lIns="0" tIns="0" rIns="0" bIns="0" anchor="t" anchorCtr="0">
              <a:spAutoFit/>
            </a:bodyPr>
            <a:lstStyle/>
            <a:p>
              <a:pPr algn="l"/>
              <a:r>
                <a:rPr lang="zh-CN" sz="1350" b="1" dirty="0">
                  <a:solidFill>
                    <a:srgbClr val="146EB4"/>
                  </a:solidFill>
                  <a:latin typeface="Arial"/>
                  <a:ea typeface="Microsoft YaHei"/>
                  <a:cs typeface="Arial"/>
                </a:rPr>
                <a:t>Validation decides whether to stop or invalidate only the sub-DAG that needs another pass.</a:t>
              </a:r>
            </a:p>
          </p:txBody>
        </p:sp>
      </p:grpSp>
      <p:grpSp>
        <p:nvGrpSpPr>
          <p:cNvPr id="32" name="Group 32"/>
          <p:cNvGrpSpPr/>
          <p:nvPr/>
        </p:nvGrpSpPr>
        <p:grpSpPr>
          <a:xfrm>
            <a:off x="533400" y="2686050"/>
            <a:ext cx="11125200" cy="857250"/>
            <a:chOff x="533400" y="2686050"/>
            <a:chExt cx="11125200" cy="857250"/>
          </a:xfrm>
        </p:grpSpPr>
        <p:sp>
          <p:nvSpPr>
            <p:cNvPr id="11" name="Rectangle 11"/>
            <p:cNvSpPr/>
            <p:nvPr/>
          </p:nvSpPr>
          <p:spPr>
            <a:xfrm>
              <a:off x="533400" y="2686050"/>
              <a:ext cx="1257300" cy="857250"/>
            </a:xfrm>
            <a:prstGeom prst="roundRect">
              <a:avLst>
                <a:gd name="adj" fmla="val 8889"/>
              </a:avLst>
            </a:prstGeom>
            <a:solidFill>
              <a:srgbClr val="FFFFFF"/>
            </a:solidFill>
            <a:ln w="19050">
              <a:solidFill>
                <a:srgbClr val="146EB4"/>
              </a:solidFill>
            </a:ln>
          </p:spPr>
        </p:sp>
        <p:sp>
          <p:nvSpPr>
            <p:cNvPr id="12" name="Rectangle 12"/>
            <p:cNvSpPr/>
            <p:nvPr/>
          </p:nvSpPr>
          <p:spPr>
            <a:xfrm>
              <a:off x="1981200" y="2686050"/>
              <a:ext cx="1257300" cy="857250"/>
            </a:xfrm>
            <a:prstGeom prst="roundRect">
              <a:avLst>
                <a:gd name="adj" fmla="val 8889"/>
              </a:avLst>
            </a:prstGeom>
            <a:solidFill>
              <a:srgbClr val="FFFFFF"/>
            </a:solidFill>
            <a:ln w="19050">
              <a:solidFill>
                <a:srgbClr val="146EB4"/>
              </a:solidFill>
            </a:ln>
          </p:spPr>
        </p:sp>
        <p:sp>
          <p:nvSpPr>
            <p:cNvPr id="13" name="Rectangle 13"/>
            <p:cNvSpPr/>
            <p:nvPr/>
          </p:nvSpPr>
          <p:spPr>
            <a:xfrm>
              <a:off x="3429000" y="2686050"/>
              <a:ext cx="1257300" cy="857250"/>
            </a:xfrm>
            <a:prstGeom prst="roundRect">
              <a:avLst>
                <a:gd name="adj" fmla="val 8889"/>
              </a:avLst>
            </a:prstGeom>
            <a:solidFill>
              <a:srgbClr val="FFFFFF"/>
            </a:solidFill>
            <a:ln w="19050">
              <a:solidFill>
                <a:srgbClr val="146EB4"/>
              </a:solidFill>
            </a:ln>
          </p:spPr>
        </p:sp>
        <p:sp>
          <p:nvSpPr>
            <p:cNvPr id="14" name="Rectangle 14"/>
            <p:cNvSpPr/>
            <p:nvPr/>
          </p:nvSpPr>
          <p:spPr>
            <a:xfrm>
              <a:off x="4876800" y="2686050"/>
              <a:ext cx="1257300" cy="857250"/>
            </a:xfrm>
            <a:prstGeom prst="roundRect">
              <a:avLst>
                <a:gd name="adj" fmla="val 8889"/>
              </a:avLst>
            </a:prstGeom>
            <a:solidFill>
              <a:srgbClr val="FFFFFF"/>
            </a:solidFill>
            <a:ln w="19050">
              <a:solidFill>
                <a:srgbClr val="146EB4"/>
              </a:solidFill>
            </a:ln>
          </p:spPr>
        </p:sp>
        <p:sp>
          <p:nvSpPr>
            <p:cNvPr id="15" name="Rectangle 15"/>
            <p:cNvSpPr/>
            <p:nvPr/>
          </p:nvSpPr>
          <p:spPr>
            <a:xfrm>
              <a:off x="6324600" y="2686050"/>
              <a:ext cx="1257300" cy="857250"/>
            </a:xfrm>
            <a:prstGeom prst="roundRect">
              <a:avLst>
                <a:gd name="adj" fmla="val 8889"/>
              </a:avLst>
            </a:prstGeom>
            <a:solidFill>
              <a:srgbClr val="FFFFFF"/>
            </a:solidFill>
            <a:ln w="19050">
              <a:solidFill>
                <a:srgbClr val="146EB4"/>
              </a:solidFill>
            </a:ln>
          </p:spPr>
        </p:sp>
        <p:sp>
          <p:nvSpPr>
            <p:cNvPr id="16" name="Rectangle 16"/>
            <p:cNvSpPr/>
            <p:nvPr/>
          </p:nvSpPr>
          <p:spPr>
            <a:xfrm>
              <a:off x="7772400" y="2686050"/>
              <a:ext cx="1257300" cy="857250"/>
            </a:xfrm>
            <a:prstGeom prst="roundRect">
              <a:avLst>
                <a:gd name="adj" fmla="val 8889"/>
              </a:avLst>
            </a:prstGeom>
            <a:solidFill>
              <a:srgbClr val="FFFFFF"/>
            </a:solidFill>
            <a:ln w="19050">
              <a:solidFill>
                <a:srgbClr val="146EB4"/>
              </a:solidFill>
            </a:ln>
          </p:spPr>
        </p:sp>
        <p:sp>
          <p:nvSpPr>
            <p:cNvPr id="17" name="Rectangle 17"/>
            <p:cNvSpPr/>
            <p:nvPr/>
          </p:nvSpPr>
          <p:spPr>
            <a:xfrm>
              <a:off x="9220200" y="2686050"/>
              <a:ext cx="1257300" cy="857250"/>
            </a:xfrm>
            <a:prstGeom prst="roundRect">
              <a:avLst>
                <a:gd name="adj" fmla="val 8889"/>
              </a:avLst>
            </a:prstGeom>
            <a:solidFill>
              <a:srgbClr val="FFF4E0"/>
            </a:solidFill>
            <a:ln w="19050">
              <a:solidFill>
                <a:srgbClr val="FF9900"/>
              </a:solidFill>
            </a:ln>
          </p:spPr>
        </p:sp>
        <p:sp>
          <p:nvSpPr>
            <p:cNvPr id="18" name="Rectangle 18"/>
            <p:cNvSpPr/>
            <p:nvPr/>
          </p:nvSpPr>
          <p:spPr>
            <a:xfrm>
              <a:off x="10668000" y="2686050"/>
              <a:ext cx="990600" cy="857250"/>
            </a:xfrm>
            <a:prstGeom prst="roundRect">
              <a:avLst>
                <a:gd name="adj" fmla="val 8889"/>
              </a:avLst>
            </a:prstGeom>
            <a:solidFill>
              <a:srgbClr val="E7F7EF"/>
            </a:solidFill>
            <a:ln w="19050">
              <a:solidFill>
                <a:srgbClr val="0F766E"/>
              </a:solidFill>
            </a:ln>
          </p:spPr>
        </p:sp>
        <p:sp>
          <p:nvSpPr>
            <p:cNvPr id="19" name="TextBox 19"/>
            <p:cNvSpPr txBox="1"/>
            <p:nvPr/>
          </p:nvSpPr>
          <p:spPr>
            <a:xfrm>
              <a:off x="804862" y="2907506"/>
              <a:ext cx="721662" cy="228600"/>
            </a:xfrm>
            <a:prstGeom prst="rect">
              <a:avLst/>
            </a:prstGeom>
            <a:noFill/>
            <a:ln>
              <a:noFill/>
            </a:ln>
          </p:spPr>
          <p:txBody>
            <a:bodyPr wrap="none" lIns="0" tIns="0" rIns="0" bIns="0" anchor="t" anchorCtr="0">
              <a:spAutoFit/>
            </a:bodyPr>
            <a:lstStyle/>
            <a:p>
              <a:pPr algn="l"/>
              <a:r>
                <a:rPr lang="zh-CN" sz="1125" b="1" dirty="0">
                  <a:solidFill>
                    <a:srgbClr val="111827"/>
                  </a:solidFill>
                  <a:latin typeface="Arial"/>
                  <a:ea typeface="Microsoft YaHei"/>
                  <a:cs typeface="Arial"/>
                </a:rPr>
                <a:t>empirical</a:t>
              </a:r>
            </a:p>
          </p:txBody>
        </p:sp>
        <p:sp>
          <p:nvSpPr>
            <p:cNvPr id="20" name="TextBox 20"/>
            <p:cNvSpPr txBox="1"/>
            <p:nvPr/>
          </p:nvSpPr>
          <p:spPr>
            <a:xfrm>
              <a:off x="862012" y="3136106"/>
              <a:ext cx="461754" cy="228600"/>
            </a:xfrm>
            <a:prstGeom prst="rect">
              <a:avLst/>
            </a:prstGeom>
            <a:noFill/>
            <a:ln>
              <a:noFill/>
            </a:ln>
          </p:spPr>
          <p:txBody>
            <a:bodyPr wrap="none" lIns="0" tIns="0" rIns="0" bIns="0" anchor="t" anchorCtr="0">
              <a:spAutoFit/>
            </a:bodyPr>
            <a:lstStyle/>
            <a:p>
              <a:pPr algn="l"/>
              <a:r>
                <a:rPr lang="zh-CN" sz="1125" b="1" dirty="0">
                  <a:solidFill>
                    <a:srgbClr val="111827"/>
                  </a:solidFill>
                  <a:latin typeface="Arial"/>
                  <a:ea typeface="Microsoft YaHei"/>
                  <a:cs typeface="Arial"/>
                </a:rPr>
                <a:t>probe</a:t>
              </a:r>
            </a:p>
          </p:txBody>
        </p:sp>
        <p:sp>
          <p:nvSpPr>
            <p:cNvPr id="21" name="TextBox 21"/>
            <p:cNvSpPr txBox="1"/>
            <p:nvPr/>
          </p:nvSpPr>
          <p:spPr>
            <a:xfrm>
              <a:off x="2205038" y="2907506"/>
              <a:ext cx="721662" cy="228600"/>
            </a:xfrm>
            <a:prstGeom prst="rect">
              <a:avLst/>
            </a:prstGeom>
            <a:noFill/>
            <a:ln>
              <a:noFill/>
            </a:ln>
          </p:spPr>
          <p:txBody>
            <a:bodyPr wrap="none" lIns="0" tIns="0" rIns="0" bIns="0" anchor="t" anchorCtr="0">
              <a:spAutoFit/>
            </a:bodyPr>
            <a:lstStyle/>
            <a:p>
              <a:pPr algn="l"/>
              <a:r>
                <a:rPr lang="zh-CN" sz="1125" b="1" dirty="0">
                  <a:solidFill>
                    <a:srgbClr val="111827"/>
                  </a:solidFill>
                  <a:latin typeface="Arial"/>
                  <a:ea typeface="Microsoft YaHei"/>
                  <a:cs typeface="Arial"/>
                </a:rPr>
                <a:t>strategy</a:t>
              </a:r>
            </a:p>
          </p:txBody>
        </p:sp>
        <p:sp>
          <p:nvSpPr>
            <p:cNvPr id="22" name="TextBox 22"/>
            <p:cNvSpPr txBox="1"/>
            <p:nvPr/>
          </p:nvSpPr>
          <p:spPr>
            <a:xfrm>
              <a:off x="2271712" y="3136106"/>
              <a:ext cx="509010" cy="228600"/>
            </a:xfrm>
            <a:prstGeom prst="rect">
              <a:avLst/>
            </a:prstGeom>
            <a:noFill/>
            <a:ln>
              <a:noFill/>
            </a:ln>
          </p:spPr>
          <p:txBody>
            <a:bodyPr wrap="none" lIns="0" tIns="0" rIns="0" bIns="0" anchor="t" anchorCtr="0">
              <a:spAutoFit/>
            </a:bodyPr>
            <a:lstStyle/>
            <a:p>
              <a:pPr algn="l"/>
              <a:r>
                <a:rPr lang="zh-CN" sz="1125" b="1" dirty="0">
                  <a:solidFill>
                    <a:srgbClr val="111827"/>
                  </a:solidFill>
                  <a:latin typeface="Arial"/>
                  <a:ea typeface="Microsoft YaHei"/>
                  <a:cs typeface="Arial"/>
                </a:rPr>
                <a:t>select</a:t>
              </a:r>
            </a:p>
          </p:txBody>
        </p:sp>
        <p:sp>
          <p:nvSpPr>
            <p:cNvPr id="23" name="TextBox 23"/>
            <p:cNvSpPr txBox="1"/>
            <p:nvPr/>
          </p:nvSpPr>
          <p:spPr>
            <a:xfrm>
              <a:off x="3671888" y="2907506"/>
              <a:ext cx="635026" cy="228600"/>
            </a:xfrm>
            <a:prstGeom prst="rect">
              <a:avLst/>
            </a:prstGeom>
            <a:noFill/>
            <a:ln>
              <a:noFill/>
            </a:ln>
          </p:spPr>
          <p:txBody>
            <a:bodyPr wrap="none" lIns="0" tIns="0" rIns="0" bIns="0" anchor="t" anchorCtr="0">
              <a:spAutoFit/>
            </a:bodyPr>
            <a:lstStyle/>
            <a:p>
              <a:pPr algn="l"/>
              <a:r>
                <a:rPr lang="zh-CN" sz="1125" b="1" dirty="0">
                  <a:solidFill>
                    <a:srgbClr val="111827"/>
                  </a:solidFill>
                  <a:latin typeface="Arial"/>
                  <a:ea typeface="Microsoft YaHei"/>
                  <a:cs typeface="Arial"/>
                </a:rPr>
                <a:t>readout</a:t>
              </a:r>
            </a:p>
          </p:txBody>
        </p:sp>
        <p:sp>
          <p:nvSpPr>
            <p:cNvPr id="24" name="TextBox 24"/>
            <p:cNvSpPr txBox="1"/>
            <p:nvPr/>
          </p:nvSpPr>
          <p:spPr>
            <a:xfrm>
              <a:off x="3624262" y="3136106"/>
              <a:ext cx="729538" cy="228600"/>
            </a:xfrm>
            <a:prstGeom prst="rect">
              <a:avLst/>
            </a:prstGeom>
            <a:noFill/>
            <a:ln>
              <a:noFill/>
            </a:ln>
          </p:spPr>
          <p:txBody>
            <a:bodyPr wrap="none" lIns="0" tIns="0" rIns="0" bIns="0" anchor="t" anchorCtr="0">
              <a:spAutoFit/>
            </a:bodyPr>
            <a:lstStyle/>
            <a:p>
              <a:pPr algn="l"/>
              <a:r>
                <a:rPr lang="zh-CN" sz="1125" b="1" dirty="0">
                  <a:solidFill>
                    <a:srgbClr val="111827"/>
                  </a:solidFill>
                  <a:latin typeface="Arial"/>
                  <a:ea typeface="Microsoft YaHei"/>
                  <a:cs typeface="Arial"/>
                </a:rPr>
                <a:t>calibrate</a:t>
              </a:r>
            </a:p>
          </p:txBody>
        </p:sp>
        <p:sp>
          <p:nvSpPr>
            <p:cNvPr id="25" name="TextBox 25"/>
            <p:cNvSpPr txBox="1"/>
            <p:nvPr/>
          </p:nvSpPr>
          <p:spPr>
            <a:xfrm>
              <a:off x="5100638" y="2907506"/>
              <a:ext cx="556266" cy="228600"/>
            </a:xfrm>
            <a:prstGeom prst="rect">
              <a:avLst/>
            </a:prstGeom>
            <a:noFill/>
            <a:ln>
              <a:noFill/>
            </a:ln>
          </p:spPr>
          <p:txBody>
            <a:bodyPr wrap="none" lIns="0" tIns="0" rIns="0" bIns="0" anchor="t" anchorCtr="0">
              <a:spAutoFit/>
            </a:bodyPr>
            <a:lstStyle/>
            <a:p>
              <a:pPr algn="l"/>
              <a:r>
                <a:rPr lang="zh-CN" sz="1125" b="1" dirty="0">
                  <a:solidFill>
                    <a:srgbClr val="111827"/>
                  </a:solidFill>
                  <a:latin typeface="Arial"/>
                  <a:ea typeface="Microsoft YaHei"/>
                  <a:cs typeface="Arial"/>
                </a:rPr>
                <a:t>circuit</a:t>
              </a:r>
            </a:p>
          </p:txBody>
        </p:sp>
        <p:sp>
          <p:nvSpPr>
            <p:cNvPr id="26" name="TextBox 26"/>
            <p:cNvSpPr txBox="1"/>
            <p:nvPr/>
          </p:nvSpPr>
          <p:spPr>
            <a:xfrm>
              <a:off x="5043488" y="3136106"/>
              <a:ext cx="721662" cy="228600"/>
            </a:xfrm>
            <a:prstGeom prst="rect">
              <a:avLst/>
            </a:prstGeom>
            <a:noFill/>
            <a:ln>
              <a:noFill/>
            </a:ln>
          </p:spPr>
          <p:txBody>
            <a:bodyPr wrap="none" lIns="0" tIns="0" rIns="0" bIns="0" anchor="t" anchorCtr="0">
              <a:spAutoFit/>
            </a:bodyPr>
            <a:lstStyle/>
            <a:p>
              <a:pPr algn="l"/>
              <a:r>
                <a:rPr lang="zh-CN" sz="1125" b="1" dirty="0">
                  <a:solidFill>
                    <a:srgbClr val="111827"/>
                  </a:solidFill>
                  <a:latin typeface="Arial"/>
                  <a:ea typeface="Microsoft YaHei"/>
                  <a:cs typeface="Arial"/>
                </a:rPr>
                <a:t>generate</a:t>
              </a:r>
            </a:p>
          </p:txBody>
        </p:sp>
        <p:sp>
          <p:nvSpPr>
            <p:cNvPr id="27" name="TextBox 27"/>
            <p:cNvSpPr txBox="1"/>
            <p:nvPr/>
          </p:nvSpPr>
          <p:spPr>
            <a:xfrm>
              <a:off x="6643688" y="3040856"/>
              <a:ext cx="635026" cy="228600"/>
            </a:xfrm>
            <a:prstGeom prst="rect">
              <a:avLst/>
            </a:prstGeom>
            <a:noFill/>
            <a:ln>
              <a:noFill/>
            </a:ln>
          </p:spPr>
          <p:txBody>
            <a:bodyPr wrap="none" lIns="0" tIns="0" rIns="0" bIns="0" anchor="t" anchorCtr="0">
              <a:spAutoFit/>
            </a:bodyPr>
            <a:lstStyle/>
            <a:p>
              <a:pPr algn="l"/>
              <a:r>
                <a:rPr lang="zh-CN" sz="1125" b="1" dirty="0">
                  <a:solidFill>
                    <a:srgbClr val="111827"/>
                  </a:solidFill>
                  <a:latin typeface="Arial"/>
                  <a:ea typeface="Microsoft YaHei"/>
                  <a:cs typeface="Arial"/>
                </a:rPr>
                <a:t>execute</a:t>
              </a:r>
            </a:p>
          </p:txBody>
        </p:sp>
        <p:sp>
          <p:nvSpPr>
            <p:cNvPr id="28" name="TextBox 28"/>
            <p:cNvSpPr txBox="1"/>
            <p:nvPr/>
          </p:nvSpPr>
          <p:spPr>
            <a:xfrm>
              <a:off x="7939088" y="2907506"/>
              <a:ext cx="375118" cy="228600"/>
            </a:xfrm>
            <a:prstGeom prst="rect">
              <a:avLst/>
            </a:prstGeom>
            <a:noFill/>
            <a:ln>
              <a:noFill/>
            </a:ln>
          </p:spPr>
          <p:txBody>
            <a:bodyPr wrap="none" lIns="0" tIns="0" rIns="0" bIns="0" anchor="t" anchorCtr="0">
              <a:spAutoFit/>
            </a:bodyPr>
            <a:lstStyle/>
            <a:p>
              <a:pPr algn="l"/>
              <a:r>
                <a:rPr lang="zh-CN" sz="1125" b="1" dirty="0">
                  <a:solidFill>
                    <a:srgbClr val="111827"/>
                  </a:solidFill>
                  <a:latin typeface="Arial"/>
                  <a:ea typeface="Microsoft YaHei"/>
                  <a:cs typeface="Arial"/>
                </a:rPr>
                <a:t>post</a:t>
              </a:r>
            </a:p>
          </p:txBody>
        </p:sp>
        <p:sp>
          <p:nvSpPr>
            <p:cNvPr id="29" name="TextBox 29"/>
            <p:cNvSpPr txBox="1"/>
            <p:nvPr/>
          </p:nvSpPr>
          <p:spPr>
            <a:xfrm>
              <a:off x="7948612" y="3136106"/>
              <a:ext cx="635026" cy="228600"/>
            </a:xfrm>
            <a:prstGeom prst="rect">
              <a:avLst/>
            </a:prstGeom>
            <a:noFill/>
            <a:ln>
              <a:noFill/>
            </a:ln>
          </p:spPr>
          <p:txBody>
            <a:bodyPr wrap="none" lIns="0" tIns="0" rIns="0" bIns="0" anchor="t" anchorCtr="0">
              <a:spAutoFit/>
            </a:bodyPr>
            <a:lstStyle/>
            <a:p>
              <a:pPr algn="l"/>
              <a:r>
                <a:rPr lang="zh-CN" sz="1125" b="1" dirty="0">
                  <a:solidFill>
                    <a:srgbClr val="111827"/>
                  </a:solidFill>
                  <a:latin typeface="Arial"/>
                  <a:ea typeface="Microsoft YaHei"/>
                  <a:cs typeface="Arial"/>
                </a:rPr>
                <a:t>process</a:t>
              </a:r>
            </a:p>
          </p:txBody>
        </p:sp>
        <p:sp>
          <p:nvSpPr>
            <p:cNvPr id="30" name="TextBox 30"/>
            <p:cNvSpPr txBox="1"/>
            <p:nvPr/>
          </p:nvSpPr>
          <p:spPr>
            <a:xfrm>
              <a:off x="9548812" y="3040856"/>
              <a:ext cx="642902" cy="228600"/>
            </a:xfrm>
            <a:prstGeom prst="rect">
              <a:avLst/>
            </a:prstGeom>
            <a:noFill/>
            <a:ln>
              <a:noFill/>
            </a:ln>
          </p:spPr>
          <p:txBody>
            <a:bodyPr wrap="none" lIns="0" tIns="0" rIns="0" bIns="0" anchor="t" anchorCtr="0">
              <a:spAutoFit/>
            </a:bodyPr>
            <a:lstStyle/>
            <a:p>
              <a:pPr algn="l"/>
              <a:r>
                <a:rPr lang="zh-CN" sz="1125" b="1" dirty="0">
                  <a:solidFill>
                    <a:srgbClr val="111827"/>
                  </a:solidFill>
                  <a:latin typeface="Arial"/>
                  <a:ea typeface="Microsoft YaHei"/>
                  <a:cs typeface="Arial"/>
                </a:rPr>
                <a:t>validate</a:t>
              </a:r>
            </a:p>
          </p:txBody>
        </p:sp>
        <p:sp>
          <p:nvSpPr>
            <p:cNvPr id="31" name="TextBox 31"/>
            <p:cNvSpPr txBox="1"/>
            <p:nvPr/>
          </p:nvSpPr>
          <p:spPr>
            <a:xfrm>
              <a:off x="10920412" y="3040856"/>
              <a:ext cx="548390" cy="228600"/>
            </a:xfrm>
            <a:prstGeom prst="rect">
              <a:avLst/>
            </a:prstGeom>
            <a:noFill/>
            <a:ln>
              <a:noFill/>
            </a:ln>
          </p:spPr>
          <p:txBody>
            <a:bodyPr wrap="none" lIns="0" tIns="0" rIns="0" bIns="0" anchor="t" anchorCtr="0">
              <a:spAutoFit/>
            </a:bodyPr>
            <a:lstStyle/>
            <a:p>
              <a:pPr algn="l"/>
              <a:r>
                <a:rPr lang="zh-CN" sz="1125" b="1" dirty="0">
                  <a:solidFill>
                    <a:srgbClr val="111827"/>
                  </a:solidFill>
                  <a:latin typeface="Arial"/>
                  <a:ea typeface="Microsoft YaHei"/>
                  <a:cs typeface="Arial"/>
                </a:rPr>
                <a:t>report</a:t>
              </a:r>
            </a:p>
          </p:txBody>
        </p:sp>
      </p:grpSp>
      <p:grpSp>
        <p:nvGrpSpPr>
          <p:cNvPr id="47" name="Group 47"/>
          <p:cNvGrpSpPr/>
          <p:nvPr/>
        </p:nvGrpSpPr>
        <p:grpSpPr>
          <a:xfrm>
            <a:off x="1790700" y="3048000"/>
            <a:ext cx="8858250" cy="133350"/>
            <a:chOff x="1790700" y="3048000"/>
            <a:chExt cx="8858250" cy="133350"/>
          </a:xfrm>
        </p:grpSpPr>
        <p:sp>
          <p:nvSpPr>
            <p:cNvPr id="33" name="Line 33"/>
            <p:cNvSpPr/>
            <p:nvPr/>
          </p:nvSpPr>
          <p:spPr>
            <a:xfrm>
              <a:off x="1790700" y="3114675"/>
              <a:ext cx="171450" cy="9525"/>
            </a:xfrm>
            <a:custGeom>
              <a:avLst/>
              <a:gdLst/>
              <a:ahLst/>
              <a:cxnLst/>
              <a:rect l="l" t="t" r="r" b="b"/>
              <a:pathLst>
                <a:path w="171450" h="9525">
                  <a:moveTo>
                    <a:pt x="0" y="0"/>
                  </a:moveTo>
                  <a:lnTo>
                    <a:pt x="171450" y="0"/>
                  </a:lnTo>
                </a:path>
              </a:pathLst>
            </a:custGeom>
            <a:noFill/>
            <a:ln w="28575">
              <a:solidFill>
                <a:srgbClr val="146EB4"/>
              </a:solidFill>
            </a:ln>
          </p:spPr>
        </p:sp>
        <p:sp>
          <p:nvSpPr>
            <p:cNvPr id="34" name="Polygon 34"/>
            <p:cNvSpPr/>
            <p:nvPr/>
          </p:nvSpPr>
          <p:spPr>
            <a:xfrm>
              <a:off x="1857375" y="3048000"/>
              <a:ext cx="104775" cy="133350"/>
            </a:xfrm>
            <a:custGeom>
              <a:avLst/>
              <a:gdLst/>
              <a:ahLst/>
              <a:cxnLst/>
              <a:rect l="l" t="t" r="r" b="b"/>
              <a:pathLst>
                <a:path w="104775" h="133350">
                  <a:moveTo>
                    <a:pt x="104775" y="66675"/>
                  </a:moveTo>
                  <a:lnTo>
                    <a:pt x="0" y="0"/>
                  </a:lnTo>
                  <a:lnTo>
                    <a:pt x="0" y="133350"/>
                  </a:lnTo>
                  <a:close/>
                </a:path>
              </a:pathLst>
            </a:custGeom>
            <a:solidFill>
              <a:srgbClr val="146EB4"/>
            </a:solidFill>
            <a:ln>
              <a:noFill/>
            </a:ln>
          </p:spPr>
        </p:sp>
        <p:sp>
          <p:nvSpPr>
            <p:cNvPr id="35" name="Line 35"/>
            <p:cNvSpPr/>
            <p:nvPr/>
          </p:nvSpPr>
          <p:spPr>
            <a:xfrm>
              <a:off x="3238500" y="3114675"/>
              <a:ext cx="171450" cy="9525"/>
            </a:xfrm>
            <a:custGeom>
              <a:avLst/>
              <a:gdLst/>
              <a:ahLst/>
              <a:cxnLst/>
              <a:rect l="l" t="t" r="r" b="b"/>
              <a:pathLst>
                <a:path w="171450" h="9525">
                  <a:moveTo>
                    <a:pt x="0" y="0"/>
                  </a:moveTo>
                  <a:lnTo>
                    <a:pt x="171450" y="0"/>
                  </a:lnTo>
                </a:path>
              </a:pathLst>
            </a:custGeom>
            <a:noFill/>
            <a:ln w="28575">
              <a:solidFill>
                <a:srgbClr val="146EB4"/>
              </a:solidFill>
            </a:ln>
          </p:spPr>
        </p:sp>
        <p:sp>
          <p:nvSpPr>
            <p:cNvPr id="36" name="Polygon 36"/>
            <p:cNvSpPr/>
            <p:nvPr/>
          </p:nvSpPr>
          <p:spPr>
            <a:xfrm>
              <a:off x="3305175" y="3048000"/>
              <a:ext cx="104775" cy="133350"/>
            </a:xfrm>
            <a:custGeom>
              <a:avLst/>
              <a:gdLst/>
              <a:ahLst/>
              <a:cxnLst/>
              <a:rect l="l" t="t" r="r" b="b"/>
              <a:pathLst>
                <a:path w="104775" h="133350">
                  <a:moveTo>
                    <a:pt x="104775" y="66675"/>
                  </a:moveTo>
                  <a:lnTo>
                    <a:pt x="0" y="0"/>
                  </a:lnTo>
                  <a:lnTo>
                    <a:pt x="0" y="133350"/>
                  </a:lnTo>
                  <a:close/>
                </a:path>
              </a:pathLst>
            </a:custGeom>
            <a:solidFill>
              <a:srgbClr val="146EB4"/>
            </a:solidFill>
            <a:ln>
              <a:noFill/>
            </a:ln>
          </p:spPr>
        </p:sp>
        <p:sp>
          <p:nvSpPr>
            <p:cNvPr id="37" name="Line 37"/>
            <p:cNvSpPr/>
            <p:nvPr/>
          </p:nvSpPr>
          <p:spPr>
            <a:xfrm>
              <a:off x="4686300" y="3114675"/>
              <a:ext cx="171450" cy="9525"/>
            </a:xfrm>
            <a:custGeom>
              <a:avLst/>
              <a:gdLst/>
              <a:ahLst/>
              <a:cxnLst/>
              <a:rect l="l" t="t" r="r" b="b"/>
              <a:pathLst>
                <a:path w="171450" h="9525">
                  <a:moveTo>
                    <a:pt x="0" y="0"/>
                  </a:moveTo>
                  <a:lnTo>
                    <a:pt x="171450" y="0"/>
                  </a:lnTo>
                </a:path>
              </a:pathLst>
            </a:custGeom>
            <a:noFill/>
            <a:ln w="28575">
              <a:solidFill>
                <a:srgbClr val="146EB4"/>
              </a:solidFill>
            </a:ln>
          </p:spPr>
        </p:sp>
        <p:sp>
          <p:nvSpPr>
            <p:cNvPr id="38" name="Polygon 38"/>
            <p:cNvSpPr/>
            <p:nvPr/>
          </p:nvSpPr>
          <p:spPr>
            <a:xfrm>
              <a:off x="4752975" y="3048000"/>
              <a:ext cx="104775" cy="133350"/>
            </a:xfrm>
            <a:custGeom>
              <a:avLst/>
              <a:gdLst/>
              <a:ahLst/>
              <a:cxnLst/>
              <a:rect l="l" t="t" r="r" b="b"/>
              <a:pathLst>
                <a:path w="104775" h="133350">
                  <a:moveTo>
                    <a:pt x="104775" y="66675"/>
                  </a:moveTo>
                  <a:lnTo>
                    <a:pt x="0" y="0"/>
                  </a:lnTo>
                  <a:lnTo>
                    <a:pt x="0" y="133350"/>
                  </a:lnTo>
                  <a:close/>
                </a:path>
              </a:pathLst>
            </a:custGeom>
            <a:solidFill>
              <a:srgbClr val="146EB4"/>
            </a:solidFill>
            <a:ln>
              <a:noFill/>
            </a:ln>
          </p:spPr>
        </p:sp>
        <p:sp>
          <p:nvSpPr>
            <p:cNvPr id="39" name="Line 39"/>
            <p:cNvSpPr/>
            <p:nvPr/>
          </p:nvSpPr>
          <p:spPr>
            <a:xfrm>
              <a:off x="6134100" y="3114675"/>
              <a:ext cx="171450" cy="9525"/>
            </a:xfrm>
            <a:custGeom>
              <a:avLst/>
              <a:gdLst/>
              <a:ahLst/>
              <a:cxnLst/>
              <a:rect l="l" t="t" r="r" b="b"/>
              <a:pathLst>
                <a:path w="171450" h="9525">
                  <a:moveTo>
                    <a:pt x="0" y="0"/>
                  </a:moveTo>
                  <a:lnTo>
                    <a:pt x="171450" y="0"/>
                  </a:lnTo>
                </a:path>
              </a:pathLst>
            </a:custGeom>
            <a:noFill/>
            <a:ln w="28575">
              <a:solidFill>
                <a:srgbClr val="146EB4"/>
              </a:solidFill>
            </a:ln>
          </p:spPr>
        </p:sp>
        <p:sp>
          <p:nvSpPr>
            <p:cNvPr id="40" name="Polygon 40"/>
            <p:cNvSpPr/>
            <p:nvPr/>
          </p:nvSpPr>
          <p:spPr>
            <a:xfrm>
              <a:off x="6200775" y="3048000"/>
              <a:ext cx="104775" cy="133350"/>
            </a:xfrm>
            <a:custGeom>
              <a:avLst/>
              <a:gdLst/>
              <a:ahLst/>
              <a:cxnLst/>
              <a:rect l="l" t="t" r="r" b="b"/>
              <a:pathLst>
                <a:path w="104775" h="133350">
                  <a:moveTo>
                    <a:pt x="104775" y="66675"/>
                  </a:moveTo>
                  <a:lnTo>
                    <a:pt x="0" y="0"/>
                  </a:lnTo>
                  <a:lnTo>
                    <a:pt x="0" y="133350"/>
                  </a:lnTo>
                  <a:close/>
                </a:path>
              </a:pathLst>
            </a:custGeom>
            <a:solidFill>
              <a:srgbClr val="146EB4"/>
            </a:solidFill>
            <a:ln>
              <a:noFill/>
            </a:ln>
          </p:spPr>
        </p:sp>
        <p:sp>
          <p:nvSpPr>
            <p:cNvPr id="41" name="Line 41"/>
            <p:cNvSpPr/>
            <p:nvPr/>
          </p:nvSpPr>
          <p:spPr>
            <a:xfrm>
              <a:off x="7581900" y="3114675"/>
              <a:ext cx="171450" cy="9525"/>
            </a:xfrm>
            <a:custGeom>
              <a:avLst/>
              <a:gdLst/>
              <a:ahLst/>
              <a:cxnLst/>
              <a:rect l="l" t="t" r="r" b="b"/>
              <a:pathLst>
                <a:path w="171450" h="9525">
                  <a:moveTo>
                    <a:pt x="0" y="0"/>
                  </a:moveTo>
                  <a:lnTo>
                    <a:pt x="171450" y="0"/>
                  </a:lnTo>
                </a:path>
              </a:pathLst>
            </a:custGeom>
            <a:noFill/>
            <a:ln w="28575">
              <a:solidFill>
                <a:srgbClr val="146EB4"/>
              </a:solidFill>
            </a:ln>
          </p:spPr>
        </p:sp>
        <p:sp>
          <p:nvSpPr>
            <p:cNvPr id="42" name="Polygon 42"/>
            <p:cNvSpPr/>
            <p:nvPr/>
          </p:nvSpPr>
          <p:spPr>
            <a:xfrm>
              <a:off x="7648575" y="3048000"/>
              <a:ext cx="104775" cy="133350"/>
            </a:xfrm>
            <a:custGeom>
              <a:avLst/>
              <a:gdLst/>
              <a:ahLst/>
              <a:cxnLst/>
              <a:rect l="l" t="t" r="r" b="b"/>
              <a:pathLst>
                <a:path w="104775" h="133350">
                  <a:moveTo>
                    <a:pt x="104775" y="66675"/>
                  </a:moveTo>
                  <a:lnTo>
                    <a:pt x="0" y="0"/>
                  </a:lnTo>
                  <a:lnTo>
                    <a:pt x="0" y="133350"/>
                  </a:lnTo>
                  <a:close/>
                </a:path>
              </a:pathLst>
            </a:custGeom>
            <a:solidFill>
              <a:srgbClr val="146EB4"/>
            </a:solidFill>
            <a:ln>
              <a:noFill/>
            </a:ln>
          </p:spPr>
        </p:sp>
        <p:sp>
          <p:nvSpPr>
            <p:cNvPr id="43" name="Line 43"/>
            <p:cNvSpPr/>
            <p:nvPr/>
          </p:nvSpPr>
          <p:spPr>
            <a:xfrm>
              <a:off x="9029700" y="3114675"/>
              <a:ext cx="171450" cy="9525"/>
            </a:xfrm>
            <a:custGeom>
              <a:avLst/>
              <a:gdLst/>
              <a:ahLst/>
              <a:cxnLst/>
              <a:rect l="l" t="t" r="r" b="b"/>
              <a:pathLst>
                <a:path w="171450" h="9525">
                  <a:moveTo>
                    <a:pt x="0" y="0"/>
                  </a:moveTo>
                  <a:lnTo>
                    <a:pt x="171450" y="0"/>
                  </a:lnTo>
                </a:path>
              </a:pathLst>
            </a:custGeom>
            <a:noFill/>
            <a:ln w="28575">
              <a:solidFill>
                <a:srgbClr val="146EB4"/>
              </a:solidFill>
            </a:ln>
          </p:spPr>
        </p:sp>
        <p:sp>
          <p:nvSpPr>
            <p:cNvPr id="44" name="Polygon 44"/>
            <p:cNvSpPr/>
            <p:nvPr/>
          </p:nvSpPr>
          <p:spPr>
            <a:xfrm>
              <a:off x="9096375" y="3048000"/>
              <a:ext cx="104775" cy="133350"/>
            </a:xfrm>
            <a:custGeom>
              <a:avLst/>
              <a:gdLst/>
              <a:ahLst/>
              <a:cxnLst/>
              <a:rect l="l" t="t" r="r" b="b"/>
              <a:pathLst>
                <a:path w="104775" h="133350">
                  <a:moveTo>
                    <a:pt x="104775" y="66675"/>
                  </a:moveTo>
                  <a:lnTo>
                    <a:pt x="0" y="0"/>
                  </a:lnTo>
                  <a:lnTo>
                    <a:pt x="0" y="133350"/>
                  </a:lnTo>
                  <a:close/>
                </a:path>
              </a:pathLst>
            </a:custGeom>
            <a:solidFill>
              <a:srgbClr val="146EB4"/>
            </a:solidFill>
            <a:ln>
              <a:noFill/>
            </a:ln>
          </p:spPr>
        </p:sp>
        <p:sp>
          <p:nvSpPr>
            <p:cNvPr id="45" name="Line 45"/>
            <p:cNvSpPr/>
            <p:nvPr/>
          </p:nvSpPr>
          <p:spPr>
            <a:xfrm>
              <a:off x="10477500" y="3114675"/>
              <a:ext cx="171450" cy="9525"/>
            </a:xfrm>
            <a:custGeom>
              <a:avLst/>
              <a:gdLst/>
              <a:ahLst/>
              <a:cxnLst/>
              <a:rect l="l" t="t" r="r" b="b"/>
              <a:pathLst>
                <a:path w="171450" h="9525">
                  <a:moveTo>
                    <a:pt x="0" y="0"/>
                  </a:moveTo>
                  <a:lnTo>
                    <a:pt x="171450" y="0"/>
                  </a:lnTo>
                </a:path>
              </a:pathLst>
            </a:custGeom>
            <a:noFill/>
            <a:ln w="28575">
              <a:solidFill>
                <a:srgbClr val="0F766E"/>
              </a:solidFill>
            </a:ln>
          </p:spPr>
        </p:sp>
        <p:sp>
          <p:nvSpPr>
            <p:cNvPr id="46" name="Polygon 46"/>
            <p:cNvSpPr/>
            <p:nvPr/>
          </p:nvSpPr>
          <p:spPr>
            <a:xfrm>
              <a:off x="10544175" y="3048000"/>
              <a:ext cx="104775" cy="133350"/>
            </a:xfrm>
            <a:custGeom>
              <a:avLst/>
              <a:gdLst/>
              <a:ahLst/>
              <a:cxnLst/>
              <a:rect l="l" t="t" r="r" b="b"/>
              <a:pathLst>
                <a:path w="104775" h="133350">
                  <a:moveTo>
                    <a:pt x="104775" y="66675"/>
                  </a:moveTo>
                  <a:lnTo>
                    <a:pt x="0" y="0"/>
                  </a:lnTo>
                  <a:lnTo>
                    <a:pt x="0" y="133350"/>
                  </a:lnTo>
                  <a:close/>
                </a:path>
              </a:pathLst>
            </a:custGeom>
            <a:solidFill>
              <a:srgbClr val="0F766E"/>
            </a:solidFill>
            <a:ln>
              <a:noFill/>
            </a:ln>
          </p:spPr>
        </p:sp>
      </p:grpSp>
      <p:grpSp>
        <p:nvGrpSpPr>
          <p:cNvPr id="57" name="Group 57"/>
          <p:cNvGrpSpPr/>
          <p:nvPr/>
        </p:nvGrpSpPr>
        <p:grpSpPr>
          <a:xfrm>
            <a:off x="2533650" y="1982152"/>
            <a:ext cx="7315200" cy="3670936"/>
            <a:chOff x="2533650" y="1982152"/>
            <a:chExt cx="7315200" cy="3670936"/>
          </a:xfrm>
        </p:grpSpPr>
        <p:sp>
          <p:nvSpPr>
            <p:cNvPr id="48" name="Freeform 48"/>
            <p:cNvSpPr/>
            <p:nvPr/>
          </p:nvSpPr>
          <p:spPr>
            <a:xfrm>
              <a:off x="6953250" y="2038350"/>
              <a:ext cx="2895600" cy="647700"/>
            </a:xfrm>
            <a:custGeom>
              <a:avLst/>
              <a:gdLst/>
              <a:ahLst/>
              <a:cxnLst/>
              <a:rect l="l" t="t" r="r" b="b"/>
              <a:pathLst>
                <a:path w="2895600" h="647700">
                  <a:moveTo>
                    <a:pt x="2895600" y="647700"/>
                  </a:moveTo>
                  <a:cubicBezTo>
                    <a:pt x="2895600" y="76200"/>
                    <a:pt x="0" y="0"/>
                    <a:pt x="0" y="609600"/>
                  </a:cubicBezTo>
                </a:path>
              </a:pathLst>
            </a:custGeom>
            <a:noFill/>
            <a:ln w="28575">
              <a:solidFill>
                <a:srgbClr val="FF9900"/>
              </a:solidFill>
            </a:ln>
          </p:spPr>
        </p:sp>
        <p:sp>
          <p:nvSpPr>
            <p:cNvPr id="49" name="Polygon 49"/>
            <p:cNvSpPr/>
            <p:nvPr/>
          </p:nvSpPr>
          <p:spPr>
            <a:xfrm>
              <a:off x="6877050" y="2524125"/>
              <a:ext cx="152400" cy="123825"/>
            </a:xfrm>
            <a:custGeom>
              <a:avLst/>
              <a:gdLst/>
              <a:ahLst/>
              <a:cxnLst/>
              <a:rect l="l" t="t" r="r" b="b"/>
              <a:pathLst>
                <a:path w="152400" h="123825">
                  <a:moveTo>
                    <a:pt x="76200" y="123825"/>
                  </a:moveTo>
                  <a:lnTo>
                    <a:pt x="0" y="0"/>
                  </a:lnTo>
                  <a:lnTo>
                    <a:pt x="152400" y="0"/>
                  </a:lnTo>
                  <a:close/>
                </a:path>
              </a:pathLst>
            </a:custGeom>
            <a:solidFill>
              <a:srgbClr val="FF9900"/>
            </a:solidFill>
            <a:ln>
              <a:noFill/>
            </a:ln>
          </p:spPr>
        </p:sp>
        <p:sp>
          <p:nvSpPr>
            <p:cNvPr id="50" name="TextBox 50"/>
            <p:cNvSpPr txBox="1"/>
            <p:nvPr/>
          </p:nvSpPr>
          <p:spPr>
            <a:xfrm>
              <a:off x="7530465" y="1982152"/>
              <a:ext cx="879377" cy="213360"/>
            </a:xfrm>
            <a:prstGeom prst="rect">
              <a:avLst/>
            </a:prstGeom>
            <a:noFill/>
            <a:ln>
              <a:noFill/>
            </a:ln>
          </p:spPr>
          <p:txBody>
            <a:bodyPr wrap="none" lIns="0" tIns="0" rIns="0" bIns="0" anchor="t" anchorCtr="0">
              <a:spAutoFit/>
            </a:bodyPr>
            <a:lstStyle/>
            <a:p>
              <a:pPr algn="l"/>
              <a:r>
                <a:rPr lang="zh-CN" sz="1050" b="1" dirty="0">
                  <a:solidFill>
                    <a:srgbClr val="FF9900"/>
                  </a:solidFill>
                  <a:latin typeface="Arial"/>
                  <a:ea typeface="Microsoft YaHei"/>
                  <a:cs typeface="Arial"/>
                </a:rPr>
                <a:t>retry shots</a:t>
              </a:r>
            </a:p>
          </p:txBody>
        </p:sp>
        <p:sp>
          <p:nvSpPr>
            <p:cNvPr id="51" name="Freeform 51"/>
            <p:cNvSpPr/>
            <p:nvPr/>
          </p:nvSpPr>
          <p:spPr>
            <a:xfrm>
              <a:off x="4057650" y="3543300"/>
              <a:ext cx="5619750" cy="1085850"/>
            </a:xfrm>
            <a:custGeom>
              <a:avLst/>
              <a:gdLst/>
              <a:ahLst/>
              <a:cxnLst/>
              <a:rect l="l" t="t" r="r" b="b"/>
              <a:pathLst>
                <a:path w="5619750" h="1085850">
                  <a:moveTo>
                    <a:pt x="5619750" y="0"/>
                  </a:moveTo>
                  <a:cubicBezTo>
                    <a:pt x="5619750" y="1085850"/>
                    <a:pt x="0" y="1085850"/>
                    <a:pt x="0" y="38100"/>
                  </a:cubicBezTo>
                </a:path>
              </a:pathLst>
            </a:custGeom>
            <a:noFill/>
            <a:ln w="28575">
              <a:solidFill>
                <a:srgbClr val="DC2626"/>
              </a:solidFill>
            </a:ln>
          </p:spPr>
        </p:sp>
        <p:sp>
          <p:nvSpPr>
            <p:cNvPr id="52" name="Polygon 52"/>
            <p:cNvSpPr/>
            <p:nvPr/>
          </p:nvSpPr>
          <p:spPr>
            <a:xfrm>
              <a:off x="3981450" y="3581400"/>
              <a:ext cx="152400" cy="123825"/>
            </a:xfrm>
            <a:custGeom>
              <a:avLst/>
              <a:gdLst/>
              <a:ahLst/>
              <a:cxnLst/>
              <a:rect l="l" t="t" r="r" b="b"/>
              <a:pathLst>
                <a:path w="152400" h="123825">
                  <a:moveTo>
                    <a:pt x="76200" y="0"/>
                  </a:moveTo>
                  <a:lnTo>
                    <a:pt x="0" y="123825"/>
                  </a:lnTo>
                  <a:lnTo>
                    <a:pt x="152400" y="123825"/>
                  </a:lnTo>
                  <a:close/>
                </a:path>
              </a:pathLst>
            </a:custGeom>
            <a:solidFill>
              <a:srgbClr val="DC2626"/>
            </a:solidFill>
            <a:ln>
              <a:noFill/>
            </a:ln>
          </p:spPr>
        </p:sp>
        <p:sp>
          <p:nvSpPr>
            <p:cNvPr id="53" name="TextBox 53"/>
            <p:cNvSpPr txBox="1"/>
            <p:nvPr/>
          </p:nvSpPr>
          <p:spPr>
            <a:xfrm>
              <a:off x="5701665" y="4677728"/>
              <a:ext cx="1254273" cy="213360"/>
            </a:xfrm>
            <a:prstGeom prst="rect">
              <a:avLst/>
            </a:prstGeom>
            <a:noFill/>
            <a:ln>
              <a:noFill/>
            </a:ln>
          </p:spPr>
          <p:txBody>
            <a:bodyPr wrap="none" lIns="0" tIns="0" rIns="0" bIns="0" anchor="t" anchorCtr="0">
              <a:spAutoFit/>
            </a:bodyPr>
            <a:lstStyle/>
            <a:p>
              <a:pPr algn="l"/>
              <a:r>
                <a:rPr lang="zh-CN" sz="1050" b="1" dirty="0">
                  <a:solidFill>
                    <a:srgbClr val="DC2626"/>
                  </a:solidFill>
                  <a:latin typeface="Arial"/>
                  <a:ea typeface="Microsoft YaHei"/>
                  <a:cs typeface="Arial"/>
                </a:rPr>
                <a:t>retry calibration</a:t>
              </a:r>
            </a:p>
          </p:txBody>
        </p:sp>
        <p:sp>
          <p:nvSpPr>
            <p:cNvPr id="54" name="Freeform 54"/>
            <p:cNvSpPr/>
            <p:nvPr/>
          </p:nvSpPr>
          <p:spPr>
            <a:xfrm>
              <a:off x="2609850" y="3543300"/>
              <a:ext cx="6915150" cy="1847850"/>
            </a:xfrm>
            <a:custGeom>
              <a:avLst/>
              <a:gdLst/>
              <a:ahLst/>
              <a:cxnLst/>
              <a:rect l="l" t="t" r="r" b="b"/>
              <a:pathLst>
                <a:path w="6915150" h="1847850">
                  <a:moveTo>
                    <a:pt x="6915150" y="0"/>
                  </a:moveTo>
                  <a:cubicBezTo>
                    <a:pt x="6915150" y="1847850"/>
                    <a:pt x="0" y="1847850"/>
                    <a:pt x="0" y="38100"/>
                  </a:cubicBezTo>
                </a:path>
              </a:pathLst>
            </a:custGeom>
            <a:noFill/>
            <a:ln w="28575">
              <a:solidFill>
                <a:srgbClr val="0F766E"/>
              </a:solidFill>
            </a:ln>
          </p:spPr>
        </p:sp>
        <p:sp>
          <p:nvSpPr>
            <p:cNvPr id="55" name="Polygon 55"/>
            <p:cNvSpPr/>
            <p:nvPr/>
          </p:nvSpPr>
          <p:spPr>
            <a:xfrm>
              <a:off x="2533650" y="3581400"/>
              <a:ext cx="152400" cy="123825"/>
            </a:xfrm>
            <a:custGeom>
              <a:avLst/>
              <a:gdLst/>
              <a:ahLst/>
              <a:cxnLst/>
              <a:rect l="l" t="t" r="r" b="b"/>
              <a:pathLst>
                <a:path w="152400" h="123825">
                  <a:moveTo>
                    <a:pt x="76200" y="0"/>
                  </a:moveTo>
                  <a:lnTo>
                    <a:pt x="0" y="123825"/>
                  </a:lnTo>
                  <a:lnTo>
                    <a:pt x="152400" y="123825"/>
                  </a:lnTo>
                  <a:close/>
                </a:path>
              </a:pathLst>
            </a:custGeom>
            <a:solidFill>
              <a:srgbClr val="0F766E"/>
            </a:solidFill>
            <a:ln>
              <a:noFill/>
            </a:ln>
          </p:spPr>
        </p:sp>
        <p:sp>
          <p:nvSpPr>
            <p:cNvPr id="56" name="TextBox 56"/>
            <p:cNvSpPr txBox="1"/>
            <p:nvPr/>
          </p:nvSpPr>
          <p:spPr>
            <a:xfrm>
              <a:off x="5301615" y="5439728"/>
              <a:ext cx="1121957" cy="213360"/>
            </a:xfrm>
            <a:prstGeom prst="rect">
              <a:avLst/>
            </a:prstGeom>
            <a:noFill/>
            <a:ln>
              <a:noFill/>
            </a:ln>
          </p:spPr>
          <p:txBody>
            <a:bodyPr wrap="none" lIns="0" tIns="0" rIns="0" bIns="0" anchor="t" anchorCtr="0">
              <a:spAutoFit/>
            </a:bodyPr>
            <a:lstStyle/>
            <a:p>
              <a:pPr algn="l"/>
              <a:r>
                <a:rPr lang="zh-CN" sz="1050" b="1" dirty="0">
                  <a:solidFill>
                    <a:srgbClr val="0F766E"/>
                  </a:solidFill>
                  <a:latin typeface="Arial"/>
                  <a:ea typeface="Microsoft YaHei"/>
                  <a:cs typeface="Arial"/>
                </a:rPr>
                <a:t>retry strategy</a:t>
              </a:r>
            </a:p>
          </p:txBody>
        </p:sp>
      </p:grpSp>
      <p:grpSp>
        <p:nvGrpSpPr>
          <p:cNvPr id="67" name="Group 67"/>
          <p:cNvGrpSpPr/>
          <p:nvPr/>
        </p:nvGrpSpPr>
        <p:grpSpPr>
          <a:xfrm>
            <a:off x="876300" y="4324350"/>
            <a:ext cx="9544050" cy="723900"/>
            <a:chOff x="876300" y="4324350"/>
            <a:chExt cx="9544050" cy="723900"/>
          </a:xfrm>
        </p:grpSpPr>
        <p:sp>
          <p:nvSpPr>
            <p:cNvPr id="58" name="Rectangle 58"/>
            <p:cNvSpPr/>
            <p:nvPr/>
          </p:nvSpPr>
          <p:spPr>
            <a:xfrm>
              <a:off x="876300" y="4324350"/>
              <a:ext cx="2647950" cy="723900"/>
            </a:xfrm>
            <a:prstGeom prst="roundRect">
              <a:avLst>
                <a:gd name="adj" fmla="val 10526"/>
              </a:avLst>
            </a:prstGeom>
            <a:solidFill>
              <a:srgbClr val="F6F8FB"/>
            </a:solidFill>
            <a:ln w="19050">
              <a:solidFill>
                <a:srgbClr val="D9E2EC"/>
              </a:solidFill>
            </a:ln>
          </p:spPr>
        </p:sp>
        <p:sp>
          <p:nvSpPr>
            <p:cNvPr id="59" name="TextBox 59"/>
            <p:cNvSpPr txBox="1"/>
            <p:nvPr/>
          </p:nvSpPr>
          <p:spPr>
            <a:xfrm>
              <a:off x="1108710" y="4499610"/>
              <a:ext cx="1937518" cy="243840"/>
            </a:xfrm>
            <a:prstGeom prst="rect">
              <a:avLst/>
            </a:prstGeom>
            <a:noFill/>
            <a:ln>
              <a:noFill/>
            </a:ln>
          </p:spPr>
          <p:txBody>
            <a:bodyPr wrap="none" lIns="0" tIns="0" rIns="0" bIns="0" anchor="t" anchorCtr="0">
              <a:spAutoFit/>
            </a:bodyPr>
            <a:lstStyle/>
            <a:p>
              <a:pPr algn="l"/>
              <a:r>
                <a:rPr lang="zh-CN" sz="1200" b="1" dirty="0">
                  <a:solidFill>
                    <a:srgbClr val="111827"/>
                  </a:solidFill>
                  <a:latin typeface="Arial"/>
                  <a:ea typeface="Microsoft YaHei"/>
                  <a:cs typeface="Arial"/>
                </a:rPr>
                <a:t>Cheap characterization</a:t>
              </a:r>
            </a:p>
          </p:txBody>
        </p:sp>
        <p:sp>
          <p:nvSpPr>
            <p:cNvPr id="60" name="TextBox 60"/>
            <p:cNvSpPr txBox="1"/>
            <p:nvPr/>
          </p:nvSpPr>
          <p:spPr>
            <a:xfrm>
              <a:off x="1110615" y="4763452"/>
              <a:ext cx="1461849" cy="213360"/>
            </a:xfrm>
            <a:prstGeom prst="rect">
              <a:avLst/>
            </a:prstGeom>
            <a:noFill/>
            <a:ln>
              <a:noFill/>
            </a:ln>
          </p:spPr>
          <p:txBody>
            <a:bodyPr wrap="none" lIns="0" tIns="0" rIns="0" bIns="0" anchor="t" anchorCtr="0">
              <a:spAutoFit/>
            </a:bodyPr>
            <a:lstStyle/>
            <a:p>
              <a:pPr algn="l"/>
              <a:r>
                <a:rPr lang="zh-CN" sz="1050" dirty="0">
                  <a:solidFill>
                    <a:srgbClr val="475569"/>
                  </a:solidFill>
                  <a:latin typeface="Arial"/>
                  <a:ea typeface="Microsoft YaHei"/>
                  <a:cs typeface="Arial"/>
                </a:rPr>
                <a:t>readout + GHZ probes</a:t>
              </a:r>
            </a:p>
          </p:txBody>
        </p:sp>
        <p:sp>
          <p:nvSpPr>
            <p:cNvPr id="61" name="Rectangle 61"/>
            <p:cNvSpPr/>
            <p:nvPr/>
          </p:nvSpPr>
          <p:spPr>
            <a:xfrm>
              <a:off x="4324350" y="4324350"/>
              <a:ext cx="2647950" cy="723900"/>
            </a:xfrm>
            <a:prstGeom prst="roundRect">
              <a:avLst>
                <a:gd name="adj" fmla="val 10526"/>
              </a:avLst>
            </a:prstGeom>
            <a:solidFill>
              <a:srgbClr val="F6F8FB"/>
            </a:solidFill>
            <a:ln w="19050">
              <a:solidFill>
                <a:srgbClr val="D9E2EC"/>
              </a:solidFill>
            </a:ln>
          </p:spPr>
        </p:sp>
        <p:sp>
          <p:nvSpPr>
            <p:cNvPr id="62" name="TextBox 62"/>
            <p:cNvSpPr txBox="1"/>
            <p:nvPr/>
          </p:nvSpPr>
          <p:spPr>
            <a:xfrm>
              <a:off x="4556760" y="4499610"/>
              <a:ext cx="1878711" cy="243840"/>
            </a:xfrm>
            <a:prstGeom prst="rect">
              <a:avLst/>
            </a:prstGeom>
            <a:noFill/>
            <a:ln>
              <a:noFill/>
            </a:ln>
          </p:spPr>
          <p:txBody>
            <a:bodyPr wrap="none" lIns="0" tIns="0" rIns="0" bIns="0" anchor="t" anchorCtr="0">
              <a:spAutoFit/>
            </a:bodyPr>
            <a:lstStyle/>
            <a:p>
              <a:pPr algn="l"/>
              <a:r>
                <a:rPr lang="zh-CN" sz="1200" b="1" dirty="0">
                  <a:solidFill>
                    <a:srgbClr val="111827"/>
                  </a:solidFill>
                  <a:latin typeface="Arial"/>
                  <a:ea typeface="Microsoft YaHei"/>
                  <a:cs typeface="Arial"/>
                </a:rPr>
                <a:t>Program Set execution</a:t>
              </a:r>
            </a:p>
          </p:txBody>
        </p:sp>
        <p:sp>
          <p:nvSpPr>
            <p:cNvPr id="63" name="TextBox 63"/>
            <p:cNvSpPr txBox="1"/>
            <p:nvPr/>
          </p:nvSpPr>
          <p:spPr>
            <a:xfrm>
              <a:off x="4558665" y="4763452"/>
              <a:ext cx="2273951" cy="213360"/>
            </a:xfrm>
            <a:prstGeom prst="rect">
              <a:avLst/>
            </a:prstGeom>
            <a:noFill/>
            <a:ln>
              <a:noFill/>
            </a:ln>
          </p:spPr>
          <p:txBody>
            <a:bodyPr wrap="none" lIns="0" tIns="0" rIns="0" bIns="0" anchor="t" anchorCtr="0">
              <a:spAutoFit/>
            </a:bodyPr>
            <a:lstStyle/>
            <a:p>
              <a:pPr algn="l"/>
              <a:r>
                <a:rPr lang="zh-CN" sz="1050" dirty="0">
                  <a:solidFill>
                    <a:srgbClr val="475569"/>
                  </a:solidFill>
                  <a:latin typeface="Arial"/>
                  <a:ea typeface="Microsoft YaHei"/>
                  <a:cs typeface="Arial"/>
                </a:rPr>
                <a:t>batch variants, reduce overhead</a:t>
              </a:r>
            </a:p>
          </p:txBody>
        </p:sp>
        <p:sp>
          <p:nvSpPr>
            <p:cNvPr id="64" name="Rectangle 64"/>
            <p:cNvSpPr/>
            <p:nvPr/>
          </p:nvSpPr>
          <p:spPr>
            <a:xfrm>
              <a:off x="7772400" y="4324350"/>
              <a:ext cx="2647950" cy="723900"/>
            </a:xfrm>
            <a:prstGeom prst="roundRect">
              <a:avLst>
                <a:gd name="adj" fmla="val 10526"/>
              </a:avLst>
            </a:prstGeom>
            <a:solidFill>
              <a:srgbClr val="F6F8FB"/>
            </a:solidFill>
            <a:ln w="19050">
              <a:solidFill>
                <a:srgbClr val="D9E2EC"/>
              </a:solidFill>
            </a:ln>
          </p:spPr>
        </p:sp>
        <p:sp>
          <p:nvSpPr>
            <p:cNvPr id="65" name="TextBox 65"/>
            <p:cNvSpPr txBox="1"/>
            <p:nvPr/>
          </p:nvSpPr>
          <p:spPr>
            <a:xfrm>
              <a:off x="8004810" y="4499610"/>
              <a:ext cx="1458658" cy="243840"/>
            </a:xfrm>
            <a:prstGeom prst="rect">
              <a:avLst/>
            </a:prstGeom>
            <a:noFill/>
            <a:ln>
              <a:noFill/>
            </a:ln>
          </p:spPr>
          <p:txBody>
            <a:bodyPr wrap="none" lIns="0" tIns="0" rIns="0" bIns="0" anchor="t" anchorCtr="0">
              <a:spAutoFit/>
            </a:bodyPr>
            <a:lstStyle/>
            <a:p>
              <a:pPr algn="l"/>
              <a:r>
                <a:rPr lang="zh-CN" sz="1200" b="1" dirty="0">
                  <a:solidFill>
                    <a:srgbClr val="111827"/>
                  </a:solidFill>
                  <a:latin typeface="Arial"/>
                  <a:ea typeface="Microsoft YaHei"/>
                  <a:cs typeface="Arial"/>
                </a:rPr>
                <a:t>Stop when enough</a:t>
              </a:r>
            </a:p>
          </p:txBody>
        </p:sp>
        <p:sp>
          <p:nvSpPr>
            <p:cNvPr id="66" name="TextBox 66"/>
            <p:cNvSpPr txBox="1"/>
            <p:nvPr/>
          </p:nvSpPr>
          <p:spPr>
            <a:xfrm>
              <a:off x="8006715" y="4763452"/>
              <a:ext cx="2000917" cy="213360"/>
            </a:xfrm>
            <a:prstGeom prst="rect">
              <a:avLst/>
            </a:prstGeom>
            <a:noFill/>
            <a:ln>
              <a:noFill/>
            </a:ln>
          </p:spPr>
          <p:txBody>
            <a:bodyPr wrap="none" lIns="0" tIns="0" rIns="0" bIns="0" anchor="t" anchorCtr="0">
              <a:spAutoFit/>
            </a:bodyPr>
            <a:lstStyle/>
            <a:p>
              <a:pPr algn="l"/>
              <a:r>
                <a:rPr lang="zh-CN" sz="1050" dirty="0">
                  <a:solidFill>
                    <a:srgbClr val="475569"/>
                  </a:solidFill>
                  <a:latin typeface="Arial"/>
                  <a:ea typeface="Microsoft YaHei"/>
                  <a:cs typeface="Arial"/>
                </a:rPr>
                <a:t>target met before full stack</a:t>
              </a:r>
            </a:p>
          </p:txBody>
        </p:sp>
      </p:grpSp>
      <p:sp>
        <p:nvSpPr>
          <p:cNvPr id="68" name="TextBox 68"/>
          <p:cNvSpPr txBox="1"/>
          <p:nvPr/>
        </p:nvSpPr>
        <p:spPr>
          <a:xfrm>
            <a:off x="522922" y="6483191"/>
            <a:ext cx="3453384" cy="167640"/>
          </a:xfrm>
          <a:prstGeom prst="rect">
            <a:avLst/>
          </a:prstGeom>
          <a:noFill/>
          <a:ln>
            <a:noFill/>
          </a:ln>
        </p:spPr>
        <p:txBody>
          <a:bodyPr wrap="none" lIns="0" tIns="0" rIns="0" bIns="0" anchor="t" anchorCtr="0">
            <a:spAutoFit/>
          </a:bodyPr>
          <a:lstStyle/>
          <a:p>
            <a:pPr algn="l"/>
            <a:r>
              <a:rPr lang="zh-CN" sz="825" dirty="0">
                <a:solidFill>
                  <a:srgbClr val="94A3B8"/>
                </a:solidFill>
                <a:latin typeface="Arial"/>
                <a:ea typeface="Microsoft YaHei"/>
                <a:cs typeface="Arial"/>
              </a:rPr>
              <a:t>DAGEngine applies transitive invalidation from validate decisions</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wipe(left)">
                                      <p:cBhvr>
                                        <p:cTn id="11" dur="400"/>
                                        <p:tgtEl>
                                          <p:spTgt spid="32"/>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47"/>
                                        </p:tgtEl>
                                        <p:attrNameLst>
                                          <p:attrName>style.visibility</p:attrName>
                                        </p:attrNameLst>
                                      </p:cBhvr>
                                      <p:to>
                                        <p:strVal val="visible"/>
                                      </p:to>
                                    </p:set>
                                    <p:animEffect transition="in" filter="slide(fromBottom)">
                                      <p:cBhvr>
                                        <p:cTn id="15" dur="400"/>
                                        <p:tgtEl>
                                          <p:spTgt spid="47"/>
                                        </p:tgtEl>
                                      </p:cBhvr>
                                    </p:animEffect>
                                  </p:childTnLst>
                                </p:cTn>
                              </p:par>
                            </p:childTnLst>
                          </p:cTn>
                        </p:par>
                        <p:par>
                          <p:cTn id="16" fill="hold">
                            <p:stCondLst>
                              <p:cond delay="2700"/>
                            </p:stCondLst>
                            <p:childTnLst>
                              <p:par>
                                <p:cTn id="17" presetID="23" presetClass="entr" presetSubtype="0" fill="hold" nodeType="afterEffect">
                                  <p:stCondLst>
                                    <p:cond delay="0"/>
                                  </p:stCondLst>
                                  <p:childTnLst>
                                    <p:set>
                                      <p:cBhvr>
                                        <p:cTn id="18" dur="1" fill="hold">
                                          <p:stCondLst>
                                            <p:cond delay="0"/>
                                          </p:stCondLst>
                                        </p:cTn>
                                        <p:tgtEl>
                                          <p:spTgt spid="57"/>
                                        </p:tgtEl>
                                        <p:attrNameLst>
                                          <p:attrName>style.visibility</p:attrName>
                                        </p:attrNameLst>
                                      </p:cBhvr>
                                      <p:to>
                                        <p:strVal val="visible"/>
                                      </p:to>
                                    </p:set>
                                    <p:animEffect transition="in" filter="image">
                                      <p:cBhvr>
                                        <p:cTn id="19" dur="400"/>
                                        <p:tgtEl>
                                          <p:spTgt spid="57"/>
                                        </p:tgtEl>
                                      </p:cBhvr>
                                    </p:animEffect>
                                  </p:childTnLst>
                                </p:cTn>
                              </p:par>
                            </p:childTnLst>
                          </p:cTn>
                        </p:par>
                        <p:par>
                          <p:cTn id="20" fill="hold">
                            <p:stCondLst>
                              <p:cond delay="3600"/>
                            </p:stCondLst>
                            <p:childTnLst>
                              <p:par>
                                <p:cTn id="21" presetID="10" presetClass="entr" presetSubtype="0" fill="hold" nodeType="afterEffect">
                                  <p:stCondLst>
                                    <p:cond delay="0"/>
                                  </p:stCondLst>
                                  <p:childTnLst>
                                    <p:set>
                                      <p:cBhvr>
                                        <p:cTn id="22" dur="1" fill="hold">
                                          <p:stCondLst>
                                            <p:cond delay="0"/>
                                          </p:stCondLst>
                                        </p:cTn>
                                        <p:tgtEl>
                                          <p:spTgt spid="67"/>
                                        </p:tgtEl>
                                        <p:attrNameLst>
                                          <p:attrName>style.visibility</p:attrName>
                                        </p:attrNameLst>
                                      </p:cBhvr>
                                      <p:to>
                                        <p:strVal val="visible"/>
                                      </p:to>
                                    </p:set>
                                    <p:animEffect transition="in" filter="fade">
                                      <p:cBhvr>
                                        <p:cTn id="23" dur="4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32" grpId="0"/>
      <p:bldP spid="47" grpId="0"/>
      <p:bldP spid="57" grpId="0"/>
      <p:bldP spid="6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533400" y="419100"/>
              <a:ext cx="11125200" cy="9525"/>
            </a:xfrm>
            <a:prstGeom prst="rect">
              <a:avLst/>
            </a:prstGeom>
            <a:solidFill>
              <a:srgbClr val="D9E2EC"/>
            </a:solidFill>
            <a:ln>
              <a:noFill/>
            </a:ln>
          </p:spPr>
        </p:sp>
      </p:grpSp>
      <p:grpSp>
        <p:nvGrpSpPr>
          <p:cNvPr id="7" name="Group 7"/>
          <p:cNvGrpSpPr/>
          <p:nvPr/>
        </p:nvGrpSpPr>
        <p:grpSpPr>
          <a:xfrm>
            <a:off x="502920" y="560070"/>
            <a:ext cx="10783919" cy="487680"/>
            <a:chOff x="502920" y="560070"/>
            <a:chExt cx="10783919" cy="487680"/>
          </a:xfrm>
        </p:grpSpPr>
        <p:sp>
          <p:nvSpPr>
            <p:cNvPr id="5" name="TextBox 5"/>
            <p:cNvSpPr txBox="1"/>
            <p:nvPr/>
          </p:nvSpPr>
          <p:spPr>
            <a:xfrm>
              <a:off x="502920" y="560070"/>
              <a:ext cx="6849008" cy="487680"/>
            </a:xfrm>
            <a:prstGeom prst="rect">
              <a:avLst/>
            </a:prstGeom>
            <a:noFill/>
            <a:ln>
              <a:noFill/>
            </a:ln>
          </p:spPr>
          <p:txBody>
            <a:bodyPr wrap="none" lIns="0" tIns="0" rIns="0" bIns="0" anchor="t" anchorCtr="0">
              <a:spAutoFit/>
            </a:bodyPr>
            <a:lstStyle/>
            <a:p>
              <a:pPr algn="l"/>
              <a:r>
                <a:rPr lang="zh-CN" sz="2400" b="1" dirty="0">
                  <a:solidFill>
                    <a:srgbClr val="111827"/>
                  </a:solidFill>
                  <a:latin typeface="Arial"/>
                  <a:ea typeface="Microsoft YaHei"/>
                  <a:cs typeface="Arial"/>
                </a:rPr>
                <a:t>Probe cheaply, escalate only when needed</a:t>
              </a:r>
            </a:p>
          </p:txBody>
        </p:sp>
        <p:sp>
          <p:nvSpPr>
            <p:cNvPr id="6" name="TextBox 6"/>
            <p:cNvSpPr txBox="1"/>
            <p:nvPr/>
          </p:nvSpPr>
          <p:spPr>
            <a:xfrm>
              <a:off x="10826115" y="667702"/>
              <a:ext cx="460724" cy="213360"/>
            </a:xfrm>
            <a:prstGeom prst="rect">
              <a:avLst/>
            </a:prstGeom>
            <a:noFill/>
            <a:ln>
              <a:noFill/>
            </a:ln>
          </p:spPr>
          <p:txBody>
            <a:bodyPr wrap="none" lIns="0" tIns="0" rIns="0" bIns="0" anchor="t" anchorCtr="0">
              <a:spAutoFit/>
            </a:bodyPr>
            <a:lstStyle/>
            <a:p>
              <a:pPr algn="l"/>
              <a:r>
                <a:rPr lang="zh-CN" sz="1050" dirty="0">
                  <a:solidFill>
                    <a:srgbClr val="94A3B8"/>
                  </a:solidFill>
                  <a:latin typeface="Arial"/>
                  <a:ea typeface="Microsoft YaHei"/>
                  <a:cs typeface="Arial"/>
                </a:rPr>
                <a:t>06 / 10</a:t>
              </a:r>
            </a:p>
          </p:txBody>
        </p:sp>
      </p:grpSp>
      <p:grpSp>
        <p:nvGrpSpPr>
          <p:cNvPr id="19" name="Group 19"/>
          <p:cNvGrpSpPr/>
          <p:nvPr/>
        </p:nvGrpSpPr>
        <p:grpSpPr>
          <a:xfrm>
            <a:off x="685800" y="1314450"/>
            <a:ext cx="2857500" cy="4095750"/>
            <a:chOff x="685800" y="1314450"/>
            <a:chExt cx="2857500" cy="4095750"/>
          </a:xfrm>
        </p:grpSpPr>
        <p:sp>
          <p:nvSpPr>
            <p:cNvPr id="8" name="Rectangle 8"/>
            <p:cNvSpPr/>
            <p:nvPr/>
          </p:nvSpPr>
          <p:spPr>
            <a:xfrm>
              <a:off x="685800" y="1314450"/>
              <a:ext cx="2857500" cy="4095750"/>
            </a:xfrm>
            <a:prstGeom prst="roundRect">
              <a:avLst>
                <a:gd name="adj" fmla="val 2667"/>
              </a:avLst>
            </a:prstGeom>
            <a:solidFill>
              <a:srgbClr val="F6F8FB"/>
            </a:solidFill>
            <a:ln w="19050">
              <a:solidFill>
                <a:srgbClr val="D9E2EC"/>
              </a:solidFill>
            </a:ln>
          </p:spPr>
        </p:sp>
        <p:sp>
          <p:nvSpPr>
            <p:cNvPr id="9" name="TextBox 9"/>
            <p:cNvSpPr txBox="1"/>
            <p:nvPr/>
          </p:nvSpPr>
          <p:spPr>
            <a:xfrm>
              <a:off x="950595" y="1517332"/>
              <a:ext cx="2294442" cy="335280"/>
            </a:xfrm>
            <a:prstGeom prst="rect">
              <a:avLst/>
            </a:prstGeom>
            <a:noFill/>
            <a:ln>
              <a:noFill/>
            </a:ln>
          </p:spPr>
          <p:txBody>
            <a:bodyPr wrap="none" lIns="0" tIns="0" rIns="0" bIns="0" anchor="t" anchorCtr="0">
              <a:spAutoFit/>
            </a:bodyPr>
            <a:lstStyle/>
            <a:p>
              <a:pPr algn="l"/>
              <a:r>
                <a:rPr lang="zh-CN" sz="1650" b="1" dirty="0">
                  <a:solidFill>
                    <a:srgbClr val="146EB4"/>
                  </a:solidFill>
                  <a:latin typeface="Arial"/>
                  <a:ea typeface="Microsoft YaHei"/>
                  <a:cs typeface="Arial"/>
                </a:rPr>
                <a:t>Probe classification</a:t>
              </a:r>
            </a:p>
          </p:txBody>
        </p:sp>
        <p:sp>
          <p:nvSpPr>
            <p:cNvPr id="10" name="Rectangle 10"/>
            <p:cNvSpPr/>
            <p:nvPr/>
          </p:nvSpPr>
          <p:spPr>
            <a:xfrm>
              <a:off x="990600" y="2095500"/>
              <a:ext cx="2247900" cy="685800"/>
            </a:xfrm>
            <a:prstGeom prst="roundRect">
              <a:avLst>
                <a:gd name="adj" fmla="val 11111"/>
              </a:avLst>
            </a:prstGeom>
            <a:solidFill>
              <a:srgbClr val="FFFFFF"/>
            </a:solidFill>
            <a:ln w="19050">
              <a:solidFill>
                <a:srgbClr val="146EB4"/>
              </a:solidFill>
            </a:ln>
          </p:spPr>
        </p:sp>
        <p:sp>
          <p:nvSpPr>
            <p:cNvPr id="11" name="TextBox 11"/>
            <p:cNvSpPr txBox="1"/>
            <p:nvPr/>
          </p:nvSpPr>
          <p:spPr>
            <a:xfrm>
              <a:off x="1221105" y="2235518"/>
              <a:ext cx="1744954" cy="274320"/>
            </a:xfrm>
            <a:prstGeom prst="rect">
              <a:avLst/>
            </a:prstGeom>
            <a:noFill/>
            <a:ln>
              <a:noFill/>
            </a:ln>
          </p:spPr>
          <p:txBody>
            <a:bodyPr wrap="none" lIns="0" tIns="0" rIns="0" bIns="0" anchor="t" anchorCtr="0">
              <a:spAutoFit/>
            </a:bodyPr>
            <a:lstStyle/>
            <a:p>
              <a:pPr algn="l"/>
              <a:r>
                <a:rPr lang="zh-CN" sz="1350" b="1" dirty="0">
                  <a:solidFill>
                    <a:srgbClr val="111827"/>
                  </a:solidFill>
                  <a:latin typeface="Arial"/>
                  <a:ea typeface="Microsoft YaHei"/>
                  <a:cs typeface="Arial"/>
                </a:rPr>
                <a:t>readout dominated</a:t>
              </a:r>
            </a:p>
          </p:txBody>
        </p:sp>
        <p:sp>
          <p:nvSpPr>
            <p:cNvPr id="12" name="TextBox 12"/>
            <p:cNvSpPr txBox="1"/>
            <p:nvPr/>
          </p:nvSpPr>
          <p:spPr>
            <a:xfrm>
              <a:off x="1223962" y="2507456"/>
              <a:ext cx="1468755"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start with REM only</a:t>
              </a:r>
            </a:p>
          </p:txBody>
        </p:sp>
        <p:sp>
          <p:nvSpPr>
            <p:cNvPr id="13" name="Rectangle 13"/>
            <p:cNvSpPr/>
            <p:nvPr/>
          </p:nvSpPr>
          <p:spPr>
            <a:xfrm>
              <a:off x="990600" y="3028950"/>
              <a:ext cx="2247900" cy="685800"/>
            </a:xfrm>
            <a:prstGeom prst="roundRect">
              <a:avLst>
                <a:gd name="adj" fmla="val 11111"/>
              </a:avLst>
            </a:prstGeom>
            <a:solidFill>
              <a:srgbClr val="FFFFFF"/>
            </a:solidFill>
            <a:ln w="19050">
              <a:solidFill>
                <a:srgbClr val="FF9900"/>
              </a:solidFill>
            </a:ln>
          </p:spPr>
        </p:sp>
        <p:sp>
          <p:nvSpPr>
            <p:cNvPr id="14" name="TextBox 14"/>
            <p:cNvSpPr txBox="1"/>
            <p:nvPr/>
          </p:nvSpPr>
          <p:spPr>
            <a:xfrm>
              <a:off x="1221105" y="3168968"/>
              <a:ext cx="1499223" cy="274320"/>
            </a:xfrm>
            <a:prstGeom prst="rect">
              <a:avLst/>
            </a:prstGeom>
            <a:noFill/>
            <a:ln>
              <a:noFill/>
            </a:ln>
          </p:spPr>
          <p:txBody>
            <a:bodyPr wrap="none" lIns="0" tIns="0" rIns="0" bIns="0" anchor="t" anchorCtr="0">
              <a:spAutoFit/>
            </a:bodyPr>
            <a:lstStyle/>
            <a:p>
              <a:pPr algn="l"/>
              <a:r>
                <a:rPr lang="zh-CN" sz="1350" b="1" dirty="0">
                  <a:solidFill>
                    <a:srgbClr val="111827"/>
                  </a:solidFill>
                  <a:latin typeface="Arial"/>
                  <a:ea typeface="Microsoft YaHei"/>
                  <a:cs typeface="Arial"/>
                </a:rPr>
                <a:t>gate / coherent</a:t>
              </a:r>
            </a:p>
          </p:txBody>
        </p:sp>
        <p:sp>
          <p:nvSpPr>
            <p:cNvPr id="15" name="TextBox 15"/>
            <p:cNvSpPr txBox="1"/>
            <p:nvPr/>
          </p:nvSpPr>
          <p:spPr>
            <a:xfrm>
              <a:off x="1223962" y="3440906"/>
              <a:ext cx="1116211"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add ZNE earlier</a:t>
              </a:r>
            </a:p>
          </p:txBody>
        </p:sp>
        <p:sp>
          <p:nvSpPr>
            <p:cNvPr id="16" name="Rectangle 16"/>
            <p:cNvSpPr/>
            <p:nvPr/>
          </p:nvSpPr>
          <p:spPr>
            <a:xfrm>
              <a:off x="990600" y="3962400"/>
              <a:ext cx="2247900" cy="685800"/>
            </a:xfrm>
            <a:prstGeom prst="roundRect">
              <a:avLst>
                <a:gd name="adj" fmla="val 11111"/>
              </a:avLst>
            </a:prstGeom>
            <a:solidFill>
              <a:srgbClr val="FFFFFF"/>
            </a:solidFill>
            <a:ln w="19050">
              <a:solidFill>
                <a:srgbClr val="0F766E"/>
              </a:solidFill>
            </a:ln>
          </p:spPr>
        </p:sp>
        <p:sp>
          <p:nvSpPr>
            <p:cNvPr id="17" name="TextBox 17"/>
            <p:cNvSpPr txBox="1"/>
            <p:nvPr/>
          </p:nvSpPr>
          <p:spPr>
            <a:xfrm>
              <a:off x="1221105" y="4102418"/>
              <a:ext cx="979408" cy="274320"/>
            </a:xfrm>
            <a:prstGeom prst="rect">
              <a:avLst/>
            </a:prstGeom>
            <a:noFill/>
            <a:ln>
              <a:noFill/>
            </a:ln>
          </p:spPr>
          <p:txBody>
            <a:bodyPr wrap="none" lIns="0" tIns="0" rIns="0" bIns="0" anchor="t" anchorCtr="0">
              <a:spAutoFit/>
            </a:bodyPr>
            <a:lstStyle/>
            <a:p>
              <a:pPr algn="l"/>
              <a:r>
                <a:rPr lang="zh-CN" sz="1350" b="1" dirty="0">
                  <a:solidFill>
                    <a:srgbClr val="111827"/>
                  </a:solidFill>
                  <a:latin typeface="Arial"/>
                  <a:ea typeface="Microsoft YaHei"/>
                  <a:cs typeface="Arial"/>
                </a:rPr>
                <a:t>shot noise</a:t>
              </a:r>
            </a:p>
          </p:txBody>
        </p:sp>
        <p:sp>
          <p:nvSpPr>
            <p:cNvPr id="18" name="TextBox 18"/>
            <p:cNvSpPr txBox="1"/>
            <p:nvPr/>
          </p:nvSpPr>
          <p:spPr>
            <a:xfrm>
              <a:off x="1223962" y="4374356"/>
              <a:ext cx="1386245"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prefer more shots</a:t>
              </a:r>
            </a:p>
          </p:txBody>
        </p:sp>
      </p:grpSp>
      <p:grpSp>
        <p:nvGrpSpPr>
          <p:cNvPr id="28" name="Group 28"/>
          <p:cNvGrpSpPr/>
          <p:nvPr/>
        </p:nvGrpSpPr>
        <p:grpSpPr>
          <a:xfrm>
            <a:off x="3543300" y="2076450"/>
            <a:ext cx="3943350" cy="2000250"/>
            <a:chOff x="3543300" y="2076450"/>
            <a:chExt cx="3943350" cy="2000250"/>
          </a:xfrm>
        </p:grpSpPr>
        <p:sp>
          <p:nvSpPr>
            <p:cNvPr id="20" name="Rectangle 20"/>
            <p:cNvSpPr/>
            <p:nvPr/>
          </p:nvSpPr>
          <p:spPr>
            <a:xfrm>
              <a:off x="4495800" y="2076450"/>
              <a:ext cx="2990850" cy="2000250"/>
            </a:xfrm>
            <a:prstGeom prst="roundRect">
              <a:avLst>
                <a:gd name="adj" fmla="val 3810"/>
              </a:avLst>
            </a:prstGeom>
            <a:solidFill>
              <a:srgbClr val="E8F3FC"/>
            </a:solidFill>
            <a:ln w="19050">
              <a:solidFill>
                <a:srgbClr val="146EB4"/>
              </a:solidFill>
            </a:ln>
          </p:spPr>
        </p:sp>
        <p:sp>
          <p:nvSpPr>
            <p:cNvPr id="21" name="TextBox 21"/>
            <p:cNvSpPr txBox="1"/>
            <p:nvPr/>
          </p:nvSpPr>
          <p:spPr>
            <a:xfrm>
              <a:off x="4855845" y="2298382"/>
              <a:ext cx="1763075" cy="335280"/>
            </a:xfrm>
            <a:prstGeom prst="rect">
              <a:avLst/>
            </a:prstGeom>
            <a:noFill/>
            <a:ln>
              <a:noFill/>
            </a:ln>
          </p:spPr>
          <p:txBody>
            <a:bodyPr wrap="none" lIns="0" tIns="0" rIns="0" bIns="0" anchor="t" anchorCtr="0">
              <a:spAutoFit/>
            </a:bodyPr>
            <a:lstStyle/>
            <a:p>
              <a:pPr algn="l"/>
              <a:r>
                <a:rPr lang="zh-CN" sz="1650" b="1" dirty="0">
                  <a:solidFill>
                    <a:srgbClr val="111827"/>
                  </a:solidFill>
                  <a:latin typeface="Arial"/>
                  <a:ea typeface="Microsoft YaHei"/>
                  <a:cs typeface="Arial"/>
                </a:rPr>
                <a:t>Validate metric</a:t>
              </a:r>
            </a:p>
          </p:txBody>
        </p:sp>
        <p:sp>
          <p:nvSpPr>
            <p:cNvPr id="22" name="TextBox 22"/>
            <p:cNvSpPr txBox="1"/>
            <p:nvPr/>
          </p:nvSpPr>
          <p:spPr>
            <a:xfrm>
              <a:off x="4859655" y="2730818"/>
              <a:ext cx="1519476"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local benchmark:</a:t>
              </a:r>
            </a:p>
          </p:txBody>
        </p:sp>
        <p:sp>
          <p:nvSpPr>
            <p:cNvPr id="23" name="TextBox 23"/>
            <p:cNvSpPr txBox="1"/>
            <p:nvPr/>
          </p:nvSpPr>
          <p:spPr>
            <a:xfrm>
              <a:off x="4859655" y="2997518"/>
              <a:ext cx="1867819" cy="274320"/>
            </a:xfrm>
            <a:prstGeom prst="rect">
              <a:avLst/>
            </a:prstGeom>
            <a:noFill/>
            <a:ln>
              <a:noFill/>
            </a:ln>
          </p:spPr>
          <p:txBody>
            <a:bodyPr wrap="none" lIns="0" tIns="0" rIns="0" bIns="0" anchor="t" anchorCtr="0">
              <a:spAutoFit/>
            </a:bodyPr>
            <a:lstStyle/>
            <a:p>
              <a:pPr algn="l"/>
              <a:r>
                <a:rPr lang="zh-CN" sz="1350" b="1" dirty="0">
                  <a:solidFill>
                    <a:srgbClr val="146EB4"/>
                  </a:solidFill>
                  <a:latin typeface="Arial"/>
                  <a:ea typeface="Microsoft YaHei"/>
                  <a:cs typeface="Arial"/>
                </a:rPr>
                <a:t>true absolute error</a:t>
              </a:r>
            </a:p>
          </p:txBody>
        </p:sp>
        <p:sp>
          <p:nvSpPr>
            <p:cNvPr id="24" name="TextBox 24"/>
            <p:cNvSpPr txBox="1"/>
            <p:nvPr/>
          </p:nvSpPr>
          <p:spPr>
            <a:xfrm>
              <a:off x="4859655" y="3416618"/>
              <a:ext cx="1627489"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production proxy:</a:t>
              </a:r>
            </a:p>
          </p:txBody>
        </p:sp>
        <p:sp>
          <p:nvSpPr>
            <p:cNvPr id="25" name="TextBox 25"/>
            <p:cNvSpPr txBox="1"/>
            <p:nvPr/>
          </p:nvSpPr>
          <p:spPr>
            <a:xfrm>
              <a:off x="4859655" y="3683318"/>
              <a:ext cx="922701" cy="274320"/>
            </a:xfrm>
            <a:prstGeom prst="rect">
              <a:avLst/>
            </a:prstGeom>
            <a:noFill/>
            <a:ln>
              <a:noFill/>
            </a:ln>
          </p:spPr>
          <p:txBody>
            <a:bodyPr wrap="none" lIns="0" tIns="0" rIns="0" bIns="0" anchor="t" anchorCtr="0">
              <a:spAutoFit/>
            </a:bodyPr>
            <a:lstStyle/>
            <a:p>
              <a:pPr algn="l"/>
              <a:r>
                <a:rPr lang="zh-CN" sz="1350" b="1" dirty="0">
                  <a:solidFill>
                    <a:srgbClr val="146EB4"/>
                  </a:solidFill>
                  <a:latin typeface="Arial"/>
                  <a:ea typeface="Microsoft YaHei"/>
                  <a:cs typeface="Arial"/>
                </a:rPr>
                <a:t>error bar</a:t>
              </a:r>
            </a:p>
          </p:txBody>
        </p:sp>
        <p:sp>
          <p:nvSpPr>
            <p:cNvPr id="26" name="Line 26"/>
            <p:cNvSpPr/>
            <p:nvPr/>
          </p:nvSpPr>
          <p:spPr>
            <a:xfrm>
              <a:off x="3543300" y="3076575"/>
              <a:ext cx="914400" cy="295275"/>
            </a:xfrm>
            <a:custGeom>
              <a:avLst/>
              <a:gdLst/>
              <a:ahLst/>
              <a:cxnLst/>
              <a:rect l="l" t="t" r="r" b="b"/>
              <a:pathLst>
                <a:path w="914400" h="295275">
                  <a:moveTo>
                    <a:pt x="0" y="295275"/>
                  </a:moveTo>
                  <a:lnTo>
                    <a:pt x="914400" y="0"/>
                  </a:lnTo>
                </a:path>
              </a:pathLst>
            </a:custGeom>
            <a:noFill/>
            <a:ln w="28575">
              <a:solidFill>
                <a:srgbClr val="146EB4"/>
              </a:solidFill>
            </a:ln>
          </p:spPr>
        </p:sp>
        <p:sp>
          <p:nvSpPr>
            <p:cNvPr id="27" name="Polygon 27"/>
            <p:cNvSpPr/>
            <p:nvPr/>
          </p:nvSpPr>
          <p:spPr>
            <a:xfrm>
              <a:off x="4324350" y="3048000"/>
              <a:ext cx="133350" cy="142875"/>
            </a:xfrm>
            <a:custGeom>
              <a:avLst/>
              <a:gdLst/>
              <a:ahLst/>
              <a:cxnLst/>
              <a:rect l="l" t="t" r="r" b="b"/>
              <a:pathLst>
                <a:path w="133350" h="142875">
                  <a:moveTo>
                    <a:pt x="133350" y="28575"/>
                  </a:moveTo>
                  <a:lnTo>
                    <a:pt x="0" y="0"/>
                  </a:lnTo>
                  <a:lnTo>
                    <a:pt x="47625" y="142875"/>
                  </a:lnTo>
                  <a:close/>
                </a:path>
              </a:pathLst>
            </a:custGeom>
            <a:solidFill>
              <a:srgbClr val="146EB4"/>
            </a:solidFill>
            <a:ln>
              <a:noFill/>
            </a:ln>
          </p:spPr>
        </p:sp>
      </p:grpSp>
      <p:grpSp>
        <p:nvGrpSpPr>
          <p:cNvPr id="49" name="Group 49"/>
          <p:cNvGrpSpPr/>
          <p:nvPr/>
        </p:nvGrpSpPr>
        <p:grpSpPr>
          <a:xfrm>
            <a:off x="7486650" y="1314450"/>
            <a:ext cx="3752850" cy="4171950"/>
            <a:chOff x="7486650" y="1314450"/>
            <a:chExt cx="3752850" cy="4171950"/>
          </a:xfrm>
        </p:grpSpPr>
        <p:sp>
          <p:nvSpPr>
            <p:cNvPr id="29" name="Rectangle 29"/>
            <p:cNvSpPr/>
            <p:nvPr/>
          </p:nvSpPr>
          <p:spPr>
            <a:xfrm>
              <a:off x="8382000" y="1314450"/>
              <a:ext cx="2857500" cy="857250"/>
            </a:xfrm>
            <a:prstGeom prst="roundRect">
              <a:avLst>
                <a:gd name="adj" fmla="val 8889"/>
              </a:avLst>
            </a:prstGeom>
            <a:solidFill>
              <a:srgbClr val="E7F7EF"/>
            </a:solidFill>
            <a:ln w="19050">
              <a:solidFill>
                <a:srgbClr val="16A34A"/>
              </a:solidFill>
            </a:ln>
          </p:spPr>
        </p:sp>
        <p:sp>
          <p:nvSpPr>
            <p:cNvPr id="30" name="TextBox 30"/>
            <p:cNvSpPr txBox="1"/>
            <p:nvPr/>
          </p:nvSpPr>
          <p:spPr>
            <a:xfrm>
              <a:off x="8646795" y="1479232"/>
              <a:ext cx="596379" cy="335280"/>
            </a:xfrm>
            <a:prstGeom prst="rect">
              <a:avLst/>
            </a:prstGeom>
            <a:noFill/>
            <a:ln>
              <a:noFill/>
            </a:ln>
          </p:spPr>
          <p:txBody>
            <a:bodyPr wrap="none" lIns="0" tIns="0" rIns="0" bIns="0" anchor="t" anchorCtr="0">
              <a:spAutoFit/>
            </a:bodyPr>
            <a:lstStyle/>
            <a:p>
              <a:pPr algn="l"/>
              <a:r>
                <a:rPr lang="zh-CN" sz="1650" b="1" dirty="0">
                  <a:solidFill>
                    <a:srgbClr val="16A34A"/>
                  </a:solidFill>
                  <a:latin typeface="Arial"/>
                  <a:ea typeface="Microsoft YaHei"/>
                  <a:cs typeface="Arial"/>
                </a:rPr>
                <a:t>STOP</a:t>
              </a:r>
            </a:p>
          </p:txBody>
        </p:sp>
        <p:sp>
          <p:nvSpPr>
            <p:cNvPr id="31" name="TextBox 31"/>
            <p:cNvSpPr txBox="1"/>
            <p:nvPr/>
          </p:nvSpPr>
          <p:spPr>
            <a:xfrm>
              <a:off x="8653462" y="1821656"/>
              <a:ext cx="2203847"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target met: stop immediately</a:t>
              </a:r>
            </a:p>
          </p:txBody>
        </p:sp>
        <p:sp>
          <p:nvSpPr>
            <p:cNvPr id="32" name="Rectangle 32"/>
            <p:cNvSpPr/>
            <p:nvPr/>
          </p:nvSpPr>
          <p:spPr>
            <a:xfrm>
              <a:off x="8382000" y="2419350"/>
              <a:ext cx="2857500" cy="857250"/>
            </a:xfrm>
            <a:prstGeom prst="roundRect">
              <a:avLst>
                <a:gd name="adj" fmla="val 8889"/>
              </a:avLst>
            </a:prstGeom>
            <a:solidFill>
              <a:srgbClr val="FFFFFF"/>
            </a:solidFill>
            <a:ln w="19050">
              <a:solidFill>
                <a:srgbClr val="146EB4"/>
              </a:solidFill>
            </a:ln>
          </p:spPr>
        </p:sp>
        <p:sp>
          <p:nvSpPr>
            <p:cNvPr id="33" name="TextBox 33"/>
            <p:cNvSpPr txBox="1"/>
            <p:nvPr/>
          </p:nvSpPr>
          <p:spPr>
            <a:xfrm>
              <a:off x="8646795" y="2584132"/>
              <a:ext cx="1485840" cy="335280"/>
            </a:xfrm>
            <a:prstGeom prst="rect">
              <a:avLst/>
            </a:prstGeom>
            <a:noFill/>
            <a:ln>
              <a:noFill/>
            </a:ln>
          </p:spPr>
          <p:txBody>
            <a:bodyPr wrap="none" lIns="0" tIns="0" rIns="0" bIns="0" anchor="t" anchorCtr="0">
              <a:spAutoFit/>
            </a:bodyPr>
            <a:lstStyle/>
            <a:p>
              <a:pPr algn="l"/>
              <a:r>
                <a:rPr lang="zh-CN" sz="1650" b="1" dirty="0">
                  <a:solidFill>
                    <a:srgbClr val="146EB4"/>
                  </a:solidFill>
                  <a:latin typeface="Arial"/>
                  <a:ea typeface="Microsoft YaHei"/>
                  <a:cs typeface="Arial"/>
                </a:rPr>
                <a:t>RETRY_SHOTS</a:t>
              </a:r>
            </a:p>
          </p:txBody>
        </p:sp>
        <p:sp>
          <p:nvSpPr>
            <p:cNvPr id="34" name="TextBox 34"/>
            <p:cNvSpPr txBox="1"/>
            <p:nvPr/>
          </p:nvSpPr>
          <p:spPr>
            <a:xfrm>
              <a:off x="8653462" y="2926556"/>
              <a:ext cx="2241352"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close to target: buy precision</a:t>
              </a:r>
            </a:p>
          </p:txBody>
        </p:sp>
        <p:sp>
          <p:nvSpPr>
            <p:cNvPr id="35" name="Rectangle 35"/>
            <p:cNvSpPr/>
            <p:nvPr/>
          </p:nvSpPr>
          <p:spPr>
            <a:xfrm>
              <a:off x="8382000" y="3524250"/>
              <a:ext cx="2857500" cy="857250"/>
            </a:xfrm>
            <a:prstGeom prst="roundRect">
              <a:avLst>
                <a:gd name="adj" fmla="val 8889"/>
              </a:avLst>
            </a:prstGeom>
            <a:solidFill>
              <a:srgbClr val="FFF4E0"/>
            </a:solidFill>
            <a:ln w="19050">
              <a:solidFill>
                <a:srgbClr val="FF9900"/>
              </a:solidFill>
            </a:ln>
          </p:spPr>
        </p:sp>
        <p:sp>
          <p:nvSpPr>
            <p:cNvPr id="36" name="TextBox 36"/>
            <p:cNvSpPr txBox="1"/>
            <p:nvPr/>
          </p:nvSpPr>
          <p:spPr>
            <a:xfrm>
              <a:off x="8646795" y="3689032"/>
              <a:ext cx="2132721" cy="335280"/>
            </a:xfrm>
            <a:prstGeom prst="rect">
              <a:avLst/>
            </a:prstGeom>
            <a:noFill/>
            <a:ln>
              <a:noFill/>
            </a:ln>
          </p:spPr>
          <p:txBody>
            <a:bodyPr wrap="none" lIns="0" tIns="0" rIns="0" bIns="0" anchor="t" anchorCtr="0">
              <a:spAutoFit/>
            </a:bodyPr>
            <a:lstStyle/>
            <a:p>
              <a:pPr algn="l"/>
              <a:r>
                <a:rPr lang="zh-CN" sz="1650" b="1" dirty="0">
                  <a:solidFill>
                    <a:srgbClr val="FF9900"/>
                  </a:solidFill>
                  <a:latin typeface="Arial"/>
                  <a:ea typeface="Microsoft YaHei"/>
                  <a:cs typeface="Arial"/>
                </a:rPr>
                <a:t>RETRY_CALIBRATION</a:t>
              </a:r>
            </a:p>
          </p:txBody>
        </p:sp>
        <p:sp>
          <p:nvSpPr>
            <p:cNvPr id="37" name="TextBox 37"/>
            <p:cNvSpPr txBox="1"/>
            <p:nvPr/>
          </p:nvSpPr>
          <p:spPr>
            <a:xfrm>
              <a:off x="8653462" y="4031456"/>
              <a:ext cx="2173843"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readout anomaly: rebuild REM</a:t>
              </a:r>
            </a:p>
          </p:txBody>
        </p:sp>
        <p:sp>
          <p:nvSpPr>
            <p:cNvPr id="38" name="Rectangle 38"/>
            <p:cNvSpPr/>
            <p:nvPr/>
          </p:nvSpPr>
          <p:spPr>
            <a:xfrm>
              <a:off x="8382000" y="4629150"/>
              <a:ext cx="2857500" cy="857250"/>
            </a:xfrm>
            <a:prstGeom prst="roundRect">
              <a:avLst>
                <a:gd name="adj" fmla="val 8889"/>
              </a:avLst>
            </a:prstGeom>
            <a:solidFill>
              <a:srgbClr val="FEF2F2"/>
            </a:solidFill>
            <a:ln w="19050">
              <a:solidFill>
                <a:srgbClr val="DC2626"/>
              </a:solidFill>
            </a:ln>
          </p:spPr>
        </p:sp>
        <p:sp>
          <p:nvSpPr>
            <p:cNvPr id="39" name="TextBox 39"/>
            <p:cNvSpPr txBox="1"/>
            <p:nvPr/>
          </p:nvSpPr>
          <p:spPr>
            <a:xfrm>
              <a:off x="8646795" y="4793932"/>
              <a:ext cx="1820832" cy="335280"/>
            </a:xfrm>
            <a:prstGeom prst="rect">
              <a:avLst/>
            </a:prstGeom>
            <a:noFill/>
            <a:ln>
              <a:noFill/>
            </a:ln>
          </p:spPr>
          <p:txBody>
            <a:bodyPr wrap="none" lIns="0" tIns="0" rIns="0" bIns="0" anchor="t" anchorCtr="0">
              <a:spAutoFit/>
            </a:bodyPr>
            <a:lstStyle/>
            <a:p>
              <a:pPr algn="l"/>
              <a:r>
                <a:rPr lang="zh-CN" sz="1650" b="1" dirty="0">
                  <a:solidFill>
                    <a:srgbClr val="DC2626"/>
                  </a:solidFill>
                  <a:latin typeface="Arial"/>
                  <a:ea typeface="Microsoft YaHei"/>
                  <a:cs typeface="Arial"/>
                </a:rPr>
                <a:t>RETRY_STRATEGY</a:t>
              </a:r>
            </a:p>
          </p:txBody>
        </p:sp>
        <p:sp>
          <p:nvSpPr>
            <p:cNvPr id="40" name="TextBox 40"/>
            <p:cNvSpPr txBox="1"/>
            <p:nvPr/>
          </p:nvSpPr>
          <p:spPr>
            <a:xfrm>
              <a:off x="8653462" y="5136356"/>
              <a:ext cx="2226350"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far from target: add ZNE / PT</a:t>
              </a:r>
            </a:p>
          </p:txBody>
        </p:sp>
        <p:sp>
          <p:nvSpPr>
            <p:cNvPr id="41" name="Line 41"/>
            <p:cNvSpPr/>
            <p:nvPr/>
          </p:nvSpPr>
          <p:spPr>
            <a:xfrm>
              <a:off x="7486650" y="1752600"/>
              <a:ext cx="857250" cy="1009650"/>
            </a:xfrm>
            <a:custGeom>
              <a:avLst/>
              <a:gdLst/>
              <a:ahLst/>
              <a:cxnLst/>
              <a:rect l="l" t="t" r="r" b="b"/>
              <a:pathLst>
                <a:path w="857250" h="1009650">
                  <a:moveTo>
                    <a:pt x="0" y="1009650"/>
                  </a:moveTo>
                  <a:lnTo>
                    <a:pt x="857250" y="0"/>
                  </a:lnTo>
                </a:path>
              </a:pathLst>
            </a:custGeom>
            <a:noFill/>
            <a:ln w="28575">
              <a:solidFill>
                <a:srgbClr val="16A34A"/>
              </a:solidFill>
            </a:ln>
          </p:spPr>
        </p:sp>
        <p:sp>
          <p:nvSpPr>
            <p:cNvPr id="42" name="Polygon 42"/>
            <p:cNvSpPr/>
            <p:nvPr/>
          </p:nvSpPr>
          <p:spPr>
            <a:xfrm>
              <a:off x="8201025" y="1752600"/>
              <a:ext cx="142875" cy="142875"/>
            </a:xfrm>
            <a:custGeom>
              <a:avLst/>
              <a:gdLst/>
              <a:ahLst/>
              <a:cxnLst/>
              <a:rect l="l" t="t" r="r" b="b"/>
              <a:pathLst>
                <a:path w="142875" h="142875">
                  <a:moveTo>
                    <a:pt x="142875" y="0"/>
                  </a:moveTo>
                  <a:lnTo>
                    <a:pt x="0" y="47625"/>
                  </a:lnTo>
                  <a:lnTo>
                    <a:pt x="114300" y="142875"/>
                  </a:lnTo>
                  <a:close/>
                </a:path>
              </a:pathLst>
            </a:custGeom>
            <a:solidFill>
              <a:srgbClr val="16A34A"/>
            </a:solidFill>
            <a:ln>
              <a:noFill/>
            </a:ln>
          </p:spPr>
        </p:sp>
        <p:sp>
          <p:nvSpPr>
            <p:cNvPr id="43" name="Line 43"/>
            <p:cNvSpPr/>
            <p:nvPr/>
          </p:nvSpPr>
          <p:spPr>
            <a:xfrm>
              <a:off x="7486650" y="2838450"/>
              <a:ext cx="857250" cy="171450"/>
            </a:xfrm>
            <a:custGeom>
              <a:avLst/>
              <a:gdLst/>
              <a:ahLst/>
              <a:cxnLst/>
              <a:rect l="l" t="t" r="r" b="b"/>
              <a:pathLst>
                <a:path w="857250" h="171450">
                  <a:moveTo>
                    <a:pt x="0" y="171450"/>
                  </a:moveTo>
                  <a:lnTo>
                    <a:pt x="857250" y="0"/>
                  </a:lnTo>
                </a:path>
              </a:pathLst>
            </a:custGeom>
            <a:noFill/>
            <a:ln w="28575">
              <a:solidFill>
                <a:srgbClr val="146EB4"/>
              </a:solidFill>
            </a:ln>
          </p:spPr>
        </p:sp>
        <p:sp>
          <p:nvSpPr>
            <p:cNvPr id="44" name="Polygon 44"/>
            <p:cNvSpPr/>
            <p:nvPr/>
          </p:nvSpPr>
          <p:spPr>
            <a:xfrm>
              <a:off x="8210550" y="2781300"/>
              <a:ext cx="133350" cy="152400"/>
            </a:xfrm>
            <a:custGeom>
              <a:avLst/>
              <a:gdLst/>
              <a:ahLst/>
              <a:cxnLst/>
              <a:rect l="l" t="t" r="r" b="b"/>
              <a:pathLst>
                <a:path w="133350" h="152400">
                  <a:moveTo>
                    <a:pt x="133350" y="57150"/>
                  </a:moveTo>
                  <a:lnTo>
                    <a:pt x="0" y="0"/>
                  </a:lnTo>
                  <a:lnTo>
                    <a:pt x="28575" y="152400"/>
                  </a:lnTo>
                  <a:close/>
                </a:path>
              </a:pathLst>
            </a:custGeom>
            <a:solidFill>
              <a:srgbClr val="146EB4"/>
            </a:solidFill>
            <a:ln>
              <a:noFill/>
            </a:ln>
          </p:spPr>
        </p:sp>
        <p:sp>
          <p:nvSpPr>
            <p:cNvPr id="45" name="Line 45"/>
            <p:cNvSpPr/>
            <p:nvPr/>
          </p:nvSpPr>
          <p:spPr>
            <a:xfrm>
              <a:off x="7486650" y="3314700"/>
              <a:ext cx="857250" cy="628650"/>
            </a:xfrm>
            <a:custGeom>
              <a:avLst/>
              <a:gdLst/>
              <a:ahLst/>
              <a:cxnLst/>
              <a:rect l="l" t="t" r="r" b="b"/>
              <a:pathLst>
                <a:path w="857250" h="628650">
                  <a:moveTo>
                    <a:pt x="0" y="0"/>
                  </a:moveTo>
                  <a:lnTo>
                    <a:pt x="857250" y="628650"/>
                  </a:lnTo>
                </a:path>
              </a:pathLst>
            </a:custGeom>
            <a:noFill/>
            <a:ln w="28575">
              <a:solidFill>
                <a:srgbClr val="FF9900"/>
              </a:solidFill>
            </a:ln>
          </p:spPr>
        </p:sp>
        <p:sp>
          <p:nvSpPr>
            <p:cNvPr id="46" name="Polygon 46"/>
            <p:cNvSpPr/>
            <p:nvPr/>
          </p:nvSpPr>
          <p:spPr>
            <a:xfrm>
              <a:off x="8201025" y="3800475"/>
              <a:ext cx="142875" cy="142875"/>
            </a:xfrm>
            <a:custGeom>
              <a:avLst/>
              <a:gdLst/>
              <a:ahLst/>
              <a:cxnLst/>
              <a:rect l="l" t="t" r="r" b="b"/>
              <a:pathLst>
                <a:path w="142875" h="142875">
                  <a:moveTo>
                    <a:pt x="142875" y="142875"/>
                  </a:moveTo>
                  <a:lnTo>
                    <a:pt x="0" y="114300"/>
                  </a:lnTo>
                  <a:lnTo>
                    <a:pt x="85725" y="0"/>
                  </a:lnTo>
                  <a:close/>
                </a:path>
              </a:pathLst>
            </a:custGeom>
            <a:solidFill>
              <a:srgbClr val="FF9900"/>
            </a:solidFill>
            <a:ln>
              <a:noFill/>
            </a:ln>
          </p:spPr>
        </p:sp>
        <p:sp>
          <p:nvSpPr>
            <p:cNvPr id="47" name="Line 47"/>
            <p:cNvSpPr/>
            <p:nvPr/>
          </p:nvSpPr>
          <p:spPr>
            <a:xfrm>
              <a:off x="7486650" y="3600450"/>
              <a:ext cx="857250" cy="1466850"/>
            </a:xfrm>
            <a:custGeom>
              <a:avLst/>
              <a:gdLst/>
              <a:ahLst/>
              <a:cxnLst/>
              <a:rect l="l" t="t" r="r" b="b"/>
              <a:pathLst>
                <a:path w="857250" h="1466850">
                  <a:moveTo>
                    <a:pt x="0" y="0"/>
                  </a:moveTo>
                  <a:lnTo>
                    <a:pt x="857250" y="1466850"/>
                  </a:lnTo>
                </a:path>
              </a:pathLst>
            </a:custGeom>
            <a:noFill/>
            <a:ln w="28575">
              <a:solidFill>
                <a:srgbClr val="DC2626"/>
              </a:solidFill>
            </a:ln>
          </p:spPr>
        </p:sp>
        <p:sp>
          <p:nvSpPr>
            <p:cNvPr id="48" name="Polygon 48"/>
            <p:cNvSpPr/>
            <p:nvPr/>
          </p:nvSpPr>
          <p:spPr>
            <a:xfrm>
              <a:off x="8210550" y="4914900"/>
              <a:ext cx="133350" cy="152400"/>
            </a:xfrm>
            <a:custGeom>
              <a:avLst/>
              <a:gdLst/>
              <a:ahLst/>
              <a:cxnLst/>
              <a:rect l="l" t="t" r="r" b="b"/>
              <a:pathLst>
                <a:path w="133350" h="152400">
                  <a:moveTo>
                    <a:pt x="133350" y="152400"/>
                  </a:moveTo>
                  <a:lnTo>
                    <a:pt x="0" y="85725"/>
                  </a:lnTo>
                  <a:lnTo>
                    <a:pt x="133350" y="0"/>
                  </a:lnTo>
                  <a:close/>
                </a:path>
              </a:pathLst>
            </a:custGeom>
            <a:solidFill>
              <a:srgbClr val="DC2626"/>
            </a:solidFill>
            <a:ln>
              <a:noFill/>
            </a:ln>
          </p:spPr>
        </p:sp>
      </p:grpSp>
      <p:grpSp>
        <p:nvGrpSpPr>
          <p:cNvPr id="53" name="Group 53"/>
          <p:cNvGrpSpPr/>
          <p:nvPr/>
        </p:nvGrpSpPr>
        <p:grpSpPr>
          <a:xfrm>
            <a:off x="4495800" y="4591050"/>
            <a:ext cx="3116341" cy="819150"/>
            <a:chOff x="4495800" y="4591050"/>
            <a:chExt cx="3116341" cy="819150"/>
          </a:xfrm>
        </p:grpSpPr>
        <p:sp>
          <p:nvSpPr>
            <p:cNvPr id="50" name="Rectangle 50"/>
            <p:cNvSpPr/>
            <p:nvPr/>
          </p:nvSpPr>
          <p:spPr>
            <a:xfrm>
              <a:off x="4495800" y="4591050"/>
              <a:ext cx="2990850" cy="819150"/>
            </a:xfrm>
            <a:prstGeom prst="roundRect">
              <a:avLst>
                <a:gd name="adj" fmla="val 9302"/>
              </a:avLst>
            </a:prstGeom>
            <a:solidFill>
              <a:srgbClr val="FFF4E0"/>
            </a:solidFill>
            <a:ln w="19050">
              <a:solidFill>
                <a:srgbClr val="FF9900"/>
              </a:solidFill>
            </a:ln>
          </p:spPr>
        </p:sp>
        <p:sp>
          <p:nvSpPr>
            <p:cNvPr id="51" name="TextBox 51"/>
            <p:cNvSpPr txBox="1"/>
            <p:nvPr/>
          </p:nvSpPr>
          <p:spPr>
            <a:xfrm>
              <a:off x="4745355" y="4788218"/>
              <a:ext cx="2775133" cy="274320"/>
            </a:xfrm>
            <a:prstGeom prst="rect">
              <a:avLst/>
            </a:prstGeom>
            <a:noFill/>
            <a:ln>
              <a:noFill/>
            </a:ln>
          </p:spPr>
          <p:txBody>
            <a:bodyPr wrap="none" lIns="0" tIns="0" rIns="0" bIns="0" anchor="t" anchorCtr="0">
              <a:spAutoFit/>
            </a:bodyPr>
            <a:lstStyle/>
            <a:p>
              <a:pPr algn="l"/>
              <a:r>
                <a:rPr lang="zh-CN" sz="1350" b="1" dirty="0">
                  <a:solidFill>
                    <a:srgbClr val="111827"/>
                  </a:solidFill>
                  <a:latin typeface="Arial"/>
                  <a:ea typeface="Microsoft YaHei"/>
                  <a:cs typeface="Arial"/>
                </a:rPr>
                <a:t>Minimum sufficient mitigation</a:t>
              </a:r>
            </a:p>
          </p:txBody>
        </p:sp>
        <p:sp>
          <p:nvSpPr>
            <p:cNvPr id="52" name="TextBox 52"/>
            <p:cNvSpPr txBox="1"/>
            <p:nvPr/>
          </p:nvSpPr>
          <p:spPr>
            <a:xfrm>
              <a:off x="4748212" y="5079206"/>
              <a:ext cx="2863929"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start cheap, escalate only on evidence</a:t>
              </a:r>
            </a:p>
          </p:txBody>
        </p:sp>
      </p:grpSp>
      <p:sp>
        <p:nvSpPr>
          <p:cNvPr id="54" name="TextBox 54"/>
          <p:cNvSpPr txBox="1"/>
          <p:nvPr/>
        </p:nvSpPr>
        <p:spPr>
          <a:xfrm>
            <a:off x="522922" y="6483191"/>
            <a:ext cx="3337870" cy="167640"/>
          </a:xfrm>
          <a:prstGeom prst="rect">
            <a:avLst/>
          </a:prstGeom>
          <a:noFill/>
          <a:ln>
            <a:noFill/>
          </a:ln>
        </p:spPr>
        <p:txBody>
          <a:bodyPr wrap="none" lIns="0" tIns="0" rIns="0" bIns="0" anchor="t" anchorCtr="0">
            <a:spAutoFit/>
          </a:bodyPr>
          <a:lstStyle/>
          <a:p>
            <a:pPr algn="l"/>
            <a:r>
              <a:rPr lang="zh-CN" sz="825" dirty="0">
                <a:solidFill>
                  <a:srgbClr val="94A3B8"/>
                </a:solidFill>
                <a:latin typeface="Arial"/>
                <a:ea typeface="Microsoft YaHei"/>
                <a:cs typeface="Arial"/>
              </a:rPr>
              <a:t>Decision module: select_strategy, decide, escalate_strategy</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left)">
                                      <p:cBhvr>
                                        <p:cTn id="7" dur="400"/>
                                        <p:tgtEl>
                                          <p:spTgt spid="19"/>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slide(fromBottom)">
                                      <p:cBhvr>
                                        <p:cTn id="11" dur="400"/>
                                        <p:tgtEl>
                                          <p:spTgt spid="28"/>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49"/>
                                        </p:tgtEl>
                                        <p:attrNameLst>
                                          <p:attrName>style.visibility</p:attrName>
                                        </p:attrNameLst>
                                      </p:cBhvr>
                                      <p:to>
                                        <p:strVal val="visible"/>
                                      </p:to>
                                    </p:set>
                                    <p:animEffect transition="in" filter="image">
                                      <p:cBhvr>
                                        <p:cTn id="15" dur="400"/>
                                        <p:tgtEl>
                                          <p:spTgt spid="49"/>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53"/>
                                        </p:tgtEl>
                                        <p:attrNameLst>
                                          <p:attrName>style.visibility</p:attrName>
                                        </p:attrNameLst>
                                      </p:cBhvr>
                                      <p:to>
                                        <p:strVal val="visible"/>
                                      </p:to>
                                    </p:set>
                                    <p:animEffect transition="in" filter="fade">
                                      <p:cBhvr>
                                        <p:cTn id="19" dur="4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8" grpId="0"/>
      <p:bldP spid="49" grpId="0"/>
      <p:bldP spid="5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533400" y="419100"/>
              <a:ext cx="11125200" cy="9525"/>
            </a:xfrm>
            <a:prstGeom prst="rect">
              <a:avLst/>
            </a:prstGeom>
            <a:solidFill>
              <a:srgbClr val="D9E2EC"/>
            </a:solidFill>
            <a:ln>
              <a:noFill/>
            </a:ln>
          </p:spPr>
        </p:sp>
      </p:grpSp>
      <p:grpSp>
        <p:nvGrpSpPr>
          <p:cNvPr id="7" name="Group 7"/>
          <p:cNvGrpSpPr/>
          <p:nvPr/>
        </p:nvGrpSpPr>
        <p:grpSpPr>
          <a:xfrm>
            <a:off x="502920" y="560070"/>
            <a:ext cx="10783919" cy="487680"/>
            <a:chOff x="502920" y="560070"/>
            <a:chExt cx="10783919" cy="487680"/>
          </a:xfrm>
        </p:grpSpPr>
        <p:sp>
          <p:nvSpPr>
            <p:cNvPr id="5" name="TextBox 5"/>
            <p:cNvSpPr txBox="1"/>
            <p:nvPr/>
          </p:nvSpPr>
          <p:spPr>
            <a:xfrm>
              <a:off x="502920" y="560070"/>
              <a:ext cx="6697790" cy="487680"/>
            </a:xfrm>
            <a:prstGeom prst="rect">
              <a:avLst/>
            </a:prstGeom>
            <a:noFill/>
            <a:ln>
              <a:noFill/>
            </a:ln>
          </p:spPr>
          <p:txBody>
            <a:bodyPr wrap="none" lIns="0" tIns="0" rIns="0" bIns="0" anchor="t" anchorCtr="0">
              <a:spAutoFit/>
            </a:bodyPr>
            <a:lstStyle/>
            <a:p>
              <a:pPr algn="l"/>
              <a:r>
                <a:rPr lang="zh-CN" sz="2400" b="1" dirty="0">
                  <a:solidFill>
                    <a:srgbClr val="111827"/>
                  </a:solidFill>
                  <a:latin typeface="Arial"/>
                  <a:ea typeface="Microsoft YaHei"/>
                  <a:cs typeface="Arial"/>
                </a:rPr>
                <a:t>Policy and audit: safety is deterministic</a:t>
              </a:r>
            </a:p>
          </p:txBody>
        </p:sp>
        <p:sp>
          <p:nvSpPr>
            <p:cNvPr id="6" name="TextBox 6"/>
            <p:cNvSpPr txBox="1"/>
            <p:nvPr/>
          </p:nvSpPr>
          <p:spPr>
            <a:xfrm>
              <a:off x="10826115" y="667702"/>
              <a:ext cx="460724" cy="213360"/>
            </a:xfrm>
            <a:prstGeom prst="rect">
              <a:avLst/>
            </a:prstGeom>
            <a:noFill/>
            <a:ln>
              <a:noFill/>
            </a:ln>
          </p:spPr>
          <p:txBody>
            <a:bodyPr wrap="none" lIns="0" tIns="0" rIns="0" bIns="0" anchor="t" anchorCtr="0">
              <a:spAutoFit/>
            </a:bodyPr>
            <a:lstStyle/>
            <a:p>
              <a:pPr algn="l"/>
              <a:r>
                <a:rPr lang="zh-CN" sz="1050" dirty="0">
                  <a:solidFill>
                    <a:srgbClr val="94A3B8"/>
                  </a:solidFill>
                  <a:latin typeface="Arial"/>
                  <a:ea typeface="Microsoft YaHei"/>
                  <a:cs typeface="Arial"/>
                </a:rPr>
                <a:t>07 / 10</a:t>
              </a:r>
            </a:p>
          </p:txBody>
        </p:sp>
      </p:grpSp>
      <p:grpSp>
        <p:nvGrpSpPr>
          <p:cNvPr id="33" name="Group 33"/>
          <p:cNvGrpSpPr/>
          <p:nvPr/>
        </p:nvGrpSpPr>
        <p:grpSpPr>
          <a:xfrm>
            <a:off x="628650" y="1657350"/>
            <a:ext cx="8477250" cy="2800350"/>
            <a:chOff x="628650" y="1657350"/>
            <a:chExt cx="8477250" cy="2800350"/>
          </a:xfrm>
        </p:grpSpPr>
        <p:sp>
          <p:nvSpPr>
            <p:cNvPr id="8" name="Rectangle 8"/>
            <p:cNvSpPr/>
            <p:nvPr/>
          </p:nvSpPr>
          <p:spPr>
            <a:xfrm>
              <a:off x="628650" y="2362200"/>
              <a:ext cx="1809750" cy="1200150"/>
            </a:xfrm>
            <a:prstGeom prst="roundRect">
              <a:avLst>
                <a:gd name="adj" fmla="val 6349"/>
              </a:avLst>
            </a:prstGeom>
            <a:solidFill>
              <a:srgbClr val="F6F8FB"/>
            </a:solidFill>
            <a:ln w="19050">
              <a:solidFill>
                <a:srgbClr val="D9E2EC"/>
              </a:solidFill>
            </a:ln>
          </p:spPr>
        </p:sp>
        <p:sp>
          <p:nvSpPr>
            <p:cNvPr id="9" name="TextBox 9"/>
            <p:cNvSpPr txBox="1"/>
            <p:nvPr/>
          </p:nvSpPr>
          <p:spPr>
            <a:xfrm>
              <a:off x="914400" y="2657475"/>
              <a:ext cx="615672" cy="304800"/>
            </a:xfrm>
            <a:prstGeom prst="rect">
              <a:avLst/>
            </a:prstGeom>
            <a:noFill/>
            <a:ln>
              <a:noFill/>
            </a:ln>
          </p:spPr>
          <p:txBody>
            <a:bodyPr wrap="none" lIns="0" tIns="0" rIns="0" bIns="0" anchor="t" anchorCtr="0">
              <a:spAutoFit/>
            </a:bodyPr>
            <a:lstStyle/>
            <a:p>
              <a:pPr algn="l"/>
              <a:r>
                <a:rPr lang="zh-CN" sz="1500" b="1" dirty="0">
                  <a:solidFill>
                    <a:srgbClr val="111827"/>
                  </a:solidFill>
                  <a:latin typeface="Arial"/>
                  <a:ea typeface="Microsoft YaHei"/>
                  <a:cs typeface="Arial"/>
                </a:rPr>
                <a:t>Agent</a:t>
              </a:r>
            </a:p>
          </p:txBody>
        </p:sp>
        <p:sp>
          <p:nvSpPr>
            <p:cNvPr id="10" name="TextBox 10"/>
            <p:cNvSpPr txBox="1"/>
            <p:nvPr/>
          </p:nvSpPr>
          <p:spPr>
            <a:xfrm>
              <a:off x="919162" y="2964656"/>
              <a:ext cx="1191220"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proposes action</a:t>
              </a:r>
            </a:p>
          </p:txBody>
        </p:sp>
        <p:sp>
          <p:nvSpPr>
            <p:cNvPr id="11" name="Line 11"/>
            <p:cNvSpPr/>
            <p:nvPr/>
          </p:nvSpPr>
          <p:spPr>
            <a:xfrm>
              <a:off x="2438400" y="2962275"/>
              <a:ext cx="857250" cy="9525"/>
            </a:xfrm>
            <a:custGeom>
              <a:avLst/>
              <a:gdLst/>
              <a:ahLst/>
              <a:cxnLst/>
              <a:rect l="l" t="t" r="r" b="b"/>
              <a:pathLst>
                <a:path w="857250" h="9525">
                  <a:moveTo>
                    <a:pt x="0" y="0"/>
                  </a:moveTo>
                  <a:lnTo>
                    <a:pt x="857250" y="0"/>
                  </a:lnTo>
                </a:path>
              </a:pathLst>
            </a:custGeom>
            <a:noFill/>
            <a:ln w="28575">
              <a:solidFill>
                <a:srgbClr val="146EB4"/>
              </a:solidFill>
            </a:ln>
          </p:spPr>
        </p:sp>
        <p:sp>
          <p:nvSpPr>
            <p:cNvPr id="12" name="Polygon 12"/>
            <p:cNvSpPr/>
            <p:nvPr/>
          </p:nvSpPr>
          <p:spPr>
            <a:xfrm>
              <a:off x="3181350" y="2886075"/>
              <a:ext cx="114300" cy="152400"/>
            </a:xfrm>
            <a:custGeom>
              <a:avLst/>
              <a:gdLst/>
              <a:ahLst/>
              <a:cxnLst/>
              <a:rect l="l" t="t" r="r" b="b"/>
              <a:pathLst>
                <a:path w="114300" h="152400">
                  <a:moveTo>
                    <a:pt x="114300" y="76200"/>
                  </a:moveTo>
                  <a:lnTo>
                    <a:pt x="0" y="0"/>
                  </a:lnTo>
                  <a:lnTo>
                    <a:pt x="0" y="152400"/>
                  </a:lnTo>
                  <a:close/>
                </a:path>
              </a:pathLst>
            </a:custGeom>
            <a:solidFill>
              <a:srgbClr val="146EB4"/>
            </a:solidFill>
            <a:ln>
              <a:noFill/>
            </a:ln>
          </p:spPr>
        </p:sp>
        <p:sp>
          <p:nvSpPr>
            <p:cNvPr id="13" name="Rectangle 13"/>
            <p:cNvSpPr/>
            <p:nvPr/>
          </p:nvSpPr>
          <p:spPr>
            <a:xfrm>
              <a:off x="3295650" y="1657350"/>
              <a:ext cx="2952750" cy="2609850"/>
            </a:xfrm>
            <a:prstGeom prst="roundRect">
              <a:avLst>
                <a:gd name="adj" fmla="val 2920"/>
              </a:avLst>
            </a:prstGeom>
            <a:solidFill>
              <a:srgbClr val="FFF4E0"/>
            </a:solidFill>
            <a:ln w="28575">
              <a:solidFill>
                <a:srgbClr val="FF9900"/>
              </a:solidFill>
            </a:ln>
          </p:spPr>
        </p:sp>
        <p:sp>
          <p:nvSpPr>
            <p:cNvPr id="14" name="TextBox 14"/>
            <p:cNvSpPr txBox="1"/>
            <p:nvPr/>
          </p:nvSpPr>
          <p:spPr>
            <a:xfrm>
              <a:off x="3670935" y="1884998"/>
              <a:ext cx="1496611" cy="396240"/>
            </a:xfrm>
            <a:prstGeom prst="rect">
              <a:avLst/>
            </a:prstGeom>
            <a:noFill/>
            <a:ln>
              <a:noFill/>
            </a:ln>
          </p:spPr>
          <p:txBody>
            <a:bodyPr wrap="none" lIns="0" tIns="0" rIns="0" bIns="0" anchor="t" anchorCtr="0">
              <a:spAutoFit/>
            </a:bodyPr>
            <a:lstStyle/>
            <a:p>
              <a:pPr algn="l"/>
              <a:r>
                <a:rPr lang="zh-CN" sz="1950" b="1" dirty="0">
                  <a:solidFill>
                    <a:srgbClr val="111827"/>
                  </a:solidFill>
                  <a:latin typeface="Arial"/>
                  <a:ea typeface="Microsoft YaHei"/>
                  <a:cs typeface="Arial"/>
                </a:rPr>
                <a:t>Policy gate</a:t>
              </a:r>
            </a:p>
          </p:txBody>
        </p:sp>
        <p:sp>
          <p:nvSpPr>
            <p:cNvPr id="15" name="Rectangle 15"/>
            <p:cNvSpPr/>
            <p:nvPr/>
          </p:nvSpPr>
          <p:spPr>
            <a:xfrm>
              <a:off x="3657600" y="2400300"/>
              <a:ext cx="2209800" cy="361950"/>
            </a:xfrm>
            <a:prstGeom prst="roundRect">
              <a:avLst>
                <a:gd name="adj" fmla="val 21053"/>
              </a:avLst>
            </a:prstGeom>
            <a:solidFill>
              <a:srgbClr val="FFFFFF"/>
            </a:solidFill>
            <a:ln w="9525">
              <a:solidFill>
                <a:srgbClr val="D9E2EC"/>
              </a:solidFill>
            </a:ln>
          </p:spPr>
        </p:sp>
        <p:sp>
          <p:nvSpPr>
            <p:cNvPr id="16" name="TextBox 16"/>
            <p:cNvSpPr txBox="1"/>
            <p:nvPr/>
          </p:nvSpPr>
          <p:spPr>
            <a:xfrm>
              <a:off x="3871912" y="2516981"/>
              <a:ext cx="1746290" cy="228600"/>
            </a:xfrm>
            <a:prstGeom prst="rect">
              <a:avLst/>
            </a:prstGeom>
            <a:noFill/>
            <a:ln>
              <a:noFill/>
            </a:ln>
          </p:spPr>
          <p:txBody>
            <a:bodyPr wrap="none" lIns="0" tIns="0" rIns="0" bIns="0" anchor="t" anchorCtr="0">
              <a:spAutoFit/>
            </a:bodyPr>
            <a:lstStyle/>
            <a:p>
              <a:pPr algn="l"/>
              <a:r>
                <a:rPr lang="zh-CN" sz="1125" dirty="0">
                  <a:solidFill>
                    <a:srgbClr val="111827"/>
                  </a:solidFill>
                  <a:latin typeface="Arial"/>
                  <a:ea typeface="Microsoft YaHei"/>
                  <a:cs typeface="Arial"/>
                </a:rPr>
                <a:t>1. controlled action set</a:t>
              </a:r>
            </a:p>
          </p:txBody>
        </p:sp>
        <p:sp>
          <p:nvSpPr>
            <p:cNvPr id="17" name="Rectangle 17"/>
            <p:cNvSpPr/>
            <p:nvPr/>
          </p:nvSpPr>
          <p:spPr>
            <a:xfrm>
              <a:off x="3657600" y="2876550"/>
              <a:ext cx="2209800" cy="361950"/>
            </a:xfrm>
            <a:prstGeom prst="roundRect">
              <a:avLst>
                <a:gd name="adj" fmla="val 21053"/>
              </a:avLst>
            </a:prstGeom>
            <a:solidFill>
              <a:srgbClr val="FFFFFF"/>
            </a:solidFill>
            <a:ln w="9525">
              <a:solidFill>
                <a:srgbClr val="D9E2EC"/>
              </a:solidFill>
            </a:ln>
          </p:spPr>
        </p:sp>
        <p:sp>
          <p:nvSpPr>
            <p:cNvPr id="18" name="TextBox 18"/>
            <p:cNvSpPr txBox="1"/>
            <p:nvPr/>
          </p:nvSpPr>
          <p:spPr>
            <a:xfrm>
              <a:off x="3871912" y="2993231"/>
              <a:ext cx="1611273" cy="228600"/>
            </a:xfrm>
            <a:prstGeom prst="rect">
              <a:avLst/>
            </a:prstGeom>
            <a:noFill/>
            <a:ln>
              <a:noFill/>
            </a:ln>
          </p:spPr>
          <p:txBody>
            <a:bodyPr wrap="none" lIns="0" tIns="0" rIns="0" bIns="0" anchor="t" anchorCtr="0">
              <a:spAutoFit/>
            </a:bodyPr>
            <a:lstStyle/>
            <a:p>
              <a:pPr algn="l"/>
              <a:r>
                <a:rPr lang="zh-CN" sz="1125" dirty="0">
                  <a:solidFill>
                    <a:srgbClr val="111827"/>
                  </a:solidFill>
                  <a:latin typeface="Arial"/>
                  <a:ea typeface="Microsoft YaHei"/>
                  <a:cs typeface="Arial"/>
                </a:rPr>
                <a:t>2. shot / cost budget</a:t>
              </a:r>
            </a:p>
          </p:txBody>
        </p:sp>
        <p:sp>
          <p:nvSpPr>
            <p:cNvPr id="19" name="Rectangle 19"/>
            <p:cNvSpPr/>
            <p:nvPr/>
          </p:nvSpPr>
          <p:spPr>
            <a:xfrm>
              <a:off x="3657600" y="3352800"/>
              <a:ext cx="2209800" cy="361950"/>
            </a:xfrm>
            <a:prstGeom prst="roundRect">
              <a:avLst>
                <a:gd name="adj" fmla="val 21053"/>
              </a:avLst>
            </a:prstGeom>
            <a:solidFill>
              <a:srgbClr val="FFFFFF"/>
            </a:solidFill>
            <a:ln w="9525">
              <a:solidFill>
                <a:srgbClr val="D9E2EC"/>
              </a:solidFill>
            </a:ln>
          </p:spPr>
        </p:sp>
        <p:sp>
          <p:nvSpPr>
            <p:cNvPr id="20" name="TextBox 20"/>
            <p:cNvSpPr txBox="1"/>
            <p:nvPr/>
          </p:nvSpPr>
          <p:spPr>
            <a:xfrm>
              <a:off x="3871912" y="3469481"/>
              <a:ext cx="1911310" cy="228600"/>
            </a:xfrm>
            <a:prstGeom prst="rect">
              <a:avLst/>
            </a:prstGeom>
            <a:noFill/>
            <a:ln>
              <a:noFill/>
            </a:ln>
          </p:spPr>
          <p:txBody>
            <a:bodyPr wrap="none" lIns="0" tIns="0" rIns="0" bIns="0" anchor="t" anchorCtr="0">
              <a:spAutoFit/>
            </a:bodyPr>
            <a:lstStyle/>
            <a:p>
              <a:pPr algn="l"/>
              <a:r>
                <a:rPr lang="zh-CN" sz="1125" dirty="0">
                  <a:solidFill>
                    <a:srgbClr val="111827"/>
                  </a:solidFill>
                  <a:latin typeface="Arial"/>
                  <a:ea typeface="Microsoft YaHei"/>
                  <a:cs typeface="Arial"/>
                </a:rPr>
                <a:t>3. no device recalibration</a:t>
              </a:r>
            </a:p>
          </p:txBody>
        </p:sp>
        <p:sp>
          <p:nvSpPr>
            <p:cNvPr id="21" name="Rectangle 21"/>
            <p:cNvSpPr/>
            <p:nvPr/>
          </p:nvSpPr>
          <p:spPr>
            <a:xfrm>
              <a:off x="3657600" y="3829050"/>
              <a:ext cx="2209800" cy="361950"/>
            </a:xfrm>
            <a:prstGeom prst="roundRect">
              <a:avLst>
                <a:gd name="adj" fmla="val 21053"/>
              </a:avLst>
            </a:prstGeom>
            <a:solidFill>
              <a:srgbClr val="FFFFFF"/>
            </a:solidFill>
            <a:ln w="9525">
              <a:solidFill>
                <a:srgbClr val="D9E2EC"/>
              </a:solidFill>
            </a:ln>
          </p:spPr>
        </p:sp>
        <p:sp>
          <p:nvSpPr>
            <p:cNvPr id="22" name="TextBox 22"/>
            <p:cNvSpPr txBox="1"/>
            <p:nvPr/>
          </p:nvSpPr>
          <p:spPr>
            <a:xfrm>
              <a:off x="3871912" y="3945731"/>
              <a:ext cx="943689" cy="228600"/>
            </a:xfrm>
            <a:prstGeom prst="rect">
              <a:avLst/>
            </a:prstGeom>
            <a:noFill/>
            <a:ln>
              <a:noFill/>
            </a:ln>
          </p:spPr>
          <p:txBody>
            <a:bodyPr wrap="none" lIns="0" tIns="0" rIns="0" bIns="0" anchor="t" anchorCtr="0">
              <a:spAutoFit/>
            </a:bodyPr>
            <a:lstStyle/>
            <a:p>
              <a:pPr algn="l"/>
              <a:r>
                <a:rPr lang="zh-CN" sz="1125" dirty="0">
                  <a:solidFill>
                    <a:srgbClr val="111827"/>
                  </a:solidFill>
                  <a:latin typeface="Arial"/>
                  <a:ea typeface="Microsoft YaHei"/>
                  <a:cs typeface="Arial"/>
                </a:rPr>
                <a:t>4. retry cap</a:t>
              </a:r>
            </a:p>
          </p:txBody>
        </p:sp>
        <p:sp>
          <p:nvSpPr>
            <p:cNvPr id="23" name="Line 23"/>
            <p:cNvSpPr/>
            <p:nvPr/>
          </p:nvSpPr>
          <p:spPr>
            <a:xfrm>
              <a:off x="6248400" y="2305050"/>
              <a:ext cx="857250" cy="409575"/>
            </a:xfrm>
            <a:custGeom>
              <a:avLst/>
              <a:gdLst/>
              <a:ahLst/>
              <a:cxnLst/>
              <a:rect l="l" t="t" r="r" b="b"/>
              <a:pathLst>
                <a:path w="857250" h="409575">
                  <a:moveTo>
                    <a:pt x="0" y="409575"/>
                  </a:moveTo>
                  <a:lnTo>
                    <a:pt x="857250" y="0"/>
                  </a:lnTo>
                </a:path>
              </a:pathLst>
            </a:custGeom>
            <a:noFill/>
            <a:ln w="28575">
              <a:solidFill>
                <a:srgbClr val="16A34A"/>
              </a:solidFill>
            </a:ln>
          </p:spPr>
        </p:sp>
        <p:sp>
          <p:nvSpPr>
            <p:cNvPr id="24" name="Polygon 24"/>
            <p:cNvSpPr/>
            <p:nvPr/>
          </p:nvSpPr>
          <p:spPr>
            <a:xfrm>
              <a:off x="6972300" y="2286000"/>
              <a:ext cx="133350" cy="133350"/>
            </a:xfrm>
            <a:custGeom>
              <a:avLst/>
              <a:gdLst/>
              <a:ahLst/>
              <a:cxnLst/>
              <a:rect l="l" t="t" r="r" b="b"/>
              <a:pathLst>
                <a:path w="133350" h="133350">
                  <a:moveTo>
                    <a:pt x="133350" y="19050"/>
                  </a:moveTo>
                  <a:lnTo>
                    <a:pt x="0" y="0"/>
                  </a:lnTo>
                  <a:lnTo>
                    <a:pt x="66675" y="133350"/>
                  </a:lnTo>
                  <a:close/>
                </a:path>
              </a:pathLst>
            </a:custGeom>
            <a:solidFill>
              <a:srgbClr val="16A34A"/>
            </a:solidFill>
            <a:ln>
              <a:noFill/>
            </a:ln>
          </p:spPr>
        </p:sp>
        <p:sp>
          <p:nvSpPr>
            <p:cNvPr id="25" name="Line 25"/>
            <p:cNvSpPr/>
            <p:nvPr/>
          </p:nvSpPr>
          <p:spPr>
            <a:xfrm>
              <a:off x="6248400" y="3286125"/>
              <a:ext cx="857250" cy="561975"/>
            </a:xfrm>
            <a:custGeom>
              <a:avLst/>
              <a:gdLst/>
              <a:ahLst/>
              <a:cxnLst/>
              <a:rect l="l" t="t" r="r" b="b"/>
              <a:pathLst>
                <a:path w="857250" h="561975">
                  <a:moveTo>
                    <a:pt x="0" y="0"/>
                  </a:moveTo>
                  <a:lnTo>
                    <a:pt x="857250" y="561975"/>
                  </a:lnTo>
                </a:path>
              </a:pathLst>
            </a:custGeom>
            <a:noFill/>
            <a:ln w="28575">
              <a:solidFill>
                <a:srgbClr val="DC2626"/>
              </a:solidFill>
            </a:ln>
          </p:spPr>
        </p:sp>
        <p:sp>
          <p:nvSpPr>
            <p:cNvPr id="26" name="Polygon 26"/>
            <p:cNvSpPr/>
            <p:nvPr/>
          </p:nvSpPr>
          <p:spPr>
            <a:xfrm>
              <a:off x="6962775" y="3714750"/>
              <a:ext cx="142875" cy="133350"/>
            </a:xfrm>
            <a:custGeom>
              <a:avLst/>
              <a:gdLst/>
              <a:ahLst/>
              <a:cxnLst/>
              <a:rect l="l" t="t" r="r" b="b"/>
              <a:pathLst>
                <a:path w="142875" h="133350">
                  <a:moveTo>
                    <a:pt x="142875" y="133350"/>
                  </a:moveTo>
                  <a:lnTo>
                    <a:pt x="0" y="114300"/>
                  </a:lnTo>
                  <a:lnTo>
                    <a:pt x="85725" y="0"/>
                  </a:lnTo>
                  <a:close/>
                </a:path>
              </a:pathLst>
            </a:custGeom>
            <a:solidFill>
              <a:srgbClr val="DC2626"/>
            </a:solidFill>
            <a:ln>
              <a:noFill/>
            </a:ln>
          </p:spPr>
        </p:sp>
        <p:sp>
          <p:nvSpPr>
            <p:cNvPr id="27" name="Rectangle 27"/>
            <p:cNvSpPr/>
            <p:nvPr/>
          </p:nvSpPr>
          <p:spPr>
            <a:xfrm>
              <a:off x="7105650" y="1790700"/>
              <a:ext cx="2000250" cy="1028700"/>
            </a:xfrm>
            <a:prstGeom prst="roundRect">
              <a:avLst>
                <a:gd name="adj" fmla="val 7407"/>
              </a:avLst>
            </a:prstGeom>
            <a:solidFill>
              <a:srgbClr val="E7F7EF"/>
            </a:solidFill>
            <a:ln w="19050">
              <a:solidFill>
                <a:srgbClr val="16A34A"/>
              </a:solidFill>
            </a:ln>
          </p:spPr>
        </p:sp>
        <p:sp>
          <p:nvSpPr>
            <p:cNvPr id="28" name="TextBox 28"/>
            <p:cNvSpPr txBox="1"/>
            <p:nvPr/>
          </p:nvSpPr>
          <p:spPr>
            <a:xfrm>
              <a:off x="7503795" y="2060258"/>
              <a:ext cx="1058437" cy="335280"/>
            </a:xfrm>
            <a:prstGeom prst="rect">
              <a:avLst/>
            </a:prstGeom>
            <a:noFill/>
            <a:ln>
              <a:noFill/>
            </a:ln>
          </p:spPr>
          <p:txBody>
            <a:bodyPr wrap="none" lIns="0" tIns="0" rIns="0" bIns="0" anchor="t" anchorCtr="0">
              <a:spAutoFit/>
            </a:bodyPr>
            <a:lstStyle/>
            <a:p>
              <a:pPr algn="l"/>
              <a:r>
                <a:rPr lang="zh-CN" sz="1650" b="1" dirty="0">
                  <a:solidFill>
                    <a:srgbClr val="16A34A"/>
                  </a:solidFill>
                  <a:latin typeface="Arial"/>
                  <a:ea typeface="Microsoft YaHei"/>
                  <a:cs typeface="Arial"/>
                </a:rPr>
                <a:t>Approved</a:t>
              </a:r>
            </a:p>
          </p:txBody>
        </p:sp>
        <p:sp>
          <p:nvSpPr>
            <p:cNvPr id="29" name="TextBox 29"/>
            <p:cNvSpPr txBox="1"/>
            <p:nvPr/>
          </p:nvSpPr>
          <p:spPr>
            <a:xfrm>
              <a:off x="7510462" y="2393156"/>
              <a:ext cx="1243727"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execute tool call</a:t>
              </a:r>
            </a:p>
          </p:txBody>
        </p:sp>
        <p:sp>
          <p:nvSpPr>
            <p:cNvPr id="30" name="Rectangle 30"/>
            <p:cNvSpPr/>
            <p:nvPr/>
          </p:nvSpPr>
          <p:spPr>
            <a:xfrm>
              <a:off x="7105650" y="3429000"/>
              <a:ext cx="2000250" cy="1028700"/>
            </a:xfrm>
            <a:prstGeom prst="roundRect">
              <a:avLst>
                <a:gd name="adj" fmla="val 7407"/>
              </a:avLst>
            </a:prstGeom>
            <a:solidFill>
              <a:srgbClr val="FEF2F2"/>
            </a:solidFill>
            <a:ln w="19050">
              <a:solidFill>
                <a:srgbClr val="DC2626"/>
              </a:solidFill>
            </a:ln>
          </p:spPr>
        </p:sp>
        <p:sp>
          <p:nvSpPr>
            <p:cNvPr id="31" name="TextBox 31"/>
            <p:cNvSpPr txBox="1"/>
            <p:nvPr/>
          </p:nvSpPr>
          <p:spPr>
            <a:xfrm>
              <a:off x="7503795" y="3698558"/>
              <a:ext cx="1000680" cy="335280"/>
            </a:xfrm>
            <a:prstGeom prst="rect">
              <a:avLst/>
            </a:prstGeom>
            <a:noFill/>
            <a:ln>
              <a:noFill/>
            </a:ln>
          </p:spPr>
          <p:txBody>
            <a:bodyPr wrap="none" lIns="0" tIns="0" rIns="0" bIns="0" anchor="t" anchorCtr="0">
              <a:spAutoFit/>
            </a:bodyPr>
            <a:lstStyle/>
            <a:p>
              <a:pPr algn="l"/>
              <a:r>
                <a:rPr lang="zh-CN" sz="1650" b="1" dirty="0">
                  <a:solidFill>
                    <a:srgbClr val="DC2626"/>
                  </a:solidFill>
                  <a:latin typeface="Arial"/>
                  <a:ea typeface="Microsoft YaHei"/>
                  <a:cs typeface="Arial"/>
                </a:rPr>
                <a:t>Rejected</a:t>
              </a:r>
            </a:p>
          </p:txBody>
        </p:sp>
        <p:sp>
          <p:nvSpPr>
            <p:cNvPr id="32" name="TextBox 32"/>
            <p:cNvSpPr txBox="1"/>
            <p:nvPr/>
          </p:nvSpPr>
          <p:spPr>
            <a:xfrm>
              <a:off x="7510462" y="4031456"/>
              <a:ext cx="1063704"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return reason</a:t>
              </a:r>
            </a:p>
          </p:txBody>
        </p:sp>
      </p:grpSp>
      <p:grpSp>
        <p:nvGrpSpPr>
          <p:cNvPr id="44" name="Group 44"/>
          <p:cNvGrpSpPr/>
          <p:nvPr/>
        </p:nvGrpSpPr>
        <p:grpSpPr>
          <a:xfrm>
            <a:off x="9620250" y="1466850"/>
            <a:ext cx="2038350" cy="3619500"/>
            <a:chOff x="9620250" y="1466850"/>
            <a:chExt cx="2038350" cy="3619500"/>
          </a:xfrm>
        </p:grpSpPr>
        <p:sp>
          <p:nvSpPr>
            <p:cNvPr id="34" name="Rectangle 34"/>
            <p:cNvSpPr/>
            <p:nvPr/>
          </p:nvSpPr>
          <p:spPr>
            <a:xfrm>
              <a:off x="9620250" y="1466850"/>
              <a:ext cx="2038350" cy="3619500"/>
            </a:xfrm>
            <a:prstGeom prst="roundRect">
              <a:avLst>
                <a:gd name="adj" fmla="val 3738"/>
              </a:avLst>
            </a:prstGeom>
            <a:solidFill>
              <a:srgbClr val="F6F8FB"/>
            </a:solidFill>
            <a:ln w="19050">
              <a:solidFill>
                <a:srgbClr val="D9E2EC"/>
              </a:solidFill>
            </a:ln>
          </p:spPr>
        </p:sp>
        <p:sp>
          <p:nvSpPr>
            <p:cNvPr id="35" name="TextBox 35"/>
            <p:cNvSpPr txBox="1"/>
            <p:nvPr/>
          </p:nvSpPr>
          <p:spPr>
            <a:xfrm>
              <a:off x="9885045" y="1688782"/>
              <a:ext cx="1393429" cy="335280"/>
            </a:xfrm>
            <a:prstGeom prst="rect">
              <a:avLst/>
            </a:prstGeom>
            <a:noFill/>
            <a:ln>
              <a:noFill/>
            </a:ln>
          </p:spPr>
          <p:txBody>
            <a:bodyPr wrap="none" lIns="0" tIns="0" rIns="0" bIns="0" anchor="t" anchorCtr="0">
              <a:spAutoFit/>
            </a:bodyPr>
            <a:lstStyle/>
            <a:p>
              <a:pPr algn="l"/>
              <a:r>
                <a:rPr lang="zh-CN" sz="1650" b="1" dirty="0">
                  <a:solidFill>
                    <a:srgbClr val="111827"/>
                  </a:solidFill>
                  <a:latin typeface="Arial"/>
                  <a:ea typeface="Microsoft YaHei"/>
                  <a:cs typeface="Arial"/>
                </a:rPr>
                <a:t>Audit ledger</a:t>
              </a:r>
            </a:p>
          </p:txBody>
        </p:sp>
        <p:sp>
          <p:nvSpPr>
            <p:cNvPr id="36" name="Line 36"/>
            <p:cNvSpPr/>
            <p:nvPr/>
          </p:nvSpPr>
          <p:spPr>
            <a:xfrm>
              <a:off x="9867900" y="2114550"/>
              <a:ext cx="1485900" cy="9525"/>
            </a:xfrm>
            <a:custGeom>
              <a:avLst/>
              <a:gdLst/>
              <a:ahLst/>
              <a:cxnLst/>
              <a:rect l="l" t="t" r="r" b="b"/>
              <a:pathLst>
                <a:path w="1485900" h="9525">
                  <a:moveTo>
                    <a:pt x="0" y="0"/>
                  </a:moveTo>
                  <a:lnTo>
                    <a:pt x="1485900" y="0"/>
                  </a:lnTo>
                </a:path>
              </a:pathLst>
            </a:custGeom>
            <a:noFill/>
            <a:ln w="19050">
              <a:solidFill>
                <a:srgbClr val="D9E2EC"/>
              </a:solidFill>
            </a:ln>
          </p:spPr>
        </p:sp>
        <p:sp>
          <p:nvSpPr>
            <p:cNvPr id="37" name="TextBox 37"/>
            <p:cNvSpPr txBox="1"/>
            <p:nvPr/>
          </p:nvSpPr>
          <p:spPr>
            <a:xfrm>
              <a:off x="9893618" y="2352199"/>
              <a:ext cx="492824" cy="198120"/>
            </a:xfrm>
            <a:prstGeom prst="rect">
              <a:avLst/>
            </a:prstGeom>
            <a:noFill/>
            <a:ln>
              <a:noFill/>
            </a:ln>
          </p:spPr>
          <p:txBody>
            <a:bodyPr wrap="none" lIns="0" tIns="0" rIns="0" bIns="0" anchor="t" anchorCtr="0">
              <a:spAutoFit/>
            </a:bodyPr>
            <a:lstStyle/>
            <a:p>
              <a:pPr algn="l"/>
              <a:r>
                <a:rPr lang="zh-CN" sz="975" dirty="0">
                  <a:solidFill>
                    <a:srgbClr val="475569"/>
                  </a:solidFill>
                  <a:latin typeface="Consolas"/>
                  <a:ea typeface="Microsoft YaHei"/>
                  <a:cs typeface="Consolas"/>
                </a:rPr>
                <a:t>node_id</a:t>
              </a:r>
            </a:p>
          </p:txBody>
        </p:sp>
        <p:sp>
          <p:nvSpPr>
            <p:cNvPr id="38" name="TextBox 38"/>
            <p:cNvSpPr txBox="1"/>
            <p:nvPr/>
          </p:nvSpPr>
          <p:spPr>
            <a:xfrm>
              <a:off x="9893618" y="2618899"/>
              <a:ext cx="421315" cy="198120"/>
            </a:xfrm>
            <a:prstGeom prst="rect">
              <a:avLst/>
            </a:prstGeom>
            <a:noFill/>
            <a:ln>
              <a:noFill/>
            </a:ln>
          </p:spPr>
          <p:txBody>
            <a:bodyPr wrap="none" lIns="0" tIns="0" rIns="0" bIns="0" anchor="t" anchorCtr="0">
              <a:spAutoFit/>
            </a:bodyPr>
            <a:lstStyle/>
            <a:p>
              <a:pPr algn="l"/>
              <a:r>
                <a:rPr lang="zh-CN" sz="975" dirty="0">
                  <a:solidFill>
                    <a:srgbClr val="475569"/>
                  </a:solidFill>
                  <a:latin typeface="Consolas"/>
                  <a:ea typeface="Microsoft YaHei"/>
                  <a:cs typeface="Consolas"/>
                </a:rPr>
                <a:t>action</a:t>
              </a:r>
            </a:p>
          </p:txBody>
        </p:sp>
        <p:sp>
          <p:nvSpPr>
            <p:cNvPr id="39" name="TextBox 39"/>
            <p:cNvSpPr txBox="1"/>
            <p:nvPr/>
          </p:nvSpPr>
          <p:spPr>
            <a:xfrm>
              <a:off x="9893618" y="2885599"/>
              <a:ext cx="1064895" cy="198120"/>
            </a:xfrm>
            <a:prstGeom prst="rect">
              <a:avLst/>
            </a:prstGeom>
            <a:noFill/>
            <a:ln>
              <a:noFill/>
            </a:ln>
          </p:spPr>
          <p:txBody>
            <a:bodyPr wrap="none" lIns="0" tIns="0" rIns="0" bIns="0" anchor="t" anchorCtr="0">
              <a:spAutoFit/>
            </a:bodyPr>
            <a:lstStyle/>
            <a:p>
              <a:pPr algn="l"/>
              <a:r>
                <a:rPr lang="zh-CN" sz="975" dirty="0">
                  <a:solidFill>
                    <a:srgbClr val="475569"/>
                  </a:solidFill>
                  <a:latin typeface="Consolas"/>
                  <a:ea typeface="Microsoft YaHei"/>
                  <a:cs typeface="Consolas"/>
                </a:rPr>
                <a:t>predicted_shots</a:t>
              </a:r>
            </a:p>
          </p:txBody>
        </p:sp>
        <p:sp>
          <p:nvSpPr>
            <p:cNvPr id="40" name="TextBox 40"/>
            <p:cNvSpPr txBox="1"/>
            <p:nvPr/>
          </p:nvSpPr>
          <p:spPr>
            <a:xfrm>
              <a:off x="9893618" y="3152299"/>
              <a:ext cx="596836" cy="198120"/>
            </a:xfrm>
            <a:prstGeom prst="rect">
              <a:avLst/>
            </a:prstGeom>
            <a:noFill/>
            <a:ln>
              <a:noFill/>
            </a:ln>
          </p:spPr>
          <p:txBody>
            <a:bodyPr wrap="none" lIns="0" tIns="0" rIns="0" bIns="0" anchor="t" anchorCtr="0">
              <a:spAutoFit/>
            </a:bodyPr>
            <a:lstStyle/>
            <a:p>
              <a:pPr algn="l"/>
              <a:r>
                <a:rPr lang="zh-CN" sz="975" dirty="0">
                  <a:solidFill>
                    <a:srgbClr val="475569"/>
                  </a:solidFill>
                  <a:latin typeface="Consolas"/>
                  <a:ea typeface="Microsoft YaHei"/>
                  <a:cs typeface="Consolas"/>
                </a:rPr>
                <a:t>approved</a:t>
              </a:r>
            </a:p>
          </p:txBody>
        </p:sp>
        <p:sp>
          <p:nvSpPr>
            <p:cNvPr id="41" name="TextBox 41"/>
            <p:cNvSpPr txBox="1"/>
            <p:nvPr/>
          </p:nvSpPr>
          <p:spPr>
            <a:xfrm>
              <a:off x="9893618" y="3418999"/>
              <a:ext cx="453819" cy="198120"/>
            </a:xfrm>
            <a:prstGeom prst="rect">
              <a:avLst/>
            </a:prstGeom>
            <a:noFill/>
            <a:ln>
              <a:noFill/>
            </a:ln>
          </p:spPr>
          <p:txBody>
            <a:bodyPr wrap="none" lIns="0" tIns="0" rIns="0" bIns="0" anchor="t" anchorCtr="0">
              <a:spAutoFit/>
            </a:bodyPr>
            <a:lstStyle/>
            <a:p>
              <a:pPr algn="l"/>
              <a:r>
                <a:rPr lang="zh-CN" sz="975" dirty="0">
                  <a:solidFill>
                    <a:srgbClr val="475569"/>
                  </a:solidFill>
                  <a:latin typeface="Consolas"/>
                  <a:ea typeface="Microsoft YaHei"/>
                  <a:cs typeface="Consolas"/>
                </a:rPr>
                <a:t>reason</a:t>
              </a:r>
            </a:p>
          </p:txBody>
        </p:sp>
        <p:sp>
          <p:nvSpPr>
            <p:cNvPr id="42" name="Rectangle 42"/>
            <p:cNvSpPr/>
            <p:nvPr/>
          </p:nvSpPr>
          <p:spPr>
            <a:xfrm>
              <a:off x="9886950" y="3905250"/>
              <a:ext cx="1466850" cy="514350"/>
            </a:xfrm>
            <a:prstGeom prst="roundRect">
              <a:avLst>
                <a:gd name="adj" fmla="val 14815"/>
              </a:avLst>
            </a:prstGeom>
            <a:solidFill>
              <a:srgbClr val="FFFFFF"/>
            </a:solidFill>
            <a:ln w="9525">
              <a:solidFill>
                <a:srgbClr val="D9E2EC"/>
              </a:solidFill>
            </a:ln>
          </p:spPr>
        </p:sp>
        <p:sp>
          <p:nvSpPr>
            <p:cNvPr id="43" name="TextBox 43"/>
            <p:cNvSpPr txBox="1"/>
            <p:nvPr/>
          </p:nvSpPr>
          <p:spPr>
            <a:xfrm>
              <a:off x="10062210" y="4090035"/>
              <a:ext cx="1551070" cy="243840"/>
            </a:xfrm>
            <a:prstGeom prst="rect">
              <a:avLst/>
            </a:prstGeom>
            <a:noFill/>
            <a:ln>
              <a:noFill/>
            </a:ln>
          </p:spPr>
          <p:txBody>
            <a:bodyPr wrap="none" lIns="0" tIns="0" rIns="0" bIns="0" anchor="t" anchorCtr="0">
              <a:spAutoFit/>
            </a:bodyPr>
            <a:lstStyle/>
            <a:p>
              <a:pPr algn="l"/>
              <a:r>
                <a:rPr lang="zh-CN" sz="1200" b="1" dirty="0">
                  <a:solidFill>
                    <a:srgbClr val="146EB4"/>
                  </a:solidFill>
                  <a:latin typeface="Arial"/>
                  <a:ea typeface="Microsoft YaHei"/>
                  <a:cs typeface="Arial"/>
                </a:rPr>
                <a:t>append-only JSONL</a:t>
              </a:r>
            </a:p>
          </p:txBody>
        </p:sp>
      </p:grpSp>
      <p:grpSp>
        <p:nvGrpSpPr>
          <p:cNvPr id="47" name="Group 47"/>
          <p:cNvGrpSpPr/>
          <p:nvPr/>
        </p:nvGrpSpPr>
        <p:grpSpPr>
          <a:xfrm>
            <a:off x="1562100" y="5391150"/>
            <a:ext cx="9067800" cy="647700"/>
            <a:chOff x="1562100" y="5391150"/>
            <a:chExt cx="9067800" cy="647700"/>
          </a:xfrm>
        </p:grpSpPr>
        <p:sp>
          <p:nvSpPr>
            <p:cNvPr id="45" name="Rectangle 45"/>
            <p:cNvSpPr/>
            <p:nvPr/>
          </p:nvSpPr>
          <p:spPr>
            <a:xfrm>
              <a:off x="1562100" y="5391150"/>
              <a:ext cx="9067800" cy="647700"/>
            </a:xfrm>
            <a:prstGeom prst="roundRect">
              <a:avLst>
                <a:gd name="adj" fmla="val 11765"/>
              </a:avLst>
            </a:prstGeom>
            <a:solidFill>
              <a:srgbClr val="E8F3FC"/>
            </a:solidFill>
            <a:ln w="19050">
              <a:solidFill>
                <a:srgbClr val="146EB4"/>
              </a:solidFill>
            </a:ln>
          </p:spPr>
        </p:sp>
        <p:sp>
          <p:nvSpPr>
            <p:cNvPr id="46" name="TextBox 46"/>
            <p:cNvSpPr txBox="1"/>
            <p:nvPr/>
          </p:nvSpPr>
          <p:spPr>
            <a:xfrm>
              <a:off x="2451735" y="5590222"/>
              <a:ext cx="3926615" cy="396240"/>
            </a:xfrm>
            <a:prstGeom prst="rect">
              <a:avLst/>
            </a:prstGeom>
            <a:noFill/>
            <a:ln>
              <a:noFill/>
            </a:ln>
          </p:spPr>
          <p:txBody>
            <a:bodyPr wrap="none" lIns="0" tIns="0" rIns="0" bIns="0" anchor="t" anchorCtr="0">
              <a:spAutoFit/>
            </a:bodyPr>
            <a:lstStyle/>
            <a:p>
              <a:pPr algn="l"/>
              <a:r>
                <a:rPr lang="zh-CN" sz="1950" b="1" dirty="0">
                  <a:solidFill>
                    <a:srgbClr val="111827"/>
                  </a:solidFill>
                  <a:latin typeface="Arial"/>
                  <a:ea typeface="Microsoft YaHei"/>
                  <a:cs typeface="Arial"/>
                </a:rPr>
                <a:t>AI proposes; Policy disposes.</a:t>
              </a:r>
            </a:p>
          </p:txBody>
        </p:sp>
      </p:grpSp>
      <p:sp>
        <p:nvSpPr>
          <p:cNvPr id="48" name="TextBox 48"/>
          <p:cNvSpPr txBox="1"/>
          <p:nvPr/>
        </p:nvSpPr>
        <p:spPr>
          <a:xfrm>
            <a:off x="522922" y="6483191"/>
            <a:ext cx="4729544" cy="167640"/>
          </a:xfrm>
          <a:prstGeom prst="rect">
            <a:avLst/>
          </a:prstGeom>
          <a:noFill/>
          <a:ln>
            <a:noFill/>
          </a:ln>
        </p:spPr>
        <p:txBody>
          <a:bodyPr wrap="none" lIns="0" tIns="0" rIns="0" bIns="0" anchor="t" anchorCtr="0">
            <a:spAutoFit/>
          </a:bodyPr>
          <a:lstStyle/>
          <a:p>
            <a:pPr algn="l"/>
            <a:r>
              <a:rPr lang="zh-CN" sz="825" dirty="0">
                <a:solidFill>
                  <a:srgbClr val="94A3B8"/>
                </a:solidFill>
                <a:latin typeface="Arial"/>
                <a:ea typeface="Microsoft YaHei"/>
                <a:cs typeface="Arial"/>
              </a:rPr>
              <a:t>Policy checks every side-effecting probe, calibration, execution, and mitigation action</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400"/>
                                        <p:tgtEl>
                                          <p:spTgt spid="33"/>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44"/>
                                        </p:tgtEl>
                                        <p:attrNameLst>
                                          <p:attrName>style.visibility</p:attrName>
                                        </p:attrNameLst>
                                      </p:cBhvr>
                                      <p:to>
                                        <p:strVal val="visible"/>
                                      </p:to>
                                    </p:set>
                                    <p:animEffect transition="in" filter="slide(fromBottom)">
                                      <p:cBhvr>
                                        <p:cTn id="11" dur="400"/>
                                        <p:tgtEl>
                                          <p:spTgt spid="44"/>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47"/>
                                        </p:tgtEl>
                                        <p:attrNameLst>
                                          <p:attrName>style.visibility</p:attrName>
                                        </p:attrNameLst>
                                      </p:cBhvr>
                                      <p:to>
                                        <p:strVal val="visible"/>
                                      </p:to>
                                    </p:set>
                                    <p:animEffect transition="in" filter="fade">
                                      <p:cBhvr>
                                        <p:cTn id="15" dur="4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44" grpId="0"/>
      <p:bldP spid="4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533400" y="419100"/>
              <a:ext cx="11125200" cy="9525"/>
            </a:xfrm>
            <a:prstGeom prst="rect">
              <a:avLst/>
            </a:prstGeom>
            <a:solidFill>
              <a:srgbClr val="D9E2EC"/>
            </a:solidFill>
            <a:ln>
              <a:noFill/>
            </a:ln>
          </p:spPr>
        </p:sp>
      </p:grpSp>
      <p:grpSp>
        <p:nvGrpSpPr>
          <p:cNvPr id="7" name="Group 7"/>
          <p:cNvGrpSpPr/>
          <p:nvPr/>
        </p:nvGrpSpPr>
        <p:grpSpPr>
          <a:xfrm>
            <a:off x="502920" y="560070"/>
            <a:ext cx="10783919" cy="487680"/>
            <a:chOff x="502920" y="560070"/>
            <a:chExt cx="10783919" cy="487680"/>
          </a:xfrm>
        </p:grpSpPr>
        <p:sp>
          <p:nvSpPr>
            <p:cNvPr id="5" name="TextBox 5"/>
            <p:cNvSpPr txBox="1"/>
            <p:nvPr/>
          </p:nvSpPr>
          <p:spPr>
            <a:xfrm>
              <a:off x="502920" y="560070"/>
              <a:ext cx="5807278" cy="487680"/>
            </a:xfrm>
            <a:prstGeom prst="rect">
              <a:avLst/>
            </a:prstGeom>
            <a:noFill/>
            <a:ln>
              <a:noFill/>
            </a:ln>
          </p:spPr>
          <p:txBody>
            <a:bodyPr wrap="none" lIns="0" tIns="0" rIns="0" bIns="0" anchor="t" anchorCtr="0">
              <a:spAutoFit/>
            </a:bodyPr>
            <a:lstStyle/>
            <a:p>
              <a:pPr algn="l"/>
              <a:r>
                <a:rPr lang="zh-CN" sz="2400" b="1" dirty="0">
                  <a:solidFill>
                    <a:srgbClr val="111827"/>
                  </a:solidFill>
                  <a:latin typeface="Arial"/>
                  <a:ea typeface="Microsoft YaHei"/>
                  <a:cs typeface="Arial"/>
                </a:rPr>
                <a:t>Demo setup: 2-qubit Ising estimate</a:t>
              </a:r>
            </a:p>
          </p:txBody>
        </p:sp>
        <p:sp>
          <p:nvSpPr>
            <p:cNvPr id="6" name="TextBox 6"/>
            <p:cNvSpPr txBox="1"/>
            <p:nvPr/>
          </p:nvSpPr>
          <p:spPr>
            <a:xfrm>
              <a:off x="10826115" y="667702"/>
              <a:ext cx="460724" cy="213360"/>
            </a:xfrm>
            <a:prstGeom prst="rect">
              <a:avLst/>
            </a:prstGeom>
            <a:noFill/>
            <a:ln>
              <a:noFill/>
            </a:ln>
          </p:spPr>
          <p:txBody>
            <a:bodyPr wrap="none" lIns="0" tIns="0" rIns="0" bIns="0" anchor="t" anchorCtr="0">
              <a:spAutoFit/>
            </a:bodyPr>
            <a:lstStyle/>
            <a:p>
              <a:pPr algn="l"/>
              <a:r>
                <a:rPr lang="zh-CN" sz="1050" dirty="0">
                  <a:solidFill>
                    <a:srgbClr val="94A3B8"/>
                  </a:solidFill>
                  <a:latin typeface="Arial"/>
                  <a:ea typeface="Microsoft YaHei"/>
                  <a:cs typeface="Arial"/>
                </a:rPr>
                <a:t>08 / 10</a:t>
              </a:r>
            </a:p>
          </p:txBody>
        </p:sp>
      </p:grpSp>
      <p:grpSp>
        <p:nvGrpSpPr>
          <p:cNvPr id="27" name="Group 27"/>
          <p:cNvGrpSpPr/>
          <p:nvPr/>
        </p:nvGrpSpPr>
        <p:grpSpPr>
          <a:xfrm>
            <a:off x="685800" y="1257300"/>
            <a:ext cx="6739890" cy="2952750"/>
            <a:chOff x="685800" y="1257300"/>
            <a:chExt cx="6739890" cy="2952750"/>
          </a:xfrm>
        </p:grpSpPr>
        <p:sp>
          <p:nvSpPr>
            <p:cNvPr id="8" name="Rectangle 8"/>
            <p:cNvSpPr/>
            <p:nvPr/>
          </p:nvSpPr>
          <p:spPr>
            <a:xfrm>
              <a:off x="685800" y="1257300"/>
              <a:ext cx="4838700" cy="2952750"/>
            </a:xfrm>
            <a:prstGeom prst="roundRect">
              <a:avLst>
                <a:gd name="adj" fmla="val 2581"/>
              </a:avLst>
            </a:prstGeom>
            <a:solidFill>
              <a:srgbClr val="F6F8FB"/>
            </a:solidFill>
            <a:ln w="19050">
              <a:solidFill>
                <a:srgbClr val="D9E2EC"/>
              </a:solidFill>
            </a:ln>
          </p:spPr>
        </p:sp>
        <p:sp>
          <p:nvSpPr>
            <p:cNvPr id="9" name="TextBox 9"/>
            <p:cNvSpPr txBox="1"/>
            <p:nvPr/>
          </p:nvSpPr>
          <p:spPr>
            <a:xfrm>
              <a:off x="969645" y="1498282"/>
              <a:ext cx="1751524" cy="335280"/>
            </a:xfrm>
            <a:prstGeom prst="rect">
              <a:avLst/>
            </a:prstGeom>
            <a:noFill/>
            <a:ln>
              <a:noFill/>
            </a:ln>
          </p:spPr>
          <p:txBody>
            <a:bodyPr wrap="none" lIns="0" tIns="0" rIns="0" bIns="0" anchor="t" anchorCtr="0">
              <a:spAutoFit/>
            </a:bodyPr>
            <a:lstStyle/>
            <a:p>
              <a:pPr algn="l"/>
              <a:r>
                <a:rPr lang="zh-CN" sz="1650" b="1" dirty="0">
                  <a:solidFill>
                    <a:srgbClr val="146EB4"/>
                  </a:solidFill>
                  <a:latin typeface="Arial"/>
                  <a:ea typeface="Microsoft YaHei"/>
                  <a:cs typeface="Arial"/>
                </a:rPr>
                <a:t>Target problem</a:t>
              </a:r>
            </a:p>
          </p:txBody>
        </p:sp>
        <p:sp>
          <p:nvSpPr>
            <p:cNvPr id="10" name="TextBox 10"/>
            <p:cNvSpPr txBox="1"/>
            <p:nvPr/>
          </p:nvSpPr>
          <p:spPr>
            <a:xfrm>
              <a:off x="974408" y="1862614"/>
              <a:ext cx="2999256" cy="259080"/>
            </a:xfrm>
            <a:prstGeom prst="rect">
              <a:avLst/>
            </a:prstGeom>
            <a:noFill/>
            <a:ln>
              <a:noFill/>
            </a:ln>
          </p:spPr>
          <p:txBody>
            <a:bodyPr wrap="none" lIns="0" tIns="0" rIns="0" bIns="0" anchor="t" anchorCtr="0">
              <a:spAutoFit/>
            </a:bodyPr>
            <a:lstStyle/>
            <a:p>
              <a:pPr algn="l"/>
              <a:r>
                <a:rPr lang="zh-CN" sz="1275" dirty="0">
                  <a:solidFill>
                    <a:srgbClr val="475569"/>
                  </a:solidFill>
                  <a:latin typeface="Arial"/>
                  <a:ea typeface="Microsoft YaHei"/>
                  <a:cs typeface="Arial"/>
                </a:rPr>
                <a:t>Estimate transverse-field Ising &lt;H&gt;</a:t>
              </a:r>
            </a:p>
          </p:txBody>
        </p:sp>
        <p:sp>
          <p:nvSpPr>
            <p:cNvPr id="11" name="Line 11"/>
            <p:cNvSpPr/>
            <p:nvPr/>
          </p:nvSpPr>
          <p:spPr>
            <a:xfrm>
              <a:off x="1219200" y="2724150"/>
              <a:ext cx="3733800" cy="9525"/>
            </a:xfrm>
            <a:custGeom>
              <a:avLst/>
              <a:gdLst/>
              <a:ahLst/>
              <a:cxnLst/>
              <a:rect l="l" t="t" r="r" b="b"/>
              <a:pathLst>
                <a:path w="3733800" h="9525">
                  <a:moveTo>
                    <a:pt x="0" y="0"/>
                  </a:moveTo>
                  <a:lnTo>
                    <a:pt x="3733800" y="0"/>
                  </a:lnTo>
                </a:path>
              </a:pathLst>
            </a:custGeom>
            <a:noFill/>
            <a:ln w="19050">
              <a:solidFill>
                <a:srgbClr val="94A3B8"/>
              </a:solidFill>
            </a:ln>
          </p:spPr>
        </p:sp>
        <p:sp>
          <p:nvSpPr>
            <p:cNvPr id="12" name="Line 12"/>
            <p:cNvSpPr/>
            <p:nvPr/>
          </p:nvSpPr>
          <p:spPr>
            <a:xfrm>
              <a:off x="1219200" y="3390900"/>
              <a:ext cx="3733800" cy="9525"/>
            </a:xfrm>
            <a:custGeom>
              <a:avLst/>
              <a:gdLst/>
              <a:ahLst/>
              <a:cxnLst/>
              <a:rect l="l" t="t" r="r" b="b"/>
              <a:pathLst>
                <a:path w="3733800" h="9525">
                  <a:moveTo>
                    <a:pt x="0" y="0"/>
                  </a:moveTo>
                  <a:lnTo>
                    <a:pt x="3733800" y="0"/>
                  </a:lnTo>
                </a:path>
              </a:pathLst>
            </a:custGeom>
            <a:noFill/>
            <a:ln w="19050">
              <a:solidFill>
                <a:srgbClr val="94A3B8"/>
              </a:solidFill>
            </a:ln>
          </p:spPr>
        </p:sp>
        <p:sp>
          <p:nvSpPr>
            <p:cNvPr id="13" name="TextBox 13"/>
            <p:cNvSpPr txBox="1"/>
            <p:nvPr/>
          </p:nvSpPr>
          <p:spPr>
            <a:xfrm>
              <a:off x="975360" y="2651760"/>
              <a:ext cx="206502" cy="243840"/>
            </a:xfrm>
            <a:prstGeom prst="rect">
              <a:avLst/>
            </a:prstGeom>
            <a:noFill/>
            <a:ln>
              <a:noFill/>
            </a:ln>
          </p:spPr>
          <p:txBody>
            <a:bodyPr wrap="none" lIns="0" tIns="0" rIns="0" bIns="0" anchor="t" anchorCtr="0">
              <a:spAutoFit/>
            </a:bodyPr>
            <a:lstStyle/>
            <a:p>
              <a:pPr algn="l"/>
              <a:r>
                <a:rPr lang="zh-CN" sz="1200" dirty="0">
                  <a:solidFill>
                    <a:srgbClr val="111827"/>
                  </a:solidFill>
                  <a:latin typeface="Consolas"/>
                  <a:ea typeface="Microsoft YaHei"/>
                  <a:cs typeface="Consolas"/>
                </a:rPr>
                <a:t>q0</a:t>
              </a:r>
            </a:p>
          </p:txBody>
        </p:sp>
        <p:sp>
          <p:nvSpPr>
            <p:cNvPr id="14" name="TextBox 14"/>
            <p:cNvSpPr txBox="1"/>
            <p:nvPr/>
          </p:nvSpPr>
          <p:spPr>
            <a:xfrm>
              <a:off x="975360" y="3318510"/>
              <a:ext cx="166497" cy="243840"/>
            </a:xfrm>
            <a:prstGeom prst="rect">
              <a:avLst/>
            </a:prstGeom>
            <a:noFill/>
            <a:ln>
              <a:noFill/>
            </a:ln>
          </p:spPr>
          <p:txBody>
            <a:bodyPr wrap="none" lIns="0" tIns="0" rIns="0" bIns="0" anchor="t" anchorCtr="0">
              <a:spAutoFit/>
            </a:bodyPr>
            <a:lstStyle/>
            <a:p>
              <a:pPr algn="l"/>
              <a:r>
                <a:rPr lang="zh-CN" sz="1200" dirty="0">
                  <a:solidFill>
                    <a:srgbClr val="111827"/>
                  </a:solidFill>
                  <a:latin typeface="Consolas"/>
                  <a:ea typeface="Microsoft YaHei"/>
                  <a:cs typeface="Consolas"/>
                </a:rPr>
                <a:t>q1</a:t>
              </a:r>
            </a:p>
          </p:txBody>
        </p:sp>
        <p:sp>
          <p:nvSpPr>
            <p:cNvPr id="15" name="Rectangle 15"/>
            <p:cNvSpPr/>
            <p:nvPr/>
          </p:nvSpPr>
          <p:spPr>
            <a:xfrm>
              <a:off x="1562100" y="2514600"/>
              <a:ext cx="533400" cy="419100"/>
            </a:xfrm>
            <a:prstGeom prst="roundRect">
              <a:avLst>
                <a:gd name="adj" fmla="val 13636"/>
              </a:avLst>
            </a:prstGeom>
            <a:solidFill>
              <a:srgbClr val="FFFFFF"/>
            </a:solidFill>
            <a:ln w="19050">
              <a:solidFill>
                <a:srgbClr val="146EB4"/>
              </a:solidFill>
            </a:ln>
          </p:spPr>
        </p:sp>
        <p:sp>
          <p:nvSpPr>
            <p:cNvPr id="16" name="Rectangle 16"/>
            <p:cNvSpPr/>
            <p:nvPr/>
          </p:nvSpPr>
          <p:spPr>
            <a:xfrm>
              <a:off x="1562100" y="3181350"/>
              <a:ext cx="533400" cy="419100"/>
            </a:xfrm>
            <a:prstGeom prst="roundRect">
              <a:avLst>
                <a:gd name="adj" fmla="val 13636"/>
              </a:avLst>
            </a:prstGeom>
            <a:solidFill>
              <a:srgbClr val="FFFFFF"/>
            </a:solidFill>
            <a:ln w="19050">
              <a:solidFill>
                <a:srgbClr val="146EB4"/>
              </a:solidFill>
            </a:ln>
          </p:spPr>
        </p:sp>
        <p:sp>
          <p:nvSpPr>
            <p:cNvPr id="17" name="TextBox 17"/>
            <p:cNvSpPr txBox="1"/>
            <p:nvPr/>
          </p:nvSpPr>
          <p:spPr>
            <a:xfrm>
              <a:off x="1700212" y="2659856"/>
              <a:ext cx="193596" cy="228600"/>
            </a:xfrm>
            <a:prstGeom prst="rect">
              <a:avLst/>
            </a:prstGeom>
            <a:noFill/>
            <a:ln>
              <a:noFill/>
            </a:ln>
          </p:spPr>
          <p:txBody>
            <a:bodyPr wrap="none" lIns="0" tIns="0" rIns="0" bIns="0" anchor="t" anchorCtr="0">
              <a:spAutoFit/>
            </a:bodyPr>
            <a:lstStyle/>
            <a:p>
              <a:pPr algn="l"/>
              <a:r>
                <a:rPr lang="zh-CN" sz="1125" dirty="0">
                  <a:solidFill>
                    <a:srgbClr val="111827"/>
                  </a:solidFill>
                  <a:latin typeface="Consolas"/>
                  <a:ea typeface="Microsoft YaHei"/>
                  <a:cs typeface="Consolas"/>
                </a:rPr>
                <a:t>Rx</a:t>
              </a:r>
            </a:p>
          </p:txBody>
        </p:sp>
        <p:sp>
          <p:nvSpPr>
            <p:cNvPr id="18" name="TextBox 18"/>
            <p:cNvSpPr txBox="1"/>
            <p:nvPr/>
          </p:nvSpPr>
          <p:spPr>
            <a:xfrm>
              <a:off x="1700212" y="3326606"/>
              <a:ext cx="193596" cy="228600"/>
            </a:xfrm>
            <a:prstGeom prst="rect">
              <a:avLst/>
            </a:prstGeom>
            <a:noFill/>
            <a:ln>
              <a:noFill/>
            </a:ln>
          </p:spPr>
          <p:txBody>
            <a:bodyPr wrap="none" lIns="0" tIns="0" rIns="0" bIns="0" anchor="t" anchorCtr="0">
              <a:spAutoFit/>
            </a:bodyPr>
            <a:lstStyle/>
            <a:p>
              <a:pPr algn="l"/>
              <a:r>
                <a:rPr lang="zh-CN" sz="1125" dirty="0">
                  <a:solidFill>
                    <a:srgbClr val="111827"/>
                  </a:solidFill>
                  <a:latin typeface="Consolas"/>
                  <a:ea typeface="Microsoft YaHei"/>
                  <a:cs typeface="Consolas"/>
                </a:rPr>
                <a:t>Rx</a:t>
              </a:r>
            </a:p>
          </p:txBody>
        </p:sp>
        <p:sp>
          <p:nvSpPr>
            <p:cNvPr id="19" name="Line 19"/>
            <p:cNvSpPr/>
            <p:nvPr/>
          </p:nvSpPr>
          <p:spPr>
            <a:xfrm>
              <a:off x="2628900" y="2724150"/>
              <a:ext cx="9525" cy="666750"/>
            </a:xfrm>
            <a:custGeom>
              <a:avLst/>
              <a:gdLst/>
              <a:ahLst/>
              <a:cxnLst/>
              <a:rect l="l" t="t" r="r" b="b"/>
              <a:pathLst>
                <a:path w="9525" h="666750">
                  <a:moveTo>
                    <a:pt x="0" y="0"/>
                  </a:moveTo>
                  <a:lnTo>
                    <a:pt x="0" y="666750"/>
                  </a:lnTo>
                </a:path>
              </a:pathLst>
            </a:custGeom>
            <a:noFill/>
            <a:ln w="28575">
              <a:solidFill>
                <a:srgbClr val="111827"/>
              </a:solidFill>
            </a:ln>
          </p:spPr>
        </p:sp>
        <p:sp>
          <p:nvSpPr>
            <p:cNvPr id="20" name="Ellipse 20"/>
            <p:cNvSpPr/>
            <p:nvPr/>
          </p:nvSpPr>
          <p:spPr>
            <a:xfrm>
              <a:off x="2552700" y="2647950"/>
              <a:ext cx="152400" cy="152400"/>
            </a:xfrm>
            <a:prstGeom prst="ellipse">
              <a:avLst/>
            </a:prstGeom>
            <a:solidFill>
              <a:srgbClr val="111827"/>
            </a:solidFill>
            <a:ln>
              <a:noFill/>
            </a:ln>
          </p:spPr>
        </p:sp>
        <p:sp>
          <p:nvSpPr>
            <p:cNvPr id="21" name="Ellipse 21"/>
            <p:cNvSpPr/>
            <p:nvPr/>
          </p:nvSpPr>
          <p:spPr>
            <a:xfrm>
              <a:off x="2552700" y="3314700"/>
              <a:ext cx="152400" cy="152400"/>
            </a:xfrm>
            <a:prstGeom prst="ellipse">
              <a:avLst/>
            </a:prstGeom>
            <a:solidFill>
              <a:srgbClr val="FFFFFF"/>
            </a:solidFill>
            <a:ln w="28575">
              <a:solidFill>
                <a:srgbClr val="111827"/>
              </a:solidFill>
            </a:ln>
          </p:spPr>
        </p:sp>
        <p:sp>
          <p:nvSpPr>
            <p:cNvPr id="22" name="Rectangle 22"/>
            <p:cNvSpPr/>
            <p:nvPr/>
          </p:nvSpPr>
          <p:spPr>
            <a:xfrm>
              <a:off x="3181350" y="2514600"/>
              <a:ext cx="533400" cy="419100"/>
            </a:xfrm>
            <a:prstGeom prst="roundRect">
              <a:avLst>
                <a:gd name="adj" fmla="val 13636"/>
              </a:avLst>
            </a:prstGeom>
            <a:solidFill>
              <a:srgbClr val="FFFFFF"/>
            </a:solidFill>
            <a:ln w="19050">
              <a:solidFill>
                <a:srgbClr val="146EB4"/>
              </a:solidFill>
            </a:ln>
          </p:spPr>
        </p:sp>
        <p:sp>
          <p:nvSpPr>
            <p:cNvPr id="23" name="Rectangle 23"/>
            <p:cNvSpPr/>
            <p:nvPr/>
          </p:nvSpPr>
          <p:spPr>
            <a:xfrm>
              <a:off x="3181350" y="3181350"/>
              <a:ext cx="533400" cy="419100"/>
            </a:xfrm>
            <a:prstGeom prst="roundRect">
              <a:avLst>
                <a:gd name="adj" fmla="val 13636"/>
              </a:avLst>
            </a:prstGeom>
            <a:solidFill>
              <a:srgbClr val="FFFFFF"/>
            </a:solidFill>
            <a:ln w="19050">
              <a:solidFill>
                <a:srgbClr val="146EB4"/>
              </a:solidFill>
            </a:ln>
          </p:spPr>
        </p:sp>
        <p:sp>
          <p:nvSpPr>
            <p:cNvPr id="24" name="TextBox 24"/>
            <p:cNvSpPr txBox="1"/>
            <p:nvPr/>
          </p:nvSpPr>
          <p:spPr>
            <a:xfrm>
              <a:off x="3319462" y="2659856"/>
              <a:ext cx="193596" cy="228600"/>
            </a:xfrm>
            <a:prstGeom prst="rect">
              <a:avLst/>
            </a:prstGeom>
            <a:noFill/>
            <a:ln>
              <a:noFill/>
            </a:ln>
          </p:spPr>
          <p:txBody>
            <a:bodyPr wrap="none" lIns="0" tIns="0" rIns="0" bIns="0" anchor="t" anchorCtr="0">
              <a:spAutoFit/>
            </a:bodyPr>
            <a:lstStyle/>
            <a:p>
              <a:pPr algn="l"/>
              <a:r>
                <a:rPr lang="zh-CN" sz="1125" dirty="0">
                  <a:solidFill>
                    <a:srgbClr val="111827"/>
                  </a:solidFill>
                  <a:latin typeface="Consolas"/>
                  <a:ea typeface="Microsoft YaHei"/>
                  <a:cs typeface="Consolas"/>
                </a:rPr>
                <a:t>Rx</a:t>
              </a:r>
            </a:p>
          </p:txBody>
        </p:sp>
        <p:sp>
          <p:nvSpPr>
            <p:cNvPr id="25" name="TextBox 25"/>
            <p:cNvSpPr txBox="1"/>
            <p:nvPr/>
          </p:nvSpPr>
          <p:spPr>
            <a:xfrm>
              <a:off x="3319462" y="3326606"/>
              <a:ext cx="193596" cy="228600"/>
            </a:xfrm>
            <a:prstGeom prst="rect">
              <a:avLst/>
            </a:prstGeom>
            <a:noFill/>
            <a:ln>
              <a:noFill/>
            </a:ln>
          </p:spPr>
          <p:txBody>
            <a:bodyPr wrap="none" lIns="0" tIns="0" rIns="0" bIns="0" anchor="t" anchorCtr="0">
              <a:spAutoFit/>
            </a:bodyPr>
            <a:lstStyle/>
            <a:p>
              <a:pPr algn="l"/>
              <a:r>
                <a:rPr lang="zh-CN" sz="1125" dirty="0">
                  <a:solidFill>
                    <a:srgbClr val="111827"/>
                  </a:solidFill>
                  <a:latin typeface="Consolas"/>
                  <a:ea typeface="Microsoft YaHei"/>
                  <a:cs typeface="Consolas"/>
                </a:rPr>
                <a:t>Rx</a:t>
              </a:r>
            </a:p>
          </p:txBody>
        </p:sp>
        <p:sp>
          <p:nvSpPr>
            <p:cNvPr id="26" name="TextBox 26"/>
            <p:cNvSpPr txBox="1"/>
            <p:nvPr/>
          </p:nvSpPr>
          <p:spPr>
            <a:xfrm>
              <a:off x="976312" y="3840956"/>
              <a:ext cx="6449378"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Observable as weighted Pauli terms; exact noiseless reference for local benchmarking.</a:t>
              </a:r>
            </a:p>
          </p:txBody>
        </p:sp>
      </p:grpSp>
      <p:grpSp>
        <p:nvGrpSpPr>
          <p:cNvPr id="41" name="Group 41"/>
          <p:cNvGrpSpPr/>
          <p:nvPr/>
        </p:nvGrpSpPr>
        <p:grpSpPr>
          <a:xfrm>
            <a:off x="5981700" y="1257300"/>
            <a:ext cx="5524500" cy="2952750"/>
            <a:chOff x="5981700" y="1257300"/>
            <a:chExt cx="5524500" cy="2952750"/>
          </a:xfrm>
        </p:grpSpPr>
        <p:sp>
          <p:nvSpPr>
            <p:cNvPr id="28" name="Rectangle 28"/>
            <p:cNvSpPr/>
            <p:nvPr/>
          </p:nvSpPr>
          <p:spPr>
            <a:xfrm>
              <a:off x="5981700" y="1257300"/>
              <a:ext cx="5524500" cy="2952750"/>
            </a:xfrm>
            <a:prstGeom prst="roundRect">
              <a:avLst>
                <a:gd name="adj" fmla="val 2581"/>
              </a:avLst>
            </a:prstGeom>
            <a:solidFill>
              <a:srgbClr val="FFFFFF"/>
            </a:solidFill>
            <a:ln w="19050">
              <a:solidFill>
                <a:srgbClr val="146EB4"/>
              </a:solidFill>
            </a:ln>
          </p:spPr>
        </p:sp>
        <p:sp>
          <p:nvSpPr>
            <p:cNvPr id="29" name="TextBox 29"/>
            <p:cNvSpPr txBox="1"/>
            <p:nvPr/>
          </p:nvSpPr>
          <p:spPr>
            <a:xfrm>
              <a:off x="6265545" y="1498282"/>
              <a:ext cx="1959450" cy="335280"/>
            </a:xfrm>
            <a:prstGeom prst="rect">
              <a:avLst/>
            </a:prstGeom>
            <a:noFill/>
            <a:ln>
              <a:noFill/>
            </a:ln>
          </p:spPr>
          <p:txBody>
            <a:bodyPr wrap="none" lIns="0" tIns="0" rIns="0" bIns="0" anchor="t" anchorCtr="0">
              <a:spAutoFit/>
            </a:bodyPr>
            <a:lstStyle/>
            <a:p>
              <a:pPr algn="l"/>
              <a:r>
                <a:rPr lang="zh-CN" sz="1650" b="1" dirty="0">
                  <a:solidFill>
                    <a:srgbClr val="146EB4"/>
                  </a:solidFill>
                  <a:latin typeface="Arial"/>
                  <a:ea typeface="Microsoft YaHei"/>
                  <a:cs typeface="Arial"/>
                </a:rPr>
                <a:t>Execution target</a:t>
              </a:r>
            </a:p>
          </p:txBody>
        </p:sp>
        <p:sp>
          <p:nvSpPr>
            <p:cNvPr id="30" name="Rectangle 30"/>
            <p:cNvSpPr/>
            <p:nvPr/>
          </p:nvSpPr>
          <p:spPr>
            <a:xfrm>
              <a:off x="6286500" y="2038350"/>
              <a:ext cx="2190750" cy="876300"/>
            </a:xfrm>
            <a:prstGeom prst="roundRect">
              <a:avLst>
                <a:gd name="adj" fmla="val 8696"/>
              </a:avLst>
            </a:prstGeom>
            <a:solidFill>
              <a:srgbClr val="E8F3FC"/>
            </a:solidFill>
            <a:ln w="19050">
              <a:solidFill>
                <a:srgbClr val="146EB4"/>
              </a:solidFill>
            </a:ln>
          </p:spPr>
        </p:sp>
        <p:sp>
          <p:nvSpPr>
            <p:cNvPr id="31" name="TextBox 31"/>
            <p:cNvSpPr txBox="1"/>
            <p:nvPr/>
          </p:nvSpPr>
          <p:spPr>
            <a:xfrm>
              <a:off x="6517005" y="2254568"/>
              <a:ext cx="2066294" cy="274320"/>
            </a:xfrm>
            <a:prstGeom prst="rect">
              <a:avLst/>
            </a:prstGeom>
            <a:noFill/>
            <a:ln>
              <a:noFill/>
            </a:ln>
          </p:spPr>
          <p:txBody>
            <a:bodyPr wrap="none" lIns="0" tIns="0" rIns="0" bIns="0" anchor="t" anchorCtr="0">
              <a:spAutoFit/>
            </a:bodyPr>
            <a:lstStyle/>
            <a:p>
              <a:pPr algn="l"/>
              <a:r>
                <a:rPr lang="zh-CN" sz="1350" b="1" dirty="0">
                  <a:solidFill>
                    <a:srgbClr val="111827"/>
                  </a:solidFill>
                  <a:latin typeface="Arial"/>
                  <a:ea typeface="Microsoft YaHei"/>
                  <a:cs typeface="Arial"/>
                </a:rPr>
                <a:t>Braket LocalSimulator</a:t>
              </a:r>
            </a:p>
          </p:txBody>
        </p:sp>
        <p:sp>
          <p:nvSpPr>
            <p:cNvPr id="32" name="TextBox 32"/>
            <p:cNvSpPr txBox="1"/>
            <p:nvPr/>
          </p:nvSpPr>
          <p:spPr>
            <a:xfrm>
              <a:off x="6519862" y="2564606"/>
              <a:ext cx="2218849"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no AWS infrastructure needed</a:t>
              </a:r>
            </a:p>
          </p:txBody>
        </p:sp>
        <p:sp>
          <p:nvSpPr>
            <p:cNvPr id="33" name="Rectangle 33"/>
            <p:cNvSpPr/>
            <p:nvPr/>
          </p:nvSpPr>
          <p:spPr>
            <a:xfrm>
              <a:off x="8858250" y="2038350"/>
              <a:ext cx="2190750" cy="876300"/>
            </a:xfrm>
            <a:prstGeom prst="roundRect">
              <a:avLst>
                <a:gd name="adj" fmla="val 8696"/>
              </a:avLst>
            </a:prstGeom>
            <a:solidFill>
              <a:srgbClr val="FFF4E0"/>
            </a:solidFill>
            <a:ln w="19050">
              <a:solidFill>
                <a:srgbClr val="FF9900"/>
              </a:solidFill>
            </a:ln>
          </p:spPr>
        </p:sp>
        <p:sp>
          <p:nvSpPr>
            <p:cNvPr id="34" name="TextBox 34"/>
            <p:cNvSpPr txBox="1"/>
            <p:nvPr/>
          </p:nvSpPr>
          <p:spPr>
            <a:xfrm>
              <a:off x="9088755" y="2254568"/>
              <a:ext cx="1281846" cy="274320"/>
            </a:xfrm>
            <a:prstGeom prst="rect">
              <a:avLst/>
            </a:prstGeom>
            <a:noFill/>
            <a:ln>
              <a:noFill/>
            </a:ln>
          </p:spPr>
          <p:txBody>
            <a:bodyPr wrap="none" lIns="0" tIns="0" rIns="0" bIns="0" anchor="t" anchorCtr="0">
              <a:spAutoFit/>
            </a:bodyPr>
            <a:lstStyle/>
            <a:p>
              <a:pPr algn="l"/>
              <a:r>
                <a:rPr lang="zh-CN" sz="1350" b="1" dirty="0">
                  <a:solidFill>
                    <a:srgbClr val="111827"/>
                  </a:solidFill>
                  <a:latin typeface="Consolas"/>
                  <a:ea typeface="Microsoft YaHei"/>
                  <a:cs typeface="Consolas"/>
                </a:rPr>
                <a:t>qd_readout_2</a:t>
              </a:r>
            </a:p>
          </p:txBody>
        </p:sp>
        <p:sp>
          <p:nvSpPr>
            <p:cNvPr id="35" name="TextBox 35"/>
            <p:cNvSpPr txBox="1"/>
            <p:nvPr/>
          </p:nvSpPr>
          <p:spPr>
            <a:xfrm>
              <a:off x="9091612" y="2564606"/>
              <a:ext cx="1843802"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readout-dominated noise</a:t>
              </a:r>
            </a:p>
          </p:txBody>
        </p:sp>
        <p:sp>
          <p:nvSpPr>
            <p:cNvPr id="36" name="Line 36"/>
            <p:cNvSpPr/>
            <p:nvPr/>
          </p:nvSpPr>
          <p:spPr>
            <a:xfrm>
              <a:off x="8477250" y="2476500"/>
              <a:ext cx="361950" cy="9525"/>
            </a:xfrm>
            <a:custGeom>
              <a:avLst/>
              <a:gdLst/>
              <a:ahLst/>
              <a:cxnLst/>
              <a:rect l="l" t="t" r="r" b="b"/>
              <a:pathLst>
                <a:path w="361950" h="9525">
                  <a:moveTo>
                    <a:pt x="0" y="0"/>
                  </a:moveTo>
                  <a:lnTo>
                    <a:pt x="361950" y="0"/>
                  </a:lnTo>
                </a:path>
              </a:pathLst>
            </a:custGeom>
            <a:noFill/>
            <a:ln w="28575">
              <a:solidFill>
                <a:srgbClr val="FF9900"/>
              </a:solidFill>
            </a:ln>
          </p:spPr>
        </p:sp>
        <p:sp>
          <p:nvSpPr>
            <p:cNvPr id="37" name="Polygon 37"/>
            <p:cNvSpPr/>
            <p:nvPr/>
          </p:nvSpPr>
          <p:spPr>
            <a:xfrm>
              <a:off x="8724900" y="2400300"/>
              <a:ext cx="114300" cy="152400"/>
            </a:xfrm>
            <a:custGeom>
              <a:avLst/>
              <a:gdLst/>
              <a:ahLst/>
              <a:cxnLst/>
              <a:rect l="l" t="t" r="r" b="b"/>
              <a:pathLst>
                <a:path w="114300" h="152400">
                  <a:moveTo>
                    <a:pt x="114300" y="76200"/>
                  </a:moveTo>
                  <a:lnTo>
                    <a:pt x="0" y="0"/>
                  </a:lnTo>
                  <a:lnTo>
                    <a:pt x="0" y="152400"/>
                  </a:lnTo>
                  <a:close/>
                </a:path>
              </a:pathLst>
            </a:custGeom>
            <a:solidFill>
              <a:srgbClr val="FF9900"/>
            </a:solidFill>
            <a:ln>
              <a:noFill/>
            </a:ln>
          </p:spPr>
        </p:sp>
        <p:sp>
          <p:nvSpPr>
            <p:cNvPr id="38" name="TextBox 38"/>
            <p:cNvSpPr txBox="1"/>
            <p:nvPr/>
          </p:nvSpPr>
          <p:spPr>
            <a:xfrm>
              <a:off x="6269355" y="3207068"/>
              <a:ext cx="1877270" cy="274320"/>
            </a:xfrm>
            <a:prstGeom prst="rect">
              <a:avLst/>
            </a:prstGeom>
            <a:noFill/>
            <a:ln>
              <a:noFill/>
            </a:ln>
          </p:spPr>
          <p:txBody>
            <a:bodyPr wrap="none" lIns="0" tIns="0" rIns="0" bIns="0" anchor="t" anchorCtr="0">
              <a:spAutoFit/>
            </a:bodyPr>
            <a:lstStyle/>
            <a:p>
              <a:pPr algn="l"/>
              <a:r>
                <a:rPr lang="zh-CN" sz="1350" b="1" dirty="0">
                  <a:solidFill>
                    <a:srgbClr val="111827"/>
                  </a:solidFill>
                  <a:latin typeface="Arial"/>
                  <a:ea typeface="Microsoft YaHei"/>
                  <a:cs typeface="Arial"/>
                </a:rPr>
                <a:t>Baseline vs adaptive</a:t>
              </a:r>
            </a:p>
          </p:txBody>
        </p:sp>
        <p:sp>
          <p:nvSpPr>
            <p:cNvPr id="39" name="TextBox 39"/>
            <p:cNvSpPr txBox="1"/>
            <p:nvPr/>
          </p:nvSpPr>
          <p:spPr>
            <a:xfrm>
              <a:off x="6461760" y="3547110"/>
              <a:ext cx="2342769" cy="243840"/>
            </a:xfrm>
            <a:prstGeom prst="rect">
              <a:avLst/>
            </a:prstGeom>
            <a:noFill/>
            <a:ln>
              <a:noFill/>
            </a:ln>
          </p:spPr>
          <p:txBody>
            <a:bodyPr wrap="none" lIns="0" tIns="0" rIns="0" bIns="0" anchor="t" anchorCtr="0">
              <a:spAutoFit/>
            </a:bodyPr>
            <a:lstStyle/>
            <a:p>
              <a:pPr algn="l"/>
              <a:r>
                <a:rPr lang="zh-CN" sz="1200" dirty="0">
                  <a:solidFill>
                    <a:srgbClr val="475569"/>
                  </a:solidFill>
                  <a:latin typeface="Arial"/>
                  <a:ea typeface="Microsoft YaHei"/>
                  <a:cs typeface="Arial"/>
                </a:rPr>
                <a:t>Baseline: fixed REM + PT + ZNE</a:t>
              </a:r>
            </a:p>
          </p:txBody>
        </p:sp>
        <p:sp>
          <p:nvSpPr>
            <p:cNvPr id="40" name="TextBox 40"/>
            <p:cNvSpPr txBox="1"/>
            <p:nvPr/>
          </p:nvSpPr>
          <p:spPr>
            <a:xfrm>
              <a:off x="6461760" y="3832860"/>
              <a:ext cx="3350895" cy="243840"/>
            </a:xfrm>
            <a:prstGeom prst="rect">
              <a:avLst/>
            </a:prstGeom>
            <a:noFill/>
            <a:ln>
              <a:noFill/>
            </a:ln>
          </p:spPr>
          <p:txBody>
            <a:bodyPr wrap="none" lIns="0" tIns="0" rIns="0" bIns="0" anchor="t" anchorCtr="0">
              <a:spAutoFit/>
            </a:bodyPr>
            <a:lstStyle/>
            <a:p>
              <a:pPr algn="l"/>
              <a:r>
                <a:rPr lang="zh-CN" sz="1200" dirty="0">
                  <a:solidFill>
                    <a:srgbClr val="475569"/>
                  </a:solidFill>
                  <a:latin typeface="Arial"/>
                  <a:ea typeface="Microsoft YaHei"/>
                  <a:cs typeface="Arial"/>
                </a:rPr>
                <a:t>Adaptive: probe, REM-only, validate, stop</a:t>
              </a:r>
            </a:p>
          </p:txBody>
        </p:sp>
      </p:grpSp>
      <p:grpSp>
        <p:nvGrpSpPr>
          <p:cNvPr id="45" name="Group 45"/>
          <p:cNvGrpSpPr/>
          <p:nvPr/>
        </p:nvGrpSpPr>
        <p:grpSpPr>
          <a:xfrm>
            <a:off x="685800" y="4686300"/>
            <a:ext cx="10820400" cy="914400"/>
            <a:chOff x="685800" y="4686300"/>
            <a:chExt cx="10820400" cy="914400"/>
          </a:xfrm>
        </p:grpSpPr>
        <p:sp>
          <p:nvSpPr>
            <p:cNvPr id="42" name="Rectangle 42"/>
            <p:cNvSpPr/>
            <p:nvPr/>
          </p:nvSpPr>
          <p:spPr>
            <a:xfrm>
              <a:off x="685800" y="4686300"/>
              <a:ext cx="10820400" cy="914400"/>
            </a:xfrm>
            <a:prstGeom prst="roundRect">
              <a:avLst>
                <a:gd name="adj" fmla="val 8333"/>
              </a:avLst>
            </a:prstGeom>
            <a:solidFill>
              <a:srgbClr val="111827"/>
            </a:solidFill>
            <a:ln>
              <a:noFill/>
            </a:ln>
          </p:spPr>
        </p:sp>
        <p:sp>
          <p:nvSpPr>
            <p:cNvPr id="43" name="TextBox 43"/>
            <p:cNvSpPr txBox="1"/>
            <p:nvPr/>
          </p:nvSpPr>
          <p:spPr>
            <a:xfrm>
              <a:off x="973455" y="4921568"/>
              <a:ext cx="5407962" cy="274320"/>
            </a:xfrm>
            <a:prstGeom prst="rect">
              <a:avLst/>
            </a:prstGeom>
            <a:noFill/>
            <a:ln>
              <a:noFill/>
            </a:ln>
          </p:spPr>
          <p:txBody>
            <a:bodyPr wrap="none" lIns="0" tIns="0" rIns="0" bIns="0" anchor="t" anchorCtr="0">
              <a:spAutoFit/>
            </a:bodyPr>
            <a:lstStyle/>
            <a:p>
              <a:pPr algn="l"/>
              <a:r>
                <a:rPr lang="zh-CN" sz="1350" dirty="0">
                  <a:solidFill>
                    <a:srgbClr val="16A34A"/>
                  </a:solidFill>
                  <a:latin typeface="Consolas"/>
                  <a:ea typeface="Microsoft YaHei"/>
                  <a:cs typeface="Consolas"/>
                </a:rPr>
                <a:t>$ aqem report --device qd_readout_2 --target 0.06 --seed 7</a:t>
              </a:r>
            </a:p>
          </p:txBody>
        </p:sp>
        <p:sp>
          <p:nvSpPr>
            <p:cNvPr id="44" name="TextBox 44"/>
            <p:cNvSpPr txBox="1"/>
            <p:nvPr/>
          </p:nvSpPr>
          <p:spPr>
            <a:xfrm>
              <a:off x="976312" y="5260181"/>
              <a:ext cx="6059329" cy="228600"/>
            </a:xfrm>
            <a:prstGeom prst="rect">
              <a:avLst/>
            </a:prstGeom>
            <a:noFill/>
            <a:ln>
              <a:noFill/>
            </a:ln>
          </p:spPr>
          <p:txBody>
            <a:bodyPr wrap="none" lIns="0" tIns="0" rIns="0" bIns="0" anchor="t" anchorCtr="0">
              <a:spAutoFit/>
            </a:bodyPr>
            <a:lstStyle/>
            <a:p>
              <a:pPr algn="l"/>
              <a:r>
                <a:rPr lang="zh-CN" sz="1125" dirty="0">
                  <a:solidFill>
                    <a:srgbClr val="D9E2EC"/>
                  </a:solidFill>
                  <a:latin typeface="Consolas"/>
                  <a:ea typeface="Microsoft YaHei"/>
                  <a:cs typeface="Consolas"/>
                </a:rPr>
                <a:t>runs static full-stack baseline, adaptive loop, and shots-vs-accuracy comparison</a:t>
              </a:r>
            </a:p>
          </p:txBody>
        </p:sp>
      </p:grpSp>
      <p:sp>
        <p:nvSpPr>
          <p:cNvPr id="46" name="TextBox 46"/>
          <p:cNvSpPr txBox="1"/>
          <p:nvPr/>
        </p:nvSpPr>
        <p:spPr>
          <a:xfrm>
            <a:off x="522922" y="6483191"/>
            <a:ext cx="4096964" cy="167640"/>
          </a:xfrm>
          <a:prstGeom prst="rect">
            <a:avLst/>
          </a:prstGeom>
          <a:noFill/>
          <a:ln>
            <a:noFill/>
          </a:ln>
        </p:spPr>
        <p:txBody>
          <a:bodyPr wrap="none" lIns="0" tIns="0" rIns="0" bIns="0" anchor="t" anchorCtr="0">
            <a:spAutoFit/>
          </a:bodyPr>
          <a:lstStyle/>
          <a:p>
            <a:pPr algn="l"/>
            <a:r>
              <a:rPr lang="zh-CN" sz="825" dirty="0">
                <a:solidFill>
                  <a:srgbClr val="94A3B8"/>
                </a:solidFill>
                <a:latin typeface="Arial"/>
                <a:ea typeface="Microsoft YaHei"/>
                <a:cs typeface="Arial"/>
              </a:rPr>
              <a:t>Demo task: 2-qubit transverse-field Ising Hamiltonian expectation estimate</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400"/>
                                        <p:tgtEl>
                                          <p:spTgt spid="27"/>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41"/>
                                        </p:tgtEl>
                                        <p:attrNameLst>
                                          <p:attrName>style.visibility</p:attrName>
                                        </p:attrNameLst>
                                      </p:cBhvr>
                                      <p:to>
                                        <p:strVal val="visible"/>
                                      </p:to>
                                    </p:set>
                                    <p:animEffect transition="in" filter="wipe(left)">
                                      <p:cBhvr>
                                        <p:cTn id="11" dur="400"/>
                                        <p:tgtEl>
                                          <p:spTgt spid="41"/>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45"/>
                                        </p:tgtEl>
                                        <p:attrNameLst>
                                          <p:attrName>style.visibility</p:attrName>
                                        </p:attrNameLst>
                                      </p:cBhvr>
                                      <p:to>
                                        <p:strVal val="visible"/>
                                      </p:to>
                                    </p:set>
                                    <p:animEffect transition="in" filter="slide(fromBottom)">
                                      <p:cBhvr>
                                        <p:cTn id="15"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41" grpId="0"/>
      <p:bldP spid="4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533400" y="419100"/>
              <a:ext cx="11125200" cy="9525"/>
            </a:xfrm>
            <a:prstGeom prst="rect">
              <a:avLst/>
            </a:prstGeom>
            <a:solidFill>
              <a:srgbClr val="D9E2EC"/>
            </a:solidFill>
            <a:ln>
              <a:noFill/>
            </a:ln>
          </p:spPr>
        </p:sp>
      </p:grpSp>
      <p:grpSp>
        <p:nvGrpSpPr>
          <p:cNvPr id="7" name="Group 7"/>
          <p:cNvGrpSpPr/>
          <p:nvPr/>
        </p:nvGrpSpPr>
        <p:grpSpPr>
          <a:xfrm>
            <a:off x="502920" y="560070"/>
            <a:ext cx="10783919" cy="487680"/>
            <a:chOff x="502920" y="560070"/>
            <a:chExt cx="10783919" cy="487680"/>
          </a:xfrm>
        </p:grpSpPr>
        <p:sp>
          <p:nvSpPr>
            <p:cNvPr id="5" name="TextBox 5"/>
            <p:cNvSpPr txBox="1"/>
            <p:nvPr/>
          </p:nvSpPr>
          <p:spPr>
            <a:xfrm>
              <a:off x="502920" y="560070"/>
              <a:ext cx="4379100" cy="487680"/>
            </a:xfrm>
            <a:prstGeom prst="rect">
              <a:avLst/>
            </a:prstGeom>
            <a:noFill/>
            <a:ln>
              <a:noFill/>
            </a:ln>
          </p:spPr>
          <p:txBody>
            <a:bodyPr wrap="none" lIns="0" tIns="0" rIns="0" bIns="0" anchor="t" anchorCtr="0">
              <a:spAutoFit/>
            </a:bodyPr>
            <a:lstStyle/>
            <a:p>
              <a:pPr algn="l"/>
              <a:r>
                <a:rPr lang="zh-CN" sz="2400" b="1" dirty="0">
                  <a:solidFill>
                    <a:srgbClr val="111827"/>
                  </a:solidFill>
                  <a:latin typeface="Arial"/>
                  <a:ea typeface="Microsoft YaHei"/>
                  <a:cs typeface="Arial"/>
                </a:rPr>
                <a:t>Same target, fewer shots</a:t>
              </a:r>
            </a:p>
          </p:txBody>
        </p:sp>
        <p:sp>
          <p:nvSpPr>
            <p:cNvPr id="6" name="TextBox 6"/>
            <p:cNvSpPr txBox="1"/>
            <p:nvPr/>
          </p:nvSpPr>
          <p:spPr>
            <a:xfrm>
              <a:off x="10826115" y="667702"/>
              <a:ext cx="460724" cy="213360"/>
            </a:xfrm>
            <a:prstGeom prst="rect">
              <a:avLst/>
            </a:prstGeom>
            <a:noFill/>
            <a:ln>
              <a:noFill/>
            </a:ln>
          </p:spPr>
          <p:txBody>
            <a:bodyPr wrap="none" lIns="0" tIns="0" rIns="0" bIns="0" anchor="t" anchorCtr="0">
              <a:spAutoFit/>
            </a:bodyPr>
            <a:lstStyle/>
            <a:p>
              <a:pPr algn="l"/>
              <a:r>
                <a:rPr lang="zh-CN" sz="1050" dirty="0">
                  <a:solidFill>
                    <a:srgbClr val="94A3B8"/>
                  </a:solidFill>
                  <a:latin typeface="Arial"/>
                  <a:ea typeface="Microsoft YaHei"/>
                  <a:cs typeface="Arial"/>
                </a:rPr>
                <a:t>09 / 10</a:t>
              </a:r>
            </a:p>
          </p:txBody>
        </p:sp>
      </p:grpSp>
      <p:grpSp>
        <p:nvGrpSpPr>
          <p:cNvPr id="10" name="Group 10"/>
          <p:cNvGrpSpPr/>
          <p:nvPr/>
        </p:nvGrpSpPr>
        <p:grpSpPr>
          <a:xfrm>
            <a:off x="533400" y="1066800"/>
            <a:ext cx="11125200" cy="552450"/>
            <a:chOff x="533400" y="1066800"/>
            <a:chExt cx="11125200" cy="552450"/>
          </a:xfrm>
        </p:grpSpPr>
        <p:sp>
          <p:nvSpPr>
            <p:cNvPr id="8" name="Rectangle 8"/>
            <p:cNvSpPr/>
            <p:nvPr/>
          </p:nvSpPr>
          <p:spPr>
            <a:xfrm>
              <a:off x="533400" y="1066800"/>
              <a:ext cx="11125200" cy="552450"/>
            </a:xfrm>
            <a:prstGeom prst="roundRect">
              <a:avLst>
                <a:gd name="adj" fmla="val 13793"/>
              </a:avLst>
            </a:prstGeom>
            <a:solidFill>
              <a:srgbClr val="E7F7EF"/>
            </a:solidFill>
            <a:ln w="19050">
              <a:solidFill>
                <a:srgbClr val="16A34A"/>
              </a:solidFill>
            </a:ln>
          </p:spPr>
        </p:sp>
        <p:sp>
          <p:nvSpPr>
            <p:cNvPr id="9" name="TextBox 9"/>
            <p:cNvSpPr txBox="1"/>
            <p:nvPr/>
          </p:nvSpPr>
          <p:spPr>
            <a:xfrm>
              <a:off x="779145" y="1241108"/>
              <a:ext cx="9537197" cy="335280"/>
            </a:xfrm>
            <a:prstGeom prst="rect">
              <a:avLst/>
            </a:prstGeom>
            <a:noFill/>
            <a:ln>
              <a:noFill/>
            </a:ln>
          </p:spPr>
          <p:txBody>
            <a:bodyPr wrap="none" lIns="0" tIns="0" rIns="0" bIns="0" anchor="t" anchorCtr="0">
              <a:spAutoFit/>
            </a:bodyPr>
            <a:lstStyle/>
            <a:p>
              <a:pPr algn="l"/>
              <a:r>
                <a:rPr lang="zh-CN" sz="1650" b="1" dirty="0">
                  <a:solidFill>
                    <a:srgbClr val="111827"/>
                  </a:solidFill>
                  <a:latin typeface="Arial"/>
                  <a:ea typeface="Microsoft YaHei"/>
                  <a:cs typeface="Arial"/>
                </a:rPr>
                <a:t>Adaptive REM-only reached the target with 2.33x fewer shots and better accuracy.</a:t>
              </a:r>
            </a:p>
          </p:txBody>
        </p:sp>
      </p:grpSp>
      <p:grpSp>
        <p:nvGrpSpPr>
          <p:cNvPr id="23" name="Group 23"/>
          <p:cNvGrpSpPr/>
          <p:nvPr/>
        </p:nvGrpSpPr>
        <p:grpSpPr>
          <a:xfrm>
            <a:off x="704850" y="2000250"/>
            <a:ext cx="4762500" cy="3429000"/>
            <a:chOff x="704850" y="2000250"/>
            <a:chExt cx="4762500" cy="3429000"/>
          </a:xfrm>
        </p:grpSpPr>
        <p:sp>
          <p:nvSpPr>
            <p:cNvPr id="11" name="Rectangle 11"/>
            <p:cNvSpPr/>
            <p:nvPr/>
          </p:nvSpPr>
          <p:spPr>
            <a:xfrm>
              <a:off x="704850" y="2000250"/>
              <a:ext cx="4762500" cy="3429000"/>
            </a:xfrm>
            <a:prstGeom prst="roundRect">
              <a:avLst>
                <a:gd name="adj" fmla="val 2222"/>
              </a:avLst>
            </a:prstGeom>
            <a:solidFill>
              <a:srgbClr val="F6F8FB"/>
            </a:solidFill>
            <a:ln w="19050">
              <a:solidFill>
                <a:srgbClr val="D9E2EC"/>
              </a:solidFill>
            </a:ln>
          </p:spPr>
        </p:sp>
        <p:sp>
          <p:nvSpPr>
            <p:cNvPr id="12" name="TextBox 12"/>
            <p:cNvSpPr txBox="1"/>
            <p:nvPr/>
          </p:nvSpPr>
          <p:spPr>
            <a:xfrm>
              <a:off x="990600" y="2238375"/>
              <a:ext cx="1140738" cy="304800"/>
            </a:xfrm>
            <a:prstGeom prst="rect">
              <a:avLst/>
            </a:prstGeom>
            <a:noFill/>
            <a:ln>
              <a:noFill/>
            </a:ln>
          </p:spPr>
          <p:txBody>
            <a:bodyPr wrap="none" lIns="0" tIns="0" rIns="0" bIns="0" anchor="t" anchorCtr="0">
              <a:spAutoFit/>
            </a:bodyPr>
            <a:lstStyle/>
            <a:p>
              <a:pPr algn="l"/>
              <a:r>
                <a:rPr lang="zh-CN" sz="1500" b="1" dirty="0">
                  <a:solidFill>
                    <a:srgbClr val="111827"/>
                  </a:solidFill>
                  <a:latin typeface="Arial"/>
                  <a:ea typeface="Microsoft YaHei"/>
                  <a:cs typeface="Arial"/>
                </a:rPr>
                <a:t>Shots used</a:t>
              </a:r>
            </a:p>
          </p:txBody>
        </p:sp>
        <p:grpSp>
          <p:nvGrpSpPr>
            <p:cNvPr id="19" name="Group 19"/>
            <p:cNvGrpSpPr/>
            <p:nvPr/>
          </p:nvGrpSpPr>
          <p:grpSpPr>
            <a:xfrm>
              <a:off x="1219200" y="2556510"/>
              <a:ext cx="3657600" cy="2215515"/>
              <a:chOff x="1219200" y="2556510"/>
              <a:chExt cx="3657600" cy="2215515"/>
            </a:xfrm>
          </p:grpSpPr>
          <p:sp>
            <p:nvSpPr>
              <p:cNvPr id="13" name="Line 13"/>
              <p:cNvSpPr/>
              <p:nvPr/>
            </p:nvSpPr>
            <p:spPr>
              <a:xfrm>
                <a:off x="1219200" y="4762500"/>
                <a:ext cx="3657600" cy="9525"/>
              </a:xfrm>
              <a:custGeom>
                <a:avLst/>
                <a:gdLst/>
                <a:ahLst/>
                <a:cxnLst/>
                <a:rect l="l" t="t" r="r" b="b"/>
                <a:pathLst>
                  <a:path w="3657600" h="9525">
                    <a:moveTo>
                      <a:pt x="0" y="0"/>
                    </a:moveTo>
                    <a:lnTo>
                      <a:pt x="3657600" y="0"/>
                    </a:lnTo>
                  </a:path>
                </a:pathLst>
              </a:custGeom>
              <a:noFill/>
              <a:ln w="19050">
                <a:solidFill>
                  <a:srgbClr val="94A3B8"/>
                </a:solidFill>
              </a:ln>
            </p:spPr>
          </p:sp>
          <p:sp>
            <p:nvSpPr>
              <p:cNvPr id="14" name="Line 14"/>
              <p:cNvSpPr/>
              <p:nvPr/>
            </p:nvSpPr>
            <p:spPr>
              <a:xfrm>
                <a:off x="1219200" y="2781300"/>
                <a:ext cx="9525" cy="1981200"/>
              </a:xfrm>
              <a:custGeom>
                <a:avLst/>
                <a:gdLst/>
                <a:ahLst/>
                <a:cxnLst/>
                <a:rect l="l" t="t" r="r" b="b"/>
                <a:pathLst>
                  <a:path w="9525" h="1981200">
                    <a:moveTo>
                      <a:pt x="0" y="0"/>
                    </a:moveTo>
                    <a:lnTo>
                      <a:pt x="0" y="1981200"/>
                    </a:lnTo>
                  </a:path>
                </a:pathLst>
              </a:custGeom>
              <a:noFill/>
              <a:ln w="19050">
                <a:solidFill>
                  <a:srgbClr val="94A3B8"/>
                </a:solidFill>
              </a:ln>
            </p:spPr>
          </p:sp>
          <p:sp>
            <p:nvSpPr>
              <p:cNvPr id="15" name="Rectangle 15"/>
              <p:cNvSpPr/>
              <p:nvPr/>
            </p:nvSpPr>
            <p:spPr>
              <a:xfrm>
                <a:off x="2000250" y="2781300"/>
                <a:ext cx="914400" cy="1981200"/>
              </a:xfrm>
              <a:prstGeom prst="rect">
                <a:avLst/>
              </a:prstGeom>
              <a:solidFill>
                <a:srgbClr val="DC2626"/>
              </a:solidFill>
              <a:ln>
                <a:noFill/>
              </a:ln>
            </p:spPr>
          </p:sp>
          <p:sp>
            <p:nvSpPr>
              <p:cNvPr id="16" name="Rectangle 16"/>
              <p:cNvSpPr/>
              <p:nvPr/>
            </p:nvSpPr>
            <p:spPr>
              <a:xfrm>
                <a:off x="3181350" y="3914775"/>
                <a:ext cx="914400" cy="847725"/>
              </a:xfrm>
              <a:prstGeom prst="rect">
                <a:avLst/>
              </a:prstGeom>
              <a:solidFill>
                <a:srgbClr val="16A34A"/>
              </a:solidFill>
              <a:ln>
                <a:noFill/>
              </a:ln>
            </p:spPr>
          </p:sp>
          <p:sp>
            <p:nvSpPr>
              <p:cNvPr id="17" name="TextBox 17"/>
              <p:cNvSpPr txBox="1"/>
              <p:nvPr/>
            </p:nvSpPr>
            <p:spPr>
              <a:xfrm>
                <a:off x="2051685" y="2556510"/>
                <a:ext cx="584949" cy="243840"/>
              </a:xfrm>
              <a:prstGeom prst="rect">
                <a:avLst/>
              </a:prstGeom>
              <a:noFill/>
              <a:ln>
                <a:noFill/>
              </a:ln>
            </p:spPr>
            <p:txBody>
              <a:bodyPr wrap="none" lIns="0" tIns="0" rIns="0" bIns="0" anchor="t" anchorCtr="0">
                <a:spAutoFit/>
              </a:bodyPr>
              <a:lstStyle/>
              <a:p>
                <a:pPr algn="l"/>
                <a:r>
                  <a:rPr lang="zh-CN" sz="1200" b="1" dirty="0">
                    <a:solidFill>
                      <a:srgbClr val="DC2626"/>
                    </a:solidFill>
                    <a:latin typeface="Arial"/>
                    <a:ea typeface="Microsoft YaHei"/>
                    <a:cs typeface="Arial"/>
                  </a:rPr>
                  <a:t>84,000</a:t>
                </a:r>
              </a:p>
            </p:txBody>
          </p:sp>
          <p:sp>
            <p:nvSpPr>
              <p:cNvPr id="18" name="TextBox 18"/>
              <p:cNvSpPr txBox="1"/>
              <p:nvPr/>
            </p:nvSpPr>
            <p:spPr>
              <a:xfrm>
                <a:off x="3232785" y="3689985"/>
                <a:ext cx="584949" cy="243840"/>
              </a:xfrm>
              <a:prstGeom prst="rect">
                <a:avLst/>
              </a:prstGeom>
              <a:noFill/>
              <a:ln>
                <a:noFill/>
              </a:ln>
            </p:spPr>
            <p:txBody>
              <a:bodyPr wrap="none" lIns="0" tIns="0" rIns="0" bIns="0" anchor="t" anchorCtr="0">
                <a:spAutoFit/>
              </a:bodyPr>
              <a:lstStyle/>
              <a:p>
                <a:pPr algn="l"/>
                <a:r>
                  <a:rPr lang="zh-CN" sz="1200" b="1" dirty="0">
                    <a:solidFill>
                      <a:srgbClr val="16A34A"/>
                    </a:solidFill>
                    <a:latin typeface="Arial"/>
                    <a:ea typeface="Microsoft YaHei"/>
                    <a:cs typeface="Arial"/>
                  </a:rPr>
                  <a:t>36,000</a:t>
                </a:r>
              </a:p>
            </p:txBody>
          </p:sp>
        </p:grpSp>
        <p:sp>
          <p:nvSpPr>
            <p:cNvPr id="20" name="TextBox 20"/>
            <p:cNvSpPr txBox="1"/>
            <p:nvPr/>
          </p:nvSpPr>
          <p:spPr>
            <a:xfrm>
              <a:off x="1909762" y="4945856"/>
              <a:ext cx="613648"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Baseline</a:t>
              </a:r>
            </a:p>
          </p:txBody>
        </p:sp>
        <p:sp>
          <p:nvSpPr>
            <p:cNvPr id="21" name="TextBox 21"/>
            <p:cNvSpPr txBox="1"/>
            <p:nvPr/>
          </p:nvSpPr>
          <p:spPr>
            <a:xfrm>
              <a:off x="3148012" y="4945856"/>
              <a:ext cx="651153"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Adaptive</a:t>
              </a:r>
            </a:p>
          </p:txBody>
        </p:sp>
        <p:sp>
          <p:nvSpPr>
            <p:cNvPr id="22" name="TextBox 22"/>
            <p:cNvSpPr txBox="1"/>
            <p:nvPr/>
          </p:nvSpPr>
          <p:spPr>
            <a:xfrm>
              <a:off x="996315" y="5182552"/>
              <a:ext cx="2560987" cy="213360"/>
            </a:xfrm>
            <a:prstGeom prst="rect">
              <a:avLst/>
            </a:prstGeom>
            <a:noFill/>
            <a:ln>
              <a:noFill/>
            </a:ln>
          </p:spPr>
          <p:txBody>
            <a:bodyPr wrap="none" lIns="0" tIns="0" rIns="0" bIns="0" anchor="t" anchorCtr="0">
              <a:spAutoFit/>
            </a:bodyPr>
            <a:lstStyle/>
            <a:p>
              <a:pPr algn="l"/>
              <a:r>
                <a:rPr lang="zh-CN" sz="1050" dirty="0">
                  <a:solidFill>
                    <a:srgbClr val="94A3B8"/>
                  </a:solidFill>
                  <a:latin typeface="Arial"/>
                  <a:ea typeface="Microsoft YaHei"/>
                  <a:cs typeface="Arial"/>
                </a:rPr>
                <a:t>Shot ratio baseline / adaptive: 2.33x</a:t>
              </a:r>
            </a:p>
          </p:txBody>
        </p:sp>
      </p:grpSp>
      <p:grpSp>
        <p:nvGrpSpPr>
          <p:cNvPr id="37" name="Group 37"/>
          <p:cNvGrpSpPr/>
          <p:nvPr/>
        </p:nvGrpSpPr>
        <p:grpSpPr>
          <a:xfrm>
            <a:off x="5829300" y="2000250"/>
            <a:ext cx="3429000" cy="3429000"/>
            <a:chOff x="5829300" y="2000250"/>
            <a:chExt cx="3429000" cy="3429000"/>
          </a:xfrm>
        </p:grpSpPr>
        <p:sp>
          <p:nvSpPr>
            <p:cNvPr id="24" name="Rectangle 24"/>
            <p:cNvSpPr/>
            <p:nvPr/>
          </p:nvSpPr>
          <p:spPr>
            <a:xfrm>
              <a:off x="5829300" y="2000250"/>
              <a:ext cx="3429000" cy="3429000"/>
            </a:xfrm>
            <a:prstGeom prst="roundRect">
              <a:avLst>
                <a:gd name="adj" fmla="val 2222"/>
              </a:avLst>
            </a:prstGeom>
            <a:solidFill>
              <a:srgbClr val="F6F8FB"/>
            </a:solidFill>
            <a:ln w="19050">
              <a:solidFill>
                <a:srgbClr val="D9E2EC"/>
              </a:solidFill>
            </a:ln>
          </p:spPr>
        </p:sp>
        <p:sp>
          <p:nvSpPr>
            <p:cNvPr id="25" name="TextBox 25"/>
            <p:cNvSpPr txBox="1"/>
            <p:nvPr/>
          </p:nvSpPr>
          <p:spPr>
            <a:xfrm>
              <a:off x="6115050" y="2238375"/>
              <a:ext cx="1550289" cy="304800"/>
            </a:xfrm>
            <a:prstGeom prst="rect">
              <a:avLst/>
            </a:prstGeom>
            <a:noFill/>
            <a:ln>
              <a:noFill/>
            </a:ln>
          </p:spPr>
          <p:txBody>
            <a:bodyPr wrap="none" lIns="0" tIns="0" rIns="0" bIns="0" anchor="t" anchorCtr="0">
              <a:spAutoFit/>
            </a:bodyPr>
            <a:lstStyle/>
            <a:p>
              <a:pPr algn="l"/>
              <a:r>
                <a:rPr lang="zh-CN" sz="1500" b="1" dirty="0">
                  <a:solidFill>
                    <a:srgbClr val="111827"/>
                  </a:solidFill>
                  <a:latin typeface="Arial"/>
                  <a:ea typeface="Microsoft YaHei"/>
                  <a:cs typeface="Arial"/>
                </a:rPr>
                <a:t>Absolute error</a:t>
              </a:r>
            </a:p>
          </p:txBody>
        </p:sp>
        <p:grpSp>
          <p:nvGrpSpPr>
            <p:cNvPr id="33" name="Group 33"/>
            <p:cNvGrpSpPr/>
            <p:nvPr/>
          </p:nvGrpSpPr>
          <p:grpSpPr>
            <a:xfrm>
              <a:off x="6286500" y="2781300"/>
              <a:ext cx="2514600" cy="1990725"/>
              <a:chOff x="6286500" y="2781300"/>
              <a:chExt cx="2514600" cy="1990725"/>
            </a:xfrm>
          </p:grpSpPr>
          <p:sp>
            <p:nvSpPr>
              <p:cNvPr id="26" name="Line 26"/>
              <p:cNvSpPr/>
              <p:nvPr/>
            </p:nvSpPr>
            <p:spPr>
              <a:xfrm>
                <a:off x="6286500" y="4762500"/>
                <a:ext cx="2514600" cy="9525"/>
              </a:xfrm>
              <a:custGeom>
                <a:avLst/>
                <a:gdLst/>
                <a:ahLst/>
                <a:cxnLst/>
                <a:rect l="l" t="t" r="r" b="b"/>
                <a:pathLst>
                  <a:path w="2514600" h="9525">
                    <a:moveTo>
                      <a:pt x="0" y="0"/>
                    </a:moveTo>
                    <a:lnTo>
                      <a:pt x="2514600" y="0"/>
                    </a:lnTo>
                  </a:path>
                </a:pathLst>
              </a:custGeom>
              <a:noFill/>
              <a:ln w="19050">
                <a:solidFill>
                  <a:srgbClr val="94A3B8"/>
                </a:solidFill>
              </a:ln>
            </p:spPr>
          </p:sp>
          <p:sp>
            <p:nvSpPr>
              <p:cNvPr id="27" name="Line 27"/>
              <p:cNvSpPr/>
              <p:nvPr/>
            </p:nvSpPr>
            <p:spPr>
              <a:xfrm>
                <a:off x="6286500" y="2781300"/>
                <a:ext cx="9525" cy="1981200"/>
              </a:xfrm>
              <a:custGeom>
                <a:avLst/>
                <a:gdLst/>
                <a:ahLst/>
                <a:cxnLst/>
                <a:rect l="l" t="t" r="r" b="b"/>
                <a:pathLst>
                  <a:path w="9525" h="1981200">
                    <a:moveTo>
                      <a:pt x="0" y="0"/>
                    </a:moveTo>
                    <a:lnTo>
                      <a:pt x="0" y="1981200"/>
                    </a:lnTo>
                  </a:path>
                </a:pathLst>
              </a:custGeom>
              <a:noFill/>
              <a:ln w="19050">
                <a:solidFill>
                  <a:srgbClr val="94A3B8"/>
                </a:solidFill>
              </a:ln>
            </p:spPr>
          </p:sp>
          <p:sp>
            <p:nvSpPr>
              <p:cNvPr id="28" name="Line 28"/>
              <p:cNvSpPr/>
              <p:nvPr/>
            </p:nvSpPr>
            <p:spPr>
              <a:xfrm>
                <a:off x="6286500" y="3571875"/>
                <a:ext cx="2514600" cy="9525"/>
              </a:xfrm>
              <a:custGeom>
                <a:avLst/>
                <a:gdLst/>
                <a:ahLst/>
                <a:cxnLst/>
                <a:rect l="l" t="t" r="r" b="b"/>
                <a:pathLst>
                  <a:path w="2514600" h="9525">
                    <a:moveTo>
                      <a:pt x="0" y="0"/>
                    </a:moveTo>
                    <a:lnTo>
                      <a:pt x="2514600" y="0"/>
                    </a:lnTo>
                  </a:path>
                </a:pathLst>
              </a:custGeom>
              <a:noFill/>
              <a:ln w="28575">
                <a:solidFill>
                  <a:srgbClr val="FF9900"/>
                </a:solidFill>
                <a:custDash>
                  <a:ds d="266666" sp="266666"/>
                </a:custDash>
              </a:ln>
            </p:spPr>
          </p:sp>
          <p:sp>
            <p:nvSpPr>
              <p:cNvPr id="29" name="Rectangle 29"/>
              <p:cNvSpPr/>
              <p:nvPr/>
            </p:nvSpPr>
            <p:spPr>
              <a:xfrm>
                <a:off x="6781800" y="3038475"/>
                <a:ext cx="666750" cy="1724025"/>
              </a:xfrm>
              <a:prstGeom prst="rect">
                <a:avLst/>
              </a:prstGeom>
              <a:solidFill>
                <a:srgbClr val="DC2626"/>
              </a:solidFill>
              <a:ln>
                <a:noFill/>
              </a:ln>
            </p:spPr>
          </p:sp>
          <p:sp>
            <p:nvSpPr>
              <p:cNvPr id="30" name="Rectangle 30"/>
              <p:cNvSpPr/>
              <p:nvPr/>
            </p:nvSpPr>
            <p:spPr>
              <a:xfrm>
                <a:off x="7648575" y="4276725"/>
                <a:ext cx="666750" cy="485775"/>
              </a:xfrm>
              <a:prstGeom prst="rect">
                <a:avLst/>
              </a:prstGeom>
              <a:solidFill>
                <a:srgbClr val="16A34A"/>
              </a:solidFill>
              <a:ln>
                <a:noFill/>
              </a:ln>
            </p:spPr>
          </p:sp>
          <p:sp>
            <p:nvSpPr>
              <p:cNvPr id="31" name="TextBox 31"/>
              <p:cNvSpPr txBox="1"/>
              <p:nvPr/>
            </p:nvSpPr>
            <p:spPr>
              <a:xfrm>
                <a:off x="6729412" y="2821781"/>
                <a:ext cx="548390" cy="228600"/>
              </a:xfrm>
              <a:prstGeom prst="rect">
                <a:avLst/>
              </a:prstGeom>
              <a:noFill/>
              <a:ln>
                <a:noFill/>
              </a:ln>
            </p:spPr>
            <p:txBody>
              <a:bodyPr wrap="none" lIns="0" tIns="0" rIns="0" bIns="0" anchor="t" anchorCtr="0">
                <a:spAutoFit/>
              </a:bodyPr>
              <a:lstStyle/>
              <a:p>
                <a:pPr algn="l"/>
                <a:r>
                  <a:rPr lang="zh-CN" sz="1125" b="1" dirty="0">
                    <a:solidFill>
                      <a:srgbClr val="DC2626"/>
                    </a:solidFill>
                    <a:latin typeface="Arial"/>
                    <a:ea typeface="Microsoft YaHei"/>
                    <a:cs typeface="Arial"/>
                  </a:rPr>
                  <a:t>0.0870</a:t>
                </a:r>
              </a:p>
            </p:txBody>
          </p:sp>
          <p:sp>
            <p:nvSpPr>
              <p:cNvPr id="32" name="TextBox 32"/>
              <p:cNvSpPr txBox="1"/>
              <p:nvPr/>
            </p:nvSpPr>
            <p:spPr>
              <a:xfrm>
                <a:off x="7615238" y="4060031"/>
                <a:ext cx="548390" cy="228600"/>
              </a:xfrm>
              <a:prstGeom prst="rect">
                <a:avLst/>
              </a:prstGeom>
              <a:noFill/>
              <a:ln>
                <a:noFill/>
              </a:ln>
            </p:spPr>
            <p:txBody>
              <a:bodyPr wrap="none" lIns="0" tIns="0" rIns="0" bIns="0" anchor="t" anchorCtr="0">
                <a:spAutoFit/>
              </a:bodyPr>
              <a:lstStyle/>
              <a:p>
                <a:pPr algn="l"/>
                <a:r>
                  <a:rPr lang="zh-CN" sz="1125" b="1" dirty="0">
                    <a:solidFill>
                      <a:srgbClr val="16A34A"/>
                    </a:solidFill>
                    <a:latin typeface="Arial"/>
                    <a:ea typeface="Microsoft YaHei"/>
                    <a:cs typeface="Arial"/>
                  </a:rPr>
                  <a:t>0.0246</a:t>
                </a:r>
              </a:p>
            </p:txBody>
          </p:sp>
        </p:grpSp>
        <p:sp>
          <p:nvSpPr>
            <p:cNvPr id="34" name="TextBox 34"/>
            <p:cNvSpPr txBox="1"/>
            <p:nvPr/>
          </p:nvSpPr>
          <p:spPr>
            <a:xfrm>
              <a:off x="6767512" y="4945856"/>
              <a:ext cx="613648"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Baseline</a:t>
              </a:r>
            </a:p>
          </p:txBody>
        </p:sp>
        <p:sp>
          <p:nvSpPr>
            <p:cNvPr id="35" name="TextBox 35"/>
            <p:cNvSpPr txBox="1"/>
            <p:nvPr/>
          </p:nvSpPr>
          <p:spPr>
            <a:xfrm>
              <a:off x="7596188" y="4945856"/>
              <a:ext cx="651153"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Adaptive</a:t>
              </a:r>
            </a:p>
          </p:txBody>
        </p:sp>
        <p:sp>
          <p:nvSpPr>
            <p:cNvPr id="36" name="TextBox 36"/>
            <p:cNvSpPr txBox="1"/>
            <p:nvPr/>
          </p:nvSpPr>
          <p:spPr>
            <a:xfrm>
              <a:off x="7397115" y="3401378"/>
              <a:ext cx="838772" cy="213360"/>
            </a:xfrm>
            <a:prstGeom prst="rect">
              <a:avLst/>
            </a:prstGeom>
            <a:noFill/>
            <a:ln>
              <a:noFill/>
            </a:ln>
          </p:spPr>
          <p:txBody>
            <a:bodyPr wrap="none" lIns="0" tIns="0" rIns="0" bIns="0" anchor="t" anchorCtr="0">
              <a:spAutoFit/>
            </a:bodyPr>
            <a:lstStyle/>
            <a:p>
              <a:pPr algn="l"/>
              <a:r>
                <a:rPr lang="zh-CN" sz="1050" dirty="0">
                  <a:solidFill>
                    <a:srgbClr val="FF9900"/>
                  </a:solidFill>
                  <a:latin typeface="Arial"/>
                  <a:ea typeface="Microsoft YaHei"/>
                  <a:cs typeface="Arial"/>
                </a:rPr>
                <a:t>target 0.06</a:t>
              </a:r>
            </a:p>
          </p:txBody>
        </p:sp>
      </p:grpSp>
      <p:grpSp>
        <p:nvGrpSpPr>
          <p:cNvPr id="46" name="Group 46"/>
          <p:cNvGrpSpPr/>
          <p:nvPr/>
        </p:nvGrpSpPr>
        <p:grpSpPr>
          <a:xfrm>
            <a:off x="9620250" y="2000250"/>
            <a:ext cx="2038350" cy="3429000"/>
            <a:chOff x="9620250" y="2000250"/>
            <a:chExt cx="2038350" cy="3429000"/>
          </a:xfrm>
        </p:grpSpPr>
        <p:sp>
          <p:nvSpPr>
            <p:cNvPr id="38" name="Rectangle 38"/>
            <p:cNvSpPr/>
            <p:nvPr/>
          </p:nvSpPr>
          <p:spPr>
            <a:xfrm>
              <a:off x="9620250" y="2000250"/>
              <a:ext cx="2038350" cy="3429000"/>
            </a:xfrm>
            <a:prstGeom prst="roundRect">
              <a:avLst>
                <a:gd name="adj" fmla="val 3738"/>
              </a:avLst>
            </a:prstGeom>
            <a:solidFill>
              <a:srgbClr val="FFFFFF"/>
            </a:solidFill>
            <a:ln w="19050">
              <a:solidFill>
                <a:srgbClr val="146EB4"/>
              </a:solidFill>
            </a:ln>
          </p:spPr>
        </p:sp>
        <p:sp>
          <p:nvSpPr>
            <p:cNvPr id="39" name="TextBox 39"/>
            <p:cNvSpPr txBox="1"/>
            <p:nvPr/>
          </p:nvSpPr>
          <p:spPr>
            <a:xfrm>
              <a:off x="9888855" y="2273618"/>
              <a:ext cx="1376358" cy="274320"/>
            </a:xfrm>
            <a:prstGeom prst="rect">
              <a:avLst/>
            </a:prstGeom>
            <a:noFill/>
            <a:ln>
              <a:noFill/>
            </a:ln>
          </p:spPr>
          <p:txBody>
            <a:bodyPr wrap="none" lIns="0" tIns="0" rIns="0" bIns="0" anchor="t" anchorCtr="0">
              <a:spAutoFit/>
            </a:bodyPr>
            <a:lstStyle/>
            <a:p>
              <a:pPr algn="l"/>
              <a:r>
                <a:rPr lang="zh-CN" sz="1350" b="1" dirty="0">
                  <a:solidFill>
                    <a:srgbClr val="146EB4"/>
                  </a:solidFill>
                  <a:latin typeface="Arial"/>
                  <a:ea typeface="Microsoft YaHei"/>
                  <a:cs typeface="Arial"/>
                </a:rPr>
                <a:t>What changed?</a:t>
              </a:r>
            </a:p>
          </p:txBody>
        </p:sp>
        <p:sp>
          <p:nvSpPr>
            <p:cNvPr id="40" name="TextBox 40"/>
            <p:cNvSpPr txBox="1"/>
            <p:nvPr/>
          </p:nvSpPr>
          <p:spPr>
            <a:xfrm>
              <a:off x="9890760" y="2727960"/>
              <a:ext cx="1622679" cy="243840"/>
            </a:xfrm>
            <a:prstGeom prst="rect">
              <a:avLst/>
            </a:prstGeom>
            <a:noFill/>
            <a:ln>
              <a:noFill/>
            </a:ln>
          </p:spPr>
          <p:txBody>
            <a:bodyPr wrap="none" lIns="0" tIns="0" rIns="0" bIns="0" anchor="t" anchorCtr="0">
              <a:spAutoFit/>
            </a:bodyPr>
            <a:lstStyle/>
            <a:p>
              <a:pPr algn="l"/>
              <a:r>
                <a:rPr lang="zh-CN" sz="1200" dirty="0">
                  <a:solidFill>
                    <a:srgbClr val="475569"/>
                  </a:solidFill>
                  <a:latin typeface="Arial"/>
                  <a:ea typeface="Microsoft YaHei"/>
                  <a:cs typeface="Arial"/>
                </a:rPr>
                <a:t>Probe found readout</a:t>
              </a:r>
            </a:p>
          </p:txBody>
        </p:sp>
        <p:sp>
          <p:nvSpPr>
            <p:cNvPr id="41" name="TextBox 41"/>
            <p:cNvSpPr txBox="1"/>
            <p:nvPr/>
          </p:nvSpPr>
          <p:spPr>
            <a:xfrm>
              <a:off x="9890760" y="2994660"/>
              <a:ext cx="1486662" cy="243840"/>
            </a:xfrm>
            <a:prstGeom prst="rect">
              <a:avLst/>
            </a:prstGeom>
            <a:noFill/>
            <a:ln>
              <a:noFill/>
            </a:ln>
          </p:spPr>
          <p:txBody>
            <a:bodyPr wrap="none" lIns="0" tIns="0" rIns="0" bIns="0" anchor="t" anchorCtr="0">
              <a:spAutoFit/>
            </a:bodyPr>
            <a:lstStyle/>
            <a:p>
              <a:pPr algn="l"/>
              <a:r>
                <a:rPr lang="zh-CN" sz="1200" dirty="0">
                  <a:solidFill>
                    <a:srgbClr val="475569"/>
                  </a:solidFill>
                  <a:latin typeface="Arial"/>
                  <a:ea typeface="Microsoft YaHei"/>
                  <a:cs typeface="Arial"/>
                </a:rPr>
                <a:t>as dominant noise.</a:t>
              </a:r>
            </a:p>
          </p:txBody>
        </p:sp>
        <p:sp>
          <p:nvSpPr>
            <p:cNvPr id="42" name="TextBox 42"/>
            <p:cNvSpPr txBox="1"/>
            <p:nvPr/>
          </p:nvSpPr>
          <p:spPr>
            <a:xfrm>
              <a:off x="9890760" y="3413760"/>
              <a:ext cx="1214628" cy="243840"/>
            </a:xfrm>
            <a:prstGeom prst="rect">
              <a:avLst/>
            </a:prstGeom>
            <a:noFill/>
            <a:ln>
              <a:noFill/>
            </a:ln>
          </p:spPr>
          <p:txBody>
            <a:bodyPr wrap="none" lIns="0" tIns="0" rIns="0" bIns="0" anchor="t" anchorCtr="0">
              <a:spAutoFit/>
            </a:bodyPr>
            <a:lstStyle/>
            <a:p>
              <a:pPr algn="l"/>
              <a:r>
                <a:rPr lang="zh-CN" sz="1200" dirty="0">
                  <a:solidFill>
                    <a:srgbClr val="475569"/>
                  </a:solidFill>
                  <a:latin typeface="Arial"/>
                  <a:ea typeface="Microsoft YaHei"/>
                  <a:cs typeface="Arial"/>
                </a:rPr>
                <a:t>Loop chose REM</a:t>
              </a:r>
            </a:p>
          </p:txBody>
        </p:sp>
        <p:sp>
          <p:nvSpPr>
            <p:cNvPr id="43" name="TextBox 43"/>
            <p:cNvSpPr txBox="1"/>
            <p:nvPr/>
          </p:nvSpPr>
          <p:spPr>
            <a:xfrm>
              <a:off x="9890760" y="3680460"/>
              <a:ext cx="1398651" cy="243840"/>
            </a:xfrm>
            <a:prstGeom prst="rect">
              <a:avLst/>
            </a:prstGeom>
            <a:noFill/>
            <a:ln>
              <a:noFill/>
            </a:ln>
          </p:spPr>
          <p:txBody>
            <a:bodyPr wrap="none" lIns="0" tIns="0" rIns="0" bIns="0" anchor="t" anchorCtr="0">
              <a:spAutoFit/>
            </a:bodyPr>
            <a:lstStyle/>
            <a:p>
              <a:pPr algn="l"/>
              <a:r>
                <a:rPr lang="zh-CN" sz="1200" dirty="0">
                  <a:solidFill>
                    <a:srgbClr val="475569"/>
                  </a:solidFill>
                  <a:latin typeface="Arial"/>
                  <a:ea typeface="Microsoft YaHei"/>
                  <a:cs typeface="Arial"/>
                </a:rPr>
                <a:t>without ZNE / PT.</a:t>
              </a:r>
            </a:p>
          </p:txBody>
        </p:sp>
        <p:sp>
          <p:nvSpPr>
            <p:cNvPr id="44" name="TextBox 44"/>
            <p:cNvSpPr txBox="1"/>
            <p:nvPr/>
          </p:nvSpPr>
          <p:spPr>
            <a:xfrm>
              <a:off x="9890760" y="4099560"/>
              <a:ext cx="1454658" cy="243840"/>
            </a:xfrm>
            <a:prstGeom prst="rect">
              <a:avLst/>
            </a:prstGeom>
            <a:noFill/>
            <a:ln>
              <a:noFill/>
            </a:ln>
          </p:spPr>
          <p:txBody>
            <a:bodyPr wrap="none" lIns="0" tIns="0" rIns="0" bIns="0" anchor="t" anchorCtr="0">
              <a:spAutoFit/>
            </a:bodyPr>
            <a:lstStyle/>
            <a:p>
              <a:pPr algn="l"/>
              <a:r>
                <a:rPr lang="zh-CN" sz="1200" dirty="0">
                  <a:solidFill>
                    <a:srgbClr val="475569"/>
                  </a:solidFill>
                  <a:latin typeface="Arial"/>
                  <a:ea typeface="Microsoft YaHei"/>
                  <a:cs typeface="Arial"/>
                </a:rPr>
                <a:t>Validation stopped</a:t>
              </a:r>
            </a:p>
          </p:txBody>
        </p:sp>
        <p:sp>
          <p:nvSpPr>
            <p:cNvPr id="45" name="TextBox 45"/>
            <p:cNvSpPr txBox="1"/>
            <p:nvPr/>
          </p:nvSpPr>
          <p:spPr>
            <a:xfrm>
              <a:off x="9890760" y="4366260"/>
              <a:ext cx="1734693" cy="243840"/>
            </a:xfrm>
            <a:prstGeom prst="rect">
              <a:avLst/>
            </a:prstGeom>
            <a:noFill/>
            <a:ln>
              <a:noFill/>
            </a:ln>
          </p:spPr>
          <p:txBody>
            <a:bodyPr wrap="none" lIns="0" tIns="0" rIns="0" bIns="0" anchor="t" anchorCtr="0">
              <a:spAutoFit/>
            </a:bodyPr>
            <a:lstStyle/>
            <a:p>
              <a:pPr algn="l"/>
              <a:r>
                <a:rPr lang="zh-CN" sz="1200" dirty="0">
                  <a:solidFill>
                    <a:srgbClr val="475569"/>
                  </a:solidFill>
                  <a:latin typeface="Arial"/>
                  <a:ea typeface="Microsoft YaHei"/>
                  <a:cs typeface="Arial"/>
                </a:rPr>
                <a:t>once target was met.</a:t>
              </a:r>
            </a:p>
          </p:txBody>
        </p:sp>
      </p:grpSp>
      <p:grpSp>
        <p:nvGrpSpPr>
          <p:cNvPr id="53" name="Group 53"/>
          <p:cNvGrpSpPr/>
          <p:nvPr/>
        </p:nvGrpSpPr>
        <p:grpSpPr>
          <a:xfrm>
            <a:off x="1466850" y="5791200"/>
            <a:ext cx="7791450" cy="590550"/>
            <a:chOff x="1466850" y="5791200"/>
            <a:chExt cx="7791450" cy="590550"/>
          </a:xfrm>
        </p:grpSpPr>
        <p:sp>
          <p:nvSpPr>
            <p:cNvPr id="47" name="Rectangle 47"/>
            <p:cNvSpPr/>
            <p:nvPr/>
          </p:nvSpPr>
          <p:spPr>
            <a:xfrm>
              <a:off x="1466850" y="5791200"/>
              <a:ext cx="2343150" cy="590550"/>
            </a:xfrm>
            <a:prstGeom prst="roundRect">
              <a:avLst>
                <a:gd name="adj" fmla="val 12903"/>
              </a:avLst>
            </a:prstGeom>
            <a:solidFill>
              <a:srgbClr val="E7F7EF"/>
            </a:solidFill>
            <a:ln w="19050">
              <a:solidFill>
                <a:srgbClr val="16A34A"/>
              </a:solidFill>
            </a:ln>
          </p:spPr>
        </p:sp>
        <p:sp>
          <p:nvSpPr>
            <p:cNvPr id="48" name="TextBox 48"/>
            <p:cNvSpPr txBox="1"/>
            <p:nvPr/>
          </p:nvSpPr>
          <p:spPr>
            <a:xfrm>
              <a:off x="1674495" y="5984558"/>
              <a:ext cx="2213581" cy="335280"/>
            </a:xfrm>
            <a:prstGeom prst="rect">
              <a:avLst/>
            </a:prstGeom>
            <a:noFill/>
            <a:ln>
              <a:noFill/>
            </a:ln>
          </p:spPr>
          <p:txBody>
            <a:bodyPr wrap="none" lIns="0" tIns="0" rIns="0" bIns="0" anchor="t" anchorCtr="0">
              <a:spAutoFit/>
            </a:bodyPr>
            <a:lstStyle/>
            <a:p>
              <a:pPr algn="l"/>
              <a:r>
                <a:rPr lang="zh-CN" sz="1650" b="1" dirty="0">
                  <a:solidFill>
                    <a:srgbClr val="16A34A"/>
                  </a:solidFill>
                  <a:latin typeface="Arial"/>
                  <a:ea typeface="Microsoft YaHei"/>
                  <a:cs typeface="Arial"/>
                </a:rPr>
                <a:t>48,000 shots saved</a:t>
              </a:r>
            </a:p>
          </p:txBody>
        </p:sp>
        <p:sp>
          <p:nvSpPr>
            <p:cNvPr id="49" name="Rectangle 49"/>
            <p:cNvSpPr/>
            <p:nvPr/>
          </p:nvSpPr>
          <p:spPr>
            <a:xfrm>
              <a:off x="4191000" y="5791200"/>
              <a:ext cx="2343150" cy="590550"/>
            </a:xfrm>
            <a:prstGeom prst="roundRect">
              <a:avLst>
                <a:gd name="adj" fmla="val 12903"/>
              </a:avLst>
            </a:prstGeom>
            <a:solidFill>
              <a:srgbClr val="E8F3FC"/>
            </a:solidFill>
            <a:ln w="19050">
              <a:solidFill>
                <a:srgbClr val="146EB4"/>
              </a:solidFill>
            </a:ln>
          </p:spPr>
        </p:sp>
        <p:sp>
          <p:nvSpPr>
            <p:cNvPr id="50" name="TextBox 50"/>
            <p:cNvSpPr txBox="1"/>
            <p:nvPr/>
          </p:nvSpPr>
          <p:spPr>
            <a:xfrm>
              <a:off x="4398645" y="5984558"/>
              <a:ext cx="1474289" cy="335280"/>
            </a:xfrm>
            <a:prstGeom prst="rect">
              <a:avLst/>
            </a:prstGeom>
            <a:noFill/>
            <a:ln>
              <a:noFill/>
            </a:ln>
          </p:spPr>
          <p:txBody>
            <a:bodyPr wrap="none" lIns="0" tIns="0" rIns="0" bIns="0" anchor="t" anchorCtr="0">
              <a:spAutoFit/>
            </a:bodyPr>
            <a:lstStyle/>
            <a:p>
              <a:pPr algn="l"/>
              <a:r>
                <a:rPr lang="zh-CN" sz="1650" b="1" dirty="0">
                  <a:solidFill>
                    <a:srgbClr val="146EB4"/>
                  </a:solidFill>
                  <a:latin typeface="Arial"/>
                  <a:ea typeface="Microsoft YaHei"/>
                  <a:cs typeface="Arial"/>
                </a:rPr>
                <a:t>ideal = 1.8041</a:t>
              </a:r>
            </a:p>
          </p:txBody>
        </p:sp>
        <p:sp>
          <p:nvSpPr>
            <p:cNvPr id="51" name="Rectangle 51"/>
            <p:cNvSpPr/>
            <p:nvPr/>
          </p:nvSpPr>
          <p:spPr>
            <a:xfrm>
              <a:off x="6915150" y="5791200"/>
              <a:ext cx="2343150" cy="590550"/>
            </a:xfrm>
            <a:prstGeom prst="roundRect">
              <a:avLst>
                <a:gd name="adj" fmla="val 12903"/>
              </a:avLst>
            </a:prstGeom>
            <a:solidFill>
              <a:srgbClr val="FFF4E0"/>
            </a:solidFill>
            <a:ln w="19050">
              <a:solidFill>
                <a:srgbClr val="FF9900"/>
              </a:solidFill>
            </a:ln>
          </p:spPr>
        </p:sp>
        <p:sp>
          <p:nvSpPr>
            <p:cNvPr id="52" name="TextBox 52"/>
            <p:cNvSpPr txBox="1"/>
            <p:nvPr/>
          </p:nvSpPr>
          <p:spPr>
            <a:xfrm>
              <a:off x="7122795" y="5984558"/>
              <a:ext cx="1578252" cy="335280"/>
            </a:xfrm>
            <a:prstGeom prst="rect">
              <a:avLst/>
            </a:prstGeom>
            <a:noFill/>
            <a:ln>
              <a:noFill/>
            </a:ln>
          </p:spPr>
          <p:txBody>
            <a:bodyPr wrap="none" lIns="0" tIns="0" rIns="0" bIns="0" anchor="t" anchorCtr="0">
              <a:spAutoFit/>
            </a:bodyPr>
            <a:lstStyle/>
            <a:p>
              <a:pPr algn="l"/>
              <a:r>
                <a:rPr lang="zh-CN" sz="1650" b="1" dirty="0">
                  <a:solidFill>
                    <a:srgbClr val="FF9900"/>
                  </a:solidFill>
                  <a:latin typeface="Arial"/>
                  <a:ea typeface="Microsoft YaHei"/>
                  <a:cs typeface="Arial"/>
                </a:rPr>
                <a:t>target = 0.06</a:t>
              </a:r>
            </a:p>
          </p:txBody>
        </p:sp>
      </p:grpSp>
      <p:sp>
        <p:nvSpPr>
          <p:cNvPr id="54" name="TextBox 54"/>
          <p:cNvSpPr txBox="1"/>
          <p:nvPr/>
        </p:nvSpPr>
        <p:spPr>
          <a:xfrm>
            <a:off x="522922" y="6483191"/>
            <a:ext cx="4509516" cy="167640"/>
          </a:xfrm>
          <a:prstGeom prst="rect">
            <a:avLst/>
          </a:prstGeom>
          <a:noFill/>
          <a:ln>
            <a:noFill/>
          </a:ln>
        </p:spPr>
        <p:txBody>
          <a:bodyPr wrap="none" lIns="0" tIns="0" rIns="0" bIns="0" anchor="t" anchorCtr="0">
            <a:spAutoFit/>
          </a:bodyPr>
          <a:lstStyle/>
          <a:p>
            <a:pPr algn="l"/>
            <a:r>
              <a:rPr lang="zh-CN" sz="825" dirty="0">
                <a:solidFill>
                  <a:srgbClr val="94A3B8"/>
                </a:solidFill>
                <a:latin typeface="Arial"/>
                <a:ea typeface="Microsoft YaHei"/>
                <a:cs typeface="Arial"/>
              </a:rPr>
              <a:t>Acceptance demo: qd_readout_2, seed 7, baseline REM+PT+ZNE vs adaptive REM-only</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image">
                                      <p:cBhvr>
                                        <p:cTn id="7" dur="400"/>
                                        <p:tgtEl>
                                          <p:spTgt spid="10"/>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wipe(left)">
                                      <p:cBhvr>
                                        <p:cTn id="11" dur="400"/>
                                        <p:tgtEl>
                                          <p:spTgt spid="23"/>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37"/>
                                        </p:tgtEl>
                                        <p:attrNameLst>
                                          <p:attrName>style.visibility</p:attrName>
                                        </p:attrNameLst>
                                      </p:cBhvr>
                                      <p:to>
                                        <p:strVal val="visible"/>
                                      </p:to>
                                    </p:set>
                                    <p:animEffect transition="in" filter="wipe(left)">
                                      <p:cBhvr>
                                        <p:cTn id="15" dur="400"/>
                                        <p:tgtEl>
                                          <p:spTgt spid="37"/>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46"/>
                                        </p:tgtEl>
                                        <p:attrNameLst>
                                          <p:attrName>style.visibility</p:attrName>
                                        </p:attrNameLst>
                                      </p:cBhvr>
                                      <p:to>
                                        <p:strVal val="visible"/>
                                      </p:to>
                                    </p:set>
                                    <p:animEffect transition="in" filter="slide(fromBottom)">
                                      <p:cBhvr>
                                        <p:cTn id="19" dur="400"/>
                                        <p:tgtEl>
                                          <p:spTgt spid="46"/>
                                        </p:tgtEl>
                                      </p:cBhvr>
                                    </p:animEffect>
                                  </p:childTnLst>
                                </p:cTn>
                              </p:par>
                            </p:childTnLst>
                          </p:cTn>
                        </p:par>
                        <p:par>
                          <p:cTn id="20" fill="hold">
                            <p:stCondLst>
                              <p:cond delay="3600"/>
                            </p:stCondLst>
                            <p:childTnLst>
                              <p:par>
                                <p:cTn id="21" presetID="9" presetClass="entr" presetSubtype="0" fill="hold" nodeType="afterEffect">
                                  <p:stCondLst>
                                    <p:cond delay="0"/>
                                  </p:stCondLst>
                                  <p:childTnLst>
                                    <p:set>
                                      <p:cBhvr>
                                        <p:cTn id="22" dur="1" fill="hold">
                                          <p:stCondLst>
                                            <p:cond delay="0"/>
                                          </p:stCondLst>
                                        </p:cTn>
                                        <p:tgtEl>
                                          <p:spTgt spid="53"/>
                                        </p:tgtEl>
                                        <p:attrNameLst>
                                          <p:attrName>style.visibility</p:attrName>
                                        </p:attrNameLst>
                                      </p:cBhvr>
                                      <p:to>
                                        <p:strVal val="visible"/>
                                      </p:to>
                                    </p:set>
                                    <p:animEffect transition="in" filter="dissolve">
                                      <p:cBhvr>
                                        <p:cTn id="23" dur="4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3" grpId="0"/>
      <p:bldP spid="37" grpId="0"/>
      <p:bldP spid="46" grpId="0"/>
      <p:bldP spid="5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95250"/>
            </a:xfrm>
            <a:prstGeom prst="rect">
              <a:avLst/>
            </a:prstGeom>
            <a:solidFill>
              <a:srgbClr val="FF9900"/>
            </a:solidFill>
            <a:ln>
              <a:noFill/>
            </a:ln>
          </p:spPr>
        </p:sp>
      </p:grpSp>
      <p:grpSp>
        <p:nvGrpSpPr>
          <p:cNvPr id="7" name="Group 7"/>
          <p:cNvGrpSpPr/>
          <p:nvPr/>
        </p:nvGrpSpPr>
        <p:grpSpPr>
          <a:xfrm>
            <a:off x="626745" y="631508"/>
            <a:ext cx="10625090" cy="640080"/>
            <a:chOff x="626745" y="631508"/>
            <a:chExt cx="10625090" cy="640080"/>
          </a:xfrm>
        </p:grpSpPr>
        <p:sp>
          <p:nvSpPr>
            <p:cNvPr id="5" name="TextBox 5"/>
            <p:cNvSpPr txBox="1"/>
            <p:nvPr/>
          </p:nvSpPr>
          <p:spPr>
            <a:xfrm>
              <a:off x="626745" y="631508"/>
              <a:ext cx="4953669" cy="640080"/>
            </a:xfrm>
            <a:prstGeom prst="rect">
              <a:avLst/>
            </a:prstGeom>
            <a:noFill/>
            <a:ln>
              <a:noFill/>
            </a:ln>
          </p:spPr>
          <p:txBody>
            <a:bodyPr wrap="none" lIns="0" tIns="0" rIns="0" bIns="0" anchor="t" anchorCtr="0">
              <a:spAutoFit/>
            </a:bodyPr>
            <a:lstStyle/>
            <a:p>
              <a:pPr algn="l"/>
              <a:r>
                <a:rPr lang="zh-CN" sz="3150" b="1" dirty="0">
                  <a:solidFill>
                    <a:srgbClr val="111827"/>
                  </a:solidFill>
                  <a:latin typeface="Arial"/>
                  <a:ea typeface="Microsoft YaHei"/>
                  <a:cs typeface="Arial"/>
                </a:rPr>
                <a:t>What this enables next</a:t>
              </a:r>
            </a:p>
          </p:txBody>
        </p:sp>
        <p:sp>
          <p:nvSpPr>
            <p:cNvPr id="6" name="TextBox 6"/>
            <p:cNvSpPr txBox="1"/>
            <p:nvPr/>
          </p:nvSpPr>
          <p:spPr>
            <a:xfrm>
              <a:off x="10826115" y="782002"/>
              <a:ext cx="425720" cy="213360"/>
            </a:xfrm>
            <a:prstGeom prst="rect">
              <a:avLst/>
            </a:prstGeom>
            <a:noFill/>
            <a:ln>
              <a:noFill/>
            </a:ln>
          </p:spPr>
          <p:txBody>
            <a:bodyPr wrap="none" lIns="0" tIns="0" rIns="0" bIns="0" anchor="t" anchorCtr="0">
              <a:spAutoFit/>
            </a:bodyPr>
            <a:lstStyle/>
            <a:p>
              <a:pPr algn="l"/>
              <a:r>
                <a:rPr lang="zh-CN" sz="1050" dirty="0">
                  <a:solidFill>
                    <a:srgbClr val="94A3B8"/>
                  </a:solidFill>
                  <a:latin typeface="Arial"/>
                  <a:ea typeface="Microsoft YaHei"/>
                  <a:cs typeface="Arial"/>
                </a:rPr>
                <a:t>10 / 10</a:t>
              </a:r>
            </a:p>
          </p:txBody>
        </p:sp>
      </p:grpSp>
      <p:grpSp>
        <p:nvGrpSpPr>
          <p:cNvPr id="30" name="Group 30"/>
          <p:cNvGrpSpPr/>
          <p:nvPr/>
        </p:nvGrpSpPr>
        <p:grpSpPr>
          <a:xfrm>
            <a:off x="819150" y="1600200"/>
            <a:ext cx="10553700" cy="2952750"/>
            <a:chOff x="819150" y="1600200"/>
            <a:chExt cx="10553700" cy="2952750"/>
          </a:xfrm>
        </p:grpSpPr>
        <p:sp>
          <p:nvSpPr>
            <p:cNvPr id="8" name="Rectangle 8"/>
            <p:cNvSpPr/>
            <p:nvPr/>
          </p:nvSpPr>
          <p:spPr>
            <a:xfrm>
              <a:off x="819150" y="1600200"/>
              <a:ext cx="3143250" cy="2952750"/>
            </a:xfrm>
            <a:prstGeom prst="roundRect">
              <a:avLst>
                <a:gd name="adj" fmla="val 2581"/>
              </a:avLst>
            </a:prstGeom>
            <a:solidFill>
              <a:srgbClr val="E8F3FC"/>
            </a:solidFill>
            <a:ln w="19050">
              <a:solidFill>
                <a:srgbClr val="146EB4"/>
              </a:solidFill>
            </a:ln>
          </p:spPr>
        </p:sp>
        <p:sp>
          <p:nvSpPr>
            <p:cNvPr id="9" name="TextBox 9"/>
            <p:cNvSpPr txBox="1"/>
            <p:nvPr/>
          </p:nvSpPr>
          <p:spPr>
            <a:xfrm>
              <a:off x="1139190" y="1844040"/>
              <a:ext cx="511978" cy="365760"/>
            </a:xfrm>
            <a:prstGeom prst="rect">
              <a:avLst/>
            </a:prstGeom>
            <a:noFill/>
            <a:ln>
              <a:noFill/>
            </a:ln>
          </p:spPr>
          <p:txBody>
            <a:bodyPr wrap="none" lIns="0" tIns="0" rIns="0" bIns="0" anchor="t" anchorCtr="0">
              <a:spAutoFit/>
            </a:bodyPr>
            <a:lstStyle/>
            <a:p>
              <a:pPr algn="l"/>
              <a:r>
                <a:rPr lang="zh-CN" sz="1800" b="1" dirty="0">
                  <a:solidFill>
                    <a:srgbClr val="146EB4"/>
                  </a:solidFill>
                  <a:latin typeface="Arial"/>
                  <a:ea typeface="Microsoft YaHei"/>
                  <a:cs typeface="Arial"/>
                </a:rPr>
                <a:t>Now</a:t>
              </a:r>
            </a:p>
          </p:txBody>
        </p:sp>
        <p:sp>
          <p:nvSpPr>
            <p:cNvPr id="10" name="TextBox 10"/>
            <p:cNvSpPr txBox="1"/>
            <p:nvPr/>
          </p:nvSpPr>
          <p:spPr>
            <a:xfrm>
              <a:off x="1144905" y="2406968"/>
              <a:ext cx="1861518" cy="274320"/>
            </a:xfrm>
            <a:prstGeom prst="rect">
              <a:avLst/>
            </a:prstGeom>
            <a:noFill/>
            <a:ln>
              <a:noFill/>
            </a:ln>
          </p:spPr>
          <p:txBody>
            <a:bodyPr wrap="none" lIns="0" tIns="0" rIns="0" bIns="0" anchor="t" anchorCtr="0">
              <a:spAutoFit/>
            </a:bodyPr>
            <a:lstStyle/>
            <a:p>
              <a:pPr algn="l"/>
              <a:r>
                <a:rPr lang="zh-CN" sz="1350" dirty="0">
                  <a:solidFill>
                    <a:srgbClr val="111827"/>
                  </a:solidFill>
                  <a:latin typeface="Arial"/>
                  <a:ea typeface="Microsoft YaHei"/>
                  <a:cs typeface="Arial"/>
                </a:rPr>
                <a:t>Local simulator demo</a:t>
              </a:r>
            </a:p>
          </p:txBody>
        </p:sp>
        <p:sp>
          <p:nvSpPr>
            <p:cNvPr id="11" name="TextBox 11"/>
            <p:cNvSpPr txBox="1"/>
            <p:nvPr/>
          </p:nvSpPr>
          <p:spPr>
            <a:xfrm>
              <a:off x="1144905" y="2730818"/>
              <a:ext cx="1969532" cy="274320"/>
            </a:xfrm>
            <a:prstGeom prst="rect">
              <a:avLst/>
            </a:prstGeom>
            <a:noFill/>
            <a:ln>
              <a:noFill/>
            </a:ln>
          </p:spPr>
          <p:txBody>
            <a:bodyPr wrap="none" lIns="0" tIns="0" rIns="0" bIns="0" anchor="t" anchorCtr="0">
              <a:spAutoFit/>
            </a:bodyPr>
            <a:lstStyle/>
            <a:p>
              <a:pPr algn="l"/>
              <a:r>
                <a:rPr lang="zh-CN" sz="1350" dirty="0">
                  <a:solidFill>
                    <a:srgbClr val="111827"/>
                  </a:solidFill>
                  <a:latin typeface="Arial"/>
                  <a:ea typeface="Microsoft YaHei"/>
                  <a:cs typeface="Arial"/>
                </a:rPr>
                <a:t>CLI comparison report</a:t>
              </a:r>
            </a:p>
          </p:txBody>
        </p:sp>
        <p:sp>
          <p:nvSpPr>
            <p:cNvPr id="12" name="TextBox 12"/>
            <p:cNvSpPr txBox="1"/>
            <p:nvPr/>
          </p:nvSpPr>
          <p:spPr>
            <a:xfrm>
              <a:off x="1144905" y="3054668"/>
              <a:ext cx="1780508" cy="274320"/>
            </a:xfrm>
            <a:prstGeom prst="rect">
              <a:avLst/>
            </a:prstGeom>
            <a:noFill/>
            <a:ln>
              <a:noFill/>
            </a:ln>
          </p:spPr>
          <p:txBody>
            <a:bodyPr wrap="none" lIns="0" tIns="0" rIns="0" bIns="0" anchor="t" anchorCtr="0">
              <a:spAutoFit/>
            </a:bodyPr>
            <a:lstStyle/>
            <a:p>
              <a:pPr algn="l"/>
              <a:r>
                <a:rPr lang="zh-CN" sz="1350" dirty="0">
                  <a:solidFill>
                    <a:srgbClr val="111827"/>
                  </a:solidFill>
                  <a:latin typeface="Arial"/>
                  <a:ea typeface="Microsoft YaHei"/>
                  <a:cs typeface="Arial"/>
                </a:rPr>
                <a:t>Rules + optional VLM</a:t>
              </a:r>
            </a:p>
          </p:txBody>
        </p:sp>
        <p:sp>
          <p:nvSpPr>
            <p:cNvPr id="13" name="TextBox 13"/>
            <p:cNvSpPr txBox="1"/>
            <p:nvPr/>
          </p:nvSpPr>
          <p:spPr>
            <a:xfrm>
              <a:off x="1144905" y="3378518"/>
              <a:ext cx="2338578" cy="274320"/>
            </a:xfrm>
            <a:prstGeom prst="rect">
              <a:avLst/>
            </a:prstGeom>
            <a:noFill/>
            <a:ln>
              <a:noFill/>
            </a:ln>
          </p:spPr>
          <p:txBody>
            <a:bodyPr wrap="none" lIns="0" tIns="0" rIns="0" bIns="0" anchor="t" anchorCtr="0">
              <a:spAutoFit/>
            </a:bodyPr>
            <a:lstStyle/>
            <a:p>
              <a:pPr algn="l"/>
              <a:r>
                <a:rPr lang="zh-CN" sz="1350" dirty="0">
                  <a:solidFill>
                    <a:srgbClr val="111827"/>
                  </a:solidFill>
                  <a:latin typeface="Arial"/>
                  <a:ea typeface="Microsoft YaHei"/>
                  <a:cs typeface="Arial"/>
                </a:rPr>
                <a:t>Unit and integration tests</a:t>
              </a:r>
            </a:p>
          </p:txBody>
        </p:sp>
        <p:sp>
          <p:nvSpPr>
            <p:cNvPr id="14" name="Rectangle 14"/>
            <p:cNvSpPr/>
            <p:nvPr/>
          </p:nvSpPr>
          <p:spPr>
            <a:xfrm>
              <a:off x="4524375" y="1600200"/>
              <a:ext cx="3143250" cy="2952750"/>
            </a:xfrm>
            <a:prstGeom prst="roundRect">
              <a:avLst>
                <a:gd name="adj" fmla="val 2581"/>
              </a:avLst>
            </a:prstGeom>
            <a:solidFill>
              <a:srgbClr val="FFF4E0"/>
            </a:solidFill>
            <a:ln w="19050">
              <a:solidFill>
                <a:srgbClr val="FF9900"/>
              </a:solidFill>
            </a:ln>
          </p:spPr>
        </p:sp>
        <p:sp>
          <p:nvSpPr>
            <p:cNvPr id="15" name="TextBox 15"/>
            <p:cNvSpPr txBox="1"/>
            <p:nvPr/>
          </p:nvSpPr>
          <p:spPr>
            <a:xfrm>
              <a:off x="4844415" y="1844040"/>
              <a:ext cx="1935956" cy="365760"/>
            </a:xfrm>
            <a:prstGeom prst="rect">
              <a:avLst/>
            </a:prstGeom>
            <a:noFill/>
            <a:ln>
              <a:noFill/>
            </a:ln>
          </p:spPr>
          <p:txBody>
            <a:bodyPr wrap="none" lIns="0" tIns="0" rIns="0" bIns="0" anchor="t" anchorCtr="0">
              <a:spAutoFit/>
            </a:bodyPr>
            <a:lstStyle/>
            <a:p>
              <a:pPr algn="l"/>
              <a:r>
                <a:rPr lang="zh-CN" sz="1800" b="1" dirty="0">
                  <a:solidFill>
                    <a:srgbClr val="FF9900"/>
                  </a:solidFill>
                  <a:latin typeface="Arial"/>
                  <a:ea typeface="Microsoft YaHei"/>
                  <a:cs typeface="Arial"/>
                </a:rPr>
                <a:t>Cloud packaging</a:t>
              </a:r>
            </a:p>
          </p:txBody>
        </p:sp>
        <p:sp>
          <p:nvSpPr>
            <p:cNvPr id="16" name="TextBox 16"/>
            <p:cNvSpPr txBox="1"/>
            <p:nvPr/>
          </p:nvSpPr>
          <p:spPr>
            <a:xfrm>
              <a:off x="4850130" y="2406968"/>
              <a:ext cx="2365581" cy="274320"/>
            </a:xfrm>
            <a:prstGeom prst="rect">
              <a:avLst/>
            </a:prstGeom>
            <a:noFill/>
            <a:ln>
              <a:noFill/>
            </a:ln>
          </p:spPr>
          <p:txBody>
            <a:bodyPr wrap="none" lIns="0" tIns="0" rIns="0" bIns="0" anchor="t" anchorCtr="0">
              <a:spAutoFit/>
            </a:bodyPr>
            <a:lstStyle/>
            <a:p>
              <a:pPr algn="l"/>
              <a:r>
                <a:rPr lang="zh-CN" sz="1350" dirty="0">
                  <a:solidFill>
                    <a:srgbClr val="111827"/>
                  </a:solidFill>
                  <a:latin typeface="Arial"/>
                  <a:ea typeface="Microsoft YaHei"/>
                  <a:cs typeface="Arial"/>
                </a:rPr>
                <a:t>AgentCore Runtime handler</a:t>
              </a:r>
            </a:p>
          </p:txBody>
        </p:sp>
        <p:sp>
          <p:nvSpPr>
            <p:cNvPr id="17" name="TextBox 17"/>
            <p:cNvSpPr txBox="1"/>
            <p:nvPr/>
          </p:nvSpPr>
          <p:spPr>
            <a:xfrm>
              <a:off x="4850130" y="2730818"/>
              <a:ext cx="1843516" cy="274320"/>
            </a:xfrm>
            <a:prstGeom prst="rect">
              <a:avLst/>
            </a:prstGeom>
            <a:noFill/>
            <a:ln>
              <a:noFill/>
            </a:ln>
          </p:spPr>
          <p:txBody>
            <a:bodyPr wrap="none" lIns="0" tIns="0" rIns="0" bIns="0" anchor="t" anchorCtr="0">
              <a:spAutoFit/>
            </a:bodyPr>
            <a:lstStyle/>
            <a:p>
              <a:pPr algn="l"/>
              <a:r>
                <a:rPr lang="zh-CN" sz="1350" dirty="0">
                  <a:solidFill>
                    <a:srgbClr val="111827"/>
                  </a:solidFill>
                  <a:latin typeface="Arial"/>
                  <a:ea typeface="Microsoft YaHei"/>
                  <a:cs typeface="Arial"/>
                </a:rPr>
                <a:t>S3 or local artifacts</a:t>
              </a:r>
            </a:p>
          </p:txBody>
        </p:sp>
        <p:sp>
          <p:nvSpPr>
            <p:cNvPr id="18" name="TextBox 18"/>
            <p:cNvSpPr txBox="1"/>
            <p:nvPr/>
          </p:nvSpPr>
          <p:spPr>
            <a:xfrm>
              <a:off x="4850130" y="3054668"/>
              <a:ext cx="2473595" cy="274320"/>
            </a:xfrm>
            <a:prstGeom prst="rect">
              <a:avLst/>
            </a:prstGeom>
            <a:noFill/>
            <a:ln>
              <a:noFill/>
            </a:ln>
          </p:spPr>
          <p:txBody>
            <a:bodyPr wrap="none" lIns="0" tIns="0" rIns="0" bIns="0" anchor="t" anchorCtr="0">
              <a:spAutoFit/>
            </a:bodyPr>
            <a:lstStyle/>
            <a:p>
              <a:pPr algn="l"/>
              <a:r>
                <a:rPr lang="zh-CN" sz="1350" dirty="0">
                  <a:solidFill>
                    <a:srgbClr val="111827"/>
                  </a:solidFill>
                  <a:latin typeface="Arial"/>
                  <a:ea typeface="Microsoft YaHei"/>
                  <a:cs typeface="Arial"/>
                </a:rPr>
                <a:t>Optional Bedrock Guardrails</a:t>
              </a:r>
            </a:p>
          </p:txBody>
        </p:sp>
        <p:sp>
          <p:nvSpPr>
            <p:cNvPr id="19" name="TextBox 19"/>
            <p:cNvSpPr txBox="1"/>
            <p:nvPr/>
          </p:nvSpPr>
          <p:spPr>
            <a:xfrm>
              <a:off x="4850130" y="3378518"/>
              <a:ext cx="2194560" cy="274320"/>
            </a:xfrm>
            <a:prstGeom prst="rect">
              <a:avLst/>
            </a:prstGeom>
            <a:noFill/>
            <a:ln>
              <a:noFill/>
            </a:ln>
          </p:spPr>
          <p:txBody>
            <a:bodyPr wrap="none" lIns="0" tIns="0" rIns="0" bIns="0" anchor="t" anchorCtr="0">
              <a:spAutoFit/>
            </a:bodyPr>
            <a:lstStyle/>
            <a:p>
              <a:pPr algn="l"/>
              <a:r>
                <a:rPr lang="zh-CN" sz="1350" dirty="0">
                  <a:solidFill>
                    <a:srgbClr val="111827"/>
                  </a:solidFill>
                  <a:latin typeface="Arial"/>
                  <a:ea typeface="Microsoft YaHei"/>
                  <a:cs typeface="Arial"/>
                </a:rPr>
                <a:t>Structured run summary</a:t>
              </a:r>
            </a:p>
          </p:txBody>
        </p:sp>
        <p:sp>
          <p:nvSpPr>
            <p:cNvPr id="20" name="Rectangle 20"/>
            <p:cNvSpPr/>
            <p:nvPr/>
          </p:nvSpPr>
          <p:spPr>
            <a:xfrm>
              <a:off x="8229600" y="1600200"/>
              <a:ext cx="3143250" cy="2952750"/>
            </a:xfrm>
            <a:prstGeom prst="roundRect">
              <a:avLst>
                <a:gd name="adj" fmla="val 2581"/>
              </a:avLst>
            </a:prstGeom>
            <a:solidFill>
              <a:srgbClr val="E7F7EF"/>
            </a:solidFill>
            <a:ln w="19050">
              <a:solidFill>
                <a:srgbClr val="0F766E"/>
              </a:solidFill>
            </a:ln>
          </p:spPr>
        </p:sp>
        <p:sp>
          <p:nvSpPr>
            <p:cNvPr id="21" name="TextBox 21"/>
            <p:cNvSpPr txBox="1"/>
            <p:nvPr/>
          </p:nvSpPr>
          <p:spPr>
            <a:xfrm>
              <a:off x="8549640" y="1844040"/>
              <a:ext cx="600189" cy="365760"/>
            </a:xfrm>
            <a:prstGeom prst="rect">
              <a:avLst/>
            </a:prstGeom>
            <a:noFill/>
            <a:ln>
              <a:noFill/>
            </a:ln>
          </p:spPr>
          <p:txBody>
            <a:bodyPr wrap="none" lIns="0" tIns="0" rIns="0" bIns="0" anchor="t" anchorCtr="0">
              <a:spAutoFit/>
            </a:bodyPr>
            <a:lstStyle/>
            <a:p>
              <a:pPr algn="l"/>
              <a:r>
                <a:rPr lang="zh-CN" sz="1800" b="1" dirty="0">
                  <a:solidFill>
                    <a:srgbClr val="0F766E"/>
                  </a:solidFill>
                  <a:latin typeface="Arial"/>
                  <a:ea typeface="Microsoft YaHei"/>
                  <a:cs typeface="Arial"/>
                </a:rPr>
                <a:t>Next</a:t>
              </a:r>
            </a:p>
          </p:txBody>
        </p:sp>
        <p:sp>
          <p:nvSpPr>
            <p:cNvPr id="22" name="TextBox 22"/>
            <p:cNvSpPr txBox="1"/>
            <p:nvPr/>
          </p:nvSpPr>
          <p:spPr>
            <a:xfrm>
              <a:off x="8555355" y="2406968"/>
              <a:ext cx="1519476" cy="274320"/>
            </a:xfrm>
            <a:prstGeom prst="rect">
              <a:avLst/>
            </a:prstGeom>
            <a:noFill/>
            <a:ln>
              <a:noFill/>
            </a:ln>
          </p:spPr>
          <p:txBody>
            <a:bodyPr wrap="none" lIns="0" tIns="0" rIns="0" bIns="0" anchor="t" anchorCtr="0">
              <a:spAutoFit/>
            </a:bodyPr>
            <a:lstStyle/>
            <a:p>
              <a:pPr algn="l"/>
              <a:r>
                <a:rPr lang="zh-CN" sz="1350" dirty="0">
                  <a:solidFill>
                    <a:srgbClr val="111827"/>
                  </a:solidFill>
                  <a:latin typeface="Arial"/>
                  <a:ea typeface="Microsoft YaHei"/>
                  <a:cs typeface="Arial"/>
                </a:rPr>
                <a:t>Live Braket QPUs</a:t>
              </a:r>
            </a:p>
          </p:txBody>
        </p:sp>
        <p:sp>
          <p:nvSpPr>
            <p:cNvPr id="23" name="TextBox 23"/>
            <p:cNvSpPr txBox="1"/>
            <p:nvPr/>
          </p:nvSpPr>
          <p:spPr>
            <a:xfrm>
              <a:off x="8555355" y="2730818"/>
              <a:ext cx="2131552" cy="274320"/>
            </a:xfrm>
            <a:prstGeom prst="rect">
              <a:avLst/>
            </a:prstGeom>
            <a:noFill/>
            <a:ln>
              <a:noFill/>
            </a:ln>
          </p:spPr>
          <p:txBody>
            <a:bodyPr wrap="none" lIns="0" tIns="0" rIns="0" bIns="0" anchor="t" anchorCtr="0">
              <a:spAutoFit/>
            </a:bodyPr>
            <a:lstStyle/>
            <a:p>
              <a:pPr algn="l"/>
              <a:r>
                <a:rPr lang="zh-CN" sz="1350" dirty="0">
                  <a:solidFill>
                    <a:srgbClr val="111827"/>
                  </a:solidFill>
                  <a:latin typeface="Arial"/>
                  <a:ea typeface="Microsoft YaHei"/>
                  <a:cs typeface="Arial"/>
                </a:rPr>
                <a:t>Richer characterization</a:t>
              </a:r>
            </a:p>
          </p:txBody>
        </p:sp>
        <p:sp>
          <p:nvSpPr>
            <p:cNvPr id="24" name="TextBox 24"/>
            <p:cNvSpPr txBox="1"/>
            <p:nvPr/>
          </p:nvSpPr>
          <p:spPr>
            <a:xfrm>
              <a:off x="8555355" y="3054668"/>
              <a:ext cx="2275570" cy="274320"/>
            </a:xfrm>
            <a:prstGeom prst="rect">
              <a:avLst/>
            </a:prstGeom>
            <a:noFill/>
            <a:ln>
              <a:noFill/>
            </a:ln>
          </p:spPr>
          <p:txBody>
            <a:bodyPr wrap="none" lIns="0" tIns="0" rIns="0" bIns="0" anchor="t" anchorCtr="0">
              <a:spAutoFit/>
            </a:bodyPr>
            <a:lstStyle/>
            <a:p>
              <a:pPr algn="l"/>
              <a:r>
                <a:rPr lang="zh-CN" sz="1350" dirty="0">
                  <a:solidFill>
                    <a:srgbClr val="111827"/>
                  </a:solidFill>
                  <a:latin typeface="Arial"/>
                  <a:ea typeface="Microsoft YaHei"/>
                  <a:cs typeface="Arial"/>
                </a:rPr>
                <a:t>Device metadata as signal</a:t>
              </a:r>
            </a:p>
          </p:txBody>
        </p:sp>
        <p:sp>
          <p:nvSpPr>
            <p:cNvPr id="25" name="TextBox 25"/>
            <p:cNvSpPr txBox="1"/>
            <p:nvPr/>
          </p:nvSpPr>
          <p:spPr>
            <a:xfrm>
              <a:off x="8555355" y="3378518"/>
              <a:ext cx="1771507" cy="274320"/>
            </a:xfrm>
            <a:prstGeom prst="rect">
              <a:avLst/>
            </a:prstGeom>
            <a:noFill/>
            <a:ln>
              <a:noFill/>
            </a:ln>
          </p:spPr>
          <p:txBody>
            <a:bodyPr wrap="none" lIns="0" tIns="0" rIns="0" bIns="0" anchor="t" anchorCtr="0">
              <a:spAutoFit/>
            </a:bodyPr>
            <a:lstStyle/>
            <a:p>
              <a:pPr algn="l"/>
              <a:r>
                <a:rPr lang="zh-CN" sz="1350" dirty="0">
                  <a:solidFill>
                    <a:srgbClr val="111827"/>
                  </a:solidFill>
                  <a:latin typeface="Arial"/>
                  <a:ea typeface="Microsoft YaHei"/>
                  <a:cs typeface="Arial"/>
                </a:rPr>
                <a:t>Neural QEC decoding</a:t>
              </a:r>
            </a:p>
          </p:txBody>
        </p:sp>
        <p:sp>
          <p:nvSpPr>
            <p:cNvPr id="26" name="Line 26"/>
            <p:cNvSpPr/>
            <p:nvPr/>
          </p:nvSpPr>
          <p:spPr>
            <a:xfrm>
              <a:off x="3962400" y="3076575"/>
              <a:ext cx="533400" cy="9525"/>
            </a:xfrm>
            <a:custGeom>
              <a:avLst/>
              <a:gdLst/>
              <a:ahLst/>
              <a:cxnLst/>
              <a:rect l="l" t="t" r="r" b="b"/>
              <a:pathLst>
                <a:path w="533400" h="9525">
                  <a:moveTo>
                    <a:pt x="0" y="0"/>
                  </a:moveTo>
                  <a:lnTo>
                    <a:pt x="533400" y="0"/>
                  </a:lnTo>
                </a:path>
              </a:pathLst>
            </a:custGeom>
            <a:noFill/>
            <a:ln w="38100">
              <a:solidFill>
                <a:srgbClr val="FF9900"/>
              </a:solidFill>
            </a:ln>
          </p:spPr>
        </p:sp>
        <p:sp>
          <p:nvSpPr>
            <p:cNvPr id="27" name="Polygon 27"/>
            <p:cNvSpPr/>
            <p:nvPr/>
          </p:nvSpPr>
          <p:spPr>
            <a:xfrm>
              <a:off x="4362450" y="2990850"/>
              <a:ext cx="133350" cy="171450"/>
            </a:xfrm>
            <a:custGeom>
              <a:avLst/>
              <a:gdLst/>
              <a:ahLst/>
              <a:cxnLst/>
              <a:rect l="l" t="t" r="r" b="b"/>
              <a:pathLst>
                <a:path w="133350" h="171450">
                  <a:moveTo>
                    <a:pt x="133350" y="85725"/>
                  </a:moveTo>
                  <a:lnTo>
                    <a:pt x="0" y="0"/>
                  </a:lnTo>
                  <a:lnTo>
                    <a:pt x="0" y="171450"/>
                  </a:lnTo>
                  <a:close/>
                </a:path>
              </a:pathLst>
            </a:custGeom>
            <a:solidFill>
              <a:srgbClr val="FF9900"/>
            </a:solidFill>
            <a:ln>
              <a:noFill/>
            </a:ln>
          </p:spPr>
        </p:sp>
        <p:sp>
          <p:nvSpPr>
            <p:cNvPr id="28" name="Line 28"/>
            <p:cNvSpPr/>
            <p:nvPr/>
          </p:nvSpPr>
          <p:spPr>
            <a:xfrm>
              <a:off x="7667625" y="3076575"/>
              <a:ext cx="533400" cy="9525"/>
            </a:xfrm>
            <a:custGeom>
              <a:avLst/>
              <a:gdLst/>
              <a:ahLst/>
              <a:cxnLst/>
              <a:rect l="l" t="t" r="r" b="b"/>
              <a:pathLst>
                <a:path w="533400" h="9525">
                  <a:moveTo>
                    <a:pt x="0" y="0"/>
                  </a:moveTo>
                  <a:lnTo>
                    <a:pt x="533400" y="0"/>
                  </a:lnTo>
                </a:path>
              </a:pathLst>
            </a:custGeom>
            <a:noFill/>
            <a:ln w="38100">
              <a:solidFill>
                <a:srgbClr val="FF9900"/>
              </a:solidFill>
            </a:ln>
          </p:spPr>
        </p:sp>
        <p:sp>
          <p:nvSpPr>
            <p:cNvPr id="29" name="Polygon 29"/>
            <p:cNvSpPr/>
            <p:nvPr/>
          </p:nvSpPr>
          <p:spPr>
            <a:xfrm>
              <a:off x="8067675" y="2990850"/>
              <a:ext cx="133350" cy="171450"/>
            </a:xfrm>
            <a:custGeom>
              <a:avLst/>
              <a:gdLst/>
              <a:ahLst/>
              <a:cxnLst/>
              <a:rect l="l" t="t" r="r" b="b"/>
              <a:pathLst>
                <a:path w="133350" h="171450">
                  <a:moveTo>
                    <a:pt x="133350" y="85725"/>
                  </a:moveTo>
                  <a:lnTo>
                    <a:pt x="0" y="0"/>
                  </a:lnTo>
                  <a:lnTo>
                    <a:pt x="0" y="171450"/>
                  </a:lnTo>
                  <a:close/>
                </a:path>
              </a:pathLst>
            </a:custGeom>
            <a:solidFill>
              <a:srgbClr val="FF9900"/>
            </a:solidFill>
            <a:ln>
              <a:noFill/>
            </a:ln>
          </p:spPr>
        </p:sp>
      </p:grpSp>
      <p:grpSp>
        <p:nvGrpSpPr>
          <p:cNvPr id="34" name="Group 34"/>
          <p:cNvGrpSpPr/>
          <p:nvPr/>
        </p:nvGrpSpPr>
        <p:grpSpPr>
          <a:xfrm>
            <a:off x="1066800" y="5219700"/>
            <a:ext cx="10058400" cy="869156"/>
            <a:chOff x="1066800" y="5219700"/>
            <a:chExt cx="10058400" cy="869156"/>
          </a:xfrm>
        </p:grpSpPr>
        <p:sp>
          <p:nvSpPr>
            <p:cNvPr id="31" name="Rectangle 31"/>
            <p:cNvSpPr/>
            <p:nvPr/>
          </p:nvSpPr>
          <p:spPr>
            <a:xfrm>
              <a:off x="1066800" y="5219700"/>
              <a:ext cx="10058400" cy="800100"/>
            </a:xfrm>
            <a:prstGeom prst="roundRect">
              <a:avLst>
                <a:gd name="adj" fmla="val 9524"/>
              </a:avLst>
            </a:prstGeom>
            <a:solidFill>
              <a:srgbClr val="111827"/>
            </a:solidFill>
            <a:ln>
              <a:noFill/>
            </a:ln>
          </p:spPr>
        </p:sp>
        <p:sp>
          <p:nvSpPr>
            <p:cNvPr id="32" name="TextBox 32"/>
            <p:cNvSpPr txBox="1"/>
            <p:nvPr/>
          </p:nvSpPr>
          <p:spPr>
            <a:xfrm>
              <a:off x="1764030" y="5497830"/>
              <a:ext cx="8315773" cy="426720"/>
            </a:xfrm>
            <a:prstGeom prst="rect">
              <a:avLst/>
            </a:prstGeom>
            <a:noFill/>
            <a:ln>
              <a:noFill/>
            </a:ln>
          </p:spPr>
          <p:txBody>
            <a:bodyPr wrap="none" lIns="0" tIns="0" rIns="0" bIns="0" anchor="t" anchorCtr="0">
              <a:spAutoFit/>
            </a:bodyPr>
            <a:lstStyle/>
            <a:p>
              <a:pPr algn="l"/>
              <a:r>
                <a:rPr lang="zh-CN" sz="2100" b="1" dirty="0">
                  <a:solidFill>
                    <a:srgbClr val="FFFFFF"/>
                  </a:solidFill>
                  <a:latin typeface="Arial"/>
                  <a:ea typeface="Microsoft YaHei"/>
                  <a:cs typeface="Arial"/>
                </a:rPr>
                <a:t>Observe cheaply. Mitigate adaptively. Stop when enough.</a:t>
              </a:r>
            </a:p>
          </p:txBody>
        </p:sp>
        <p:sp>
          <p:nvSpPr>
            <p:cNvPr id="33" name="TextBox 33"/>
            <p:cNvSpPr txBox="1"/>
            <p:nvPr/>
          </p:nvSpPr>
          <p:spPr>
            <a:xfrm>
              <a:off x="1776412" y="5860256"/>
              <a:ext cx="7604522" cy="228600"/>
            </a:xfrm>
            <a:prstGeom prst="rect">
              <a:avLst/>
            </a:prstGeom>
            <a:noFill/>
            <a:ln>
              <a:noFill/>
            </a:ln>
          </p:spPr>
          <p:txBody>
            <a:bodyPr wrap="none" lIns="0" tIns="0" rIns="0" bIns="0" anchor="t" anchorCtr="0">
              <a:spAutoFit/>
            </a:bodyPr>
            <a:lstStyle/>
            <a:p>
              <a:pPr algn="l"/>
              <a:r>
                <a:rPr lang="zh-CN" sz="1125" dirty="0">
                  <a:solidFill>
                    <a:srgbClr val="D9E2EC"/>
                  </a:solidFill>
                  <a:latin typeface="Arial"/>
                  <a:ea typeface="Microsoft YaHei"/>
                  <a:cs typeface="Arial"/>
                </a:rPr>
                <a:t>Governed adaptivity can make quantum experiments cheaper, safer to automate, and easier to explain.</a:t>
              </a:r>
            </a:p>
          </p:txBody>
        </p:sp>
      </p:grpSp>
      <p:sp>
        <p:nvSpPr>
          <p:cNvPr id="35" name="TextBox 35"/>
          <p:cNvSpPr txBox="1"/>
          <p:nvPr/>
        </p:nvSpPr>
        <p:spPr>
          <a:xfrm>
            <a:off x="656272" y="6502241"/>
            <a:ext cx="2045208" cy="167640"/>
          </a:xfrm>
          <a:prstGeom prst="rect">
            <a:avLst/>
          </a:prstGeom>
          <a:noFill/>
          <a:ln>
            <a:noFill/>
          </a:ln>
        </p:spPr>
        <p:txBody>
          <a:bodyPr wrap="none" lIns="0" tIns="0" rIns="0" bIns="0" anchor="t" anchorCtr="0">
            <a:spAutoFit/>
          </a:bodyPr>
          <a:lstStyle/>
          <a:p>
            <a:pPr algn="l"/>
            <a:r>
              <a:rPr lang="zh-CN" sz="825" dirty="0">
                <a:solidFill>
                  <a:srgbClr val="94A3B8"/>
                </a:solidFill>
                <a:latin typeface="Arial"/>
                <a:ea typeface="Microsoft YaHei"/>
                <a:cs typeface="Arial"/>
              </a:rPr>
              <a:t>Agentic Quantum Error Mitigation Lab</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400"/>
                                        <p:tgtEl>
                                          <p:spTgt spid="30"/>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left)">
                                      <p:cBhvr>
                                        <p:cTn id="11"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4"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